
<file path=[Content_Types].xml><?xml version="1.0" encoding="utf-8"?>
<Types xmlns="http://schemas.openxmlformats.org/package/2006/content-types">
  <Default Extension="fntdata" ContentType="application/x-fontdata"/>
  <Default Extension="jpeg" ContentType="image/jpeg"/>
  <Default Extension="jpg" ContentType="image/jp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image3.jpg" ContentType="image/jpeg"/>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79"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Lst>
  <p:sldSz cx="12192000" cy="6858000"/>
  <p:notesSz cx="6858000" cy="12192000"/>
  <p:embeddedFontLst>
    <p:embeddedFont>
      <p:font typeface="MiSans" panose="020B0604020202020204" charset="-122"/>
      <p:regular r:id="rId27"/>
    </p:embeddedFont>
    <p:embeddedFont>
      <p:font typeface="Liter" panose="020B0604020202020204" charset="0"/>
      <p:regular r:id="rId28"/>
    </p:embeddedFont>
  </p:embeddedFont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6" d="100"/>
          <a:sy n="86" d="100"/>
        </p:scale>
        <p:origin x="533"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83471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DB085D-5021-02F0-EFEA-FD0E3247E0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522106-572E-E3F7-CCED-09D984699A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B8B5D0-12A3-E311-7EB3-2CB459D2A67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07638CF-02F5-0571-4CA8-3E80AF37B94E}"/>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7581168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0.webp"/><Relationship Id="rId3" Type="http://schemas.openxmlformats.org/officeDocument/2006/relationships/image" Target="../media/image5.jpg"/><Relationship Id="rId7" Type="http://schemas.openxmlformats.org/officeDocument/2006/relationships/image" Target="../media/image9.webp"/><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webp"/><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A"/>
        </a:solidFill>
        <a:effectLst/>
      </p:bgPr>
    </p:bg>
    <p:spTree>
      <p:nvGrpSpPr>
        <p:cNvPr id="1" name=""/>
        <p:cNvGrpSpPr/>
        <p:nvPr/>
      </p:nvGrpSpPr>
      <p:grpSpPr>
        <a:xfrm>
          <a:off x="0" y="0"/>
          <a:ext cx="0" cy="0"/>
          <a:chOff x="0" y="0"/>
          <a:chExt cx="0" cy="0"/>
        </a:xfrm>
      </p:grpSpPr>
      <p:pic>
        <p:nvPicPr>
          <p:cNvPr id="2" name="Image 0" descr="https://kimi-web-img.moonshot.cn/img/static.vecteezy.com/181e2d2b46f076a9c14db6260a6c9a5179ff5653.jpg"/>
          <p:cNvPicPr>
            <a:picLocks noChangeAspect="1"/>
          </p:cNvPicPr>
          <p:nvPr/>
        </p:nvPicPr>
        <p:blipFill>
          <a:blip r:embed="rId3"/>
          <a:srcRect/>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flip="none" rotWithShape="1">
            <a:gsLst>
              <a:gs pos="0">
                <a:srgbClr val="1D1D1D">
                  <a:alpha val="80000"/>
                </a:srgbClr>
              </a:gs>
              <a:gs pos="50000">
                <a:srgbClr val="1D1D1D">
                  <a:alpha val="60000"/>
                </a:srgbClr>
              </a:gs>
              <a:gs pos="100000">
                <a:srgbClr val="000000">
                  <a:alpha val="0"/>
                </a:srgbClr>
              </a:gs>
            </a:gsLst>
            <a:lin ang="2700000" scaled="1"/>
          </a:gradFill>
          <a:ln/>
        </p:spPr>
      </p:sp>
      <p:sp>
        <p:nvSpPr>
          <p:cNvPr id="6" name="Text 3"/>
          <p:cNvSpPr/>
          <p:nvPr/>
        </p:nvSpPr>
        <p:spPr>
          <a:xfrm>
            <a:off x="381000" y="2271713"/>
            <a:ext cx="4448452" cy="1157287"/>
          </a:xfrm>
          <a:prstGeom prst="rect">
            <a:avLst/>
          </a:prstGeom>
          <a:noFill/>
          <a:ln/>
        </p:spPr>
        <p:txBody>
          <a:bodyPr wrap="square" lIns="0" tIns="0" rIns="0" bIns="0" rtlCol="0" anchor="ctr"/>
          <a:lstStyle/>
          <a:p>
            <a:pPr>
              <a:lnSpc>
                <a:spcPct val="80000"/>
              </a:lnSpc>
            </a:pPr>
            <a:r>
              <a:rPr lang="en-US" sz="7200" b="1" dirty="0">
                <a:solidFill>
                  <a:srgbClr val="FAFAFA"/>
                </a:solidFill>
                <a:latin typeface="Liter" pitchFamily="34" charset="0"/>
                <a:ea typeface="Liter" pitchFamily="34" charset="-122"/>
                <a:cs typeface="Liter" pitchFamily="34" charset="-120"/>
              </a:rPr>
              <a:t>Lake Level</a:t>
            </a:r>
            <a:endParaRPr lang="en-US" sz="1600" dirty="0"/>
          </a:p>
        </p:txBody>
      </p:sp>
      <p:sp>
        <p:nvSpPr>
          <p:cNvPr id="7" name="Text 4"/>
          <p:cNvSpPr/>
          <p:nvPr/>
        </p:nvSpPr>
        <p:spPr>
          <a:xfrm>
            <a:off x="381000" y="3371851"/>
            <a:ext cx="5715000" cy="371475"/>
          </a:xfrm>
          <a:prstGeom prst="rect">
            <a:avLst/>
          </a:prstGeom>
          <a:noFill/>
          <a:ln/>
        </p:spPr>
        <p:txBody>
          <a:bodyPr wrap="square" lIns="0" tIns="0" rIns="0" bIns="0" rtlCol="0" anchor="ctr"/>
          <a:lstStyle/>
          <a:p>
            <a:pPr>
              <a:lnSpc>
                <a:spcPct val="140000"/>
              </a:lnSpc>
            </a:pPr>
            <a:r>
              <a:rPr lang="en-US" sz="1800" dirty="0">
                <a:solidFill>
                  <a:srgbClr val="FAFAFA">
                    <a:alpha val="90000"/>
                  </a:srgbClr>
                </a:solidFill>
                <a:latin typeface="Liter" pitchFamily="34" charset="0"/>
                <a:ea typeface="Liter" pitchFamily="34" charset="-122"/>
                <a:cs typeface="Liter" pitchFamily="34" charset="-120"/>
              </a:rPr>
              <a:t>Système de Surveillance du Niveau d'Eau en Temps Réel</a:t>
            </a:r>
            <a:endParaRPr lang="en-US" sz="1600" dirty="0"/>
          </a:p>
        </p:txBody>
      </p:sp>
      <p:sp>
        <p:nvSpPr>
          <p:cNvPr id="8" name="Shape 5"/>
          <p:cNvSpPr/>
          <p:nvPr/>
        </p:nvSpPr>
        <p:spPr>
          <a:xfrm>
            <a:off x="381000" y="601980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FAFAFA">
              <a:alpha val="10196"/>
            </a:srgbClr>
          </a:solidFill>
          <a:ln/>
        </p:spPr>
      </p:sp>
      <p:sp>
        <p:nvSpPr>
          <p:cNvPr id="9" name="Shape 6"/>
          <p:cNvSpPr/>
          <p:nvPr/>
        </p:nvSpPr>
        <p:spPr>
          <a:xfrm>
            <a:off x="514350" y="6153150"/>
            <a:ext cx="190500" cy="190500"/>
          </a:xfrm>
          <a:custGeom>
            <a:avLst/>
            <a:gdLst/>
            <a:ahLst/>
            <a:cxnLst/>
            <a:rect l="l" t="t" r="r" b="b"/>
            <a:pathLst>
              <a:path w="190500" h="190500">
                <a:moveTo>
                  <a:pt x="65484" y="8930"/>
                </a:moveTo>
                <a:cubicBezTo>
                  <a:pt x="65484" y="3981"/>
                  <a:pt x="61503" y="0"/>
                  <a:pt x="56555" y="0"/>
                </a:cubicBezTo>
                <a:cubicBezTo>
                  <a:pt x="51606" y="0"/>
                  <a:pt x="47625" y="3981"/>
                  <a:pt x="47625" y="8930"/>
                </a:cubicBezTo>
                <a:lnTo>
                  <a:pt x="47625" y="23812"/>
                </a:lnTo>
                <a:cubicBezTo>
                  <a:pt x="34491" y="23812"/>
                  <a:pt x="23812" y="34491"/>
                  <a:pt x="23812" y="47625"/>
                </a:cubicBezTo>
                <a:lnTo>
                  <a:pt x="8930" y="47625"/>
                </a:lnTo>
                <a:cubicBezTo>
                  <a:pt x="3981" y="47625"/>
                  <a:pt x="0" y="51606"/>
                  <a:pt x="0" y="56555"/>
                </a:cubicBezTo>
                <a:cubicBezTo>
                  <a:pt x="0" y="61503"/>
                  <a:pt x="3981" y="65484"/>
                  <a:pt x="8930" y="65484"/>
                </a:cubicBezTo>
                <a:lnTo>
                  <a:pt x="23812" y="65484"/>
                </a:lnTo>
                <a:lnTo>
                  <a:pt x="23812" y="86320"/>
                </a:lnTo>
                <a:lnTo>
                  <a:pt x="8930" y="86320"/>
                </a:lnTo>
                <a:cubicBezTo>
                  <a:pt x="3981" y="86320"/>
                  <a:pt x="0" y="90301"/>
                  <a:pt x="0" y="95250"/>
                </a:cubicBezTo>
                <a:cubicBezTo>
                  <a:pt x="0" y="100199"/>
                  <a:pt x="3981" y="104180"/>
                  <a:pt x="8930" y="104180"/>
                </a:cubicBezTo>
                <a:lnTo>
                  <a:pt x="23812" y="104180"/>
                </a:lnTo>
                <a:lnTo>
                  <a:pt x="23812" y="125016"/>
                </a:lnTo>
                <a:lnTo>
                  <a:pt x="8930" y="125016"/>
                </a:lnTo>
                <a:cubicBezTo>
                  <a:pt x="3981" y="125016"/>
                  <a:pt x="0" y="128997"/>
                  <a:pt x="0" y="133945"/>
                </a:cubicBezTo>
                <a:cubicBezTo>
                  <a:pt x="0" y="138894"/>
                  <a:pt x="3981" y="142875"/>
                  <a:pt x="8930" y="142875"/>
                </a:cubicBezTo>
                <a:lnTo>
                  <a:pt x="23812" y="142875"/>
                </a:lnTo>
                <a:cubicBezTo>
                  <a:pt x="23812" y="156009"/>
                  <a:pt x="34491" y="166688"/>
                  <a:pt x="47625" y="166688"/>
                </a:cubicBezTo>
                <a:lnTo>
                  <a:pt x="47625" y="181570"/>
                </a:lnTo>
                <a:cubicBezTo>
                  <a:pt x="47625" y="186519"/>
                  <a:pt x="51606" y="190500"/>
                  <a:pt x="56555" y="190500"/>
                </a:cubicBezTo>
                <a:cubicBezTo>
                  <a:pt x="61503" y="190500"/>
                  <a:pt x="65484" y="186519"/>
                  <a:pt x="65484" y="181570"/>
                </a:cubicBezTo>
                <a:lnTo>
                  <a:pt x="65484" y="166688"/>
                </a:lnTo>
                <a:lnTo>
                  <a:pt x="86320" y="166688"/>
                </a:lnTo>
                <a:lnTo>
                  <a:pt x="86320" y="181570"/>
                </a:lnTo>
                <a:cubicBezTo>
                  <a:pt x="86320" y="186519"/>
                  <a:pt x="90301" y="190500"/>
                  <a:pt x="95250" y="190500"/>
                </a:cubicBezTo>
                <a:cubicBezTo>
                  <a:pt x="100199" y="190500"/>
                  <a:pt x="104180" y="186519"/>
                  <a:pt x="104180" y="181570"/>
                </a:cubicBezTo>
                <a:lnTo>
                  <a:pt x="104180" y="166688"/>
                </a:lnTo>
                <a:lnTo>
                  <a:pt x="125016" y="166688"/>
                </a:lnTo>
                <a:lnTo>
                  <a:pt x="125016" y="181570"/>
                </a:lnTo>
                <a:cubicBezTo>
                  <a:pt x="125016" y="186519"/>
                  <a:pt x="128997" y="190500"/>
                  <a:pt x="133945" y="190500"/>
                </a:cubicBezTo>
                <a:cubicBezTo>
                  <a:pt x="138894" y="190500"/>
                  <a:pt x="142875" y="186519"/>
                  <a:pt x="142875" y="181570"/>
                </a:cubicBezTo>
                <a:lnTo>
                  <a:pt x="142875" y="166688"/>
                </a:lnTo>
                <a:cubicBezTo>
                  <a:pt x="156009" y="166688"/>
                  <a:pt x="166688" y="156009"/>
                  <a:pt x="166688" y="142875"/>
                </a:cubicBezTo>
                <a:lnTo>
                  <a:pt x="181570" y="142875"/>
                </a:lnTo>
                <a:cubicBezTo>
                  <a:pt x="186519" y="142875"/>
                  <a:pt x="190500" y="138894"/>
                  <a:pt x="190500" y="133945"/>
                </a:cubicBezTo>
                <a:cubicBezTo>
                  <a:pt x="190500" y="128997"/>
                  <a:pt x="186519" y="125016"/>
                  <a:pt x="181570" y="125016"/>
                </a:cubicBezTo>
                <a:lnTo>
                  <a:pt x="166688" y="125016"/>
                </a:lnTo>
                <a:lnTo>
                  <a:pt x="166688" y="104180"/>
                </a:lnTo>
                <a:lnTo>
                  <a:pt x="181570" y="104180"/>
                </a:lnTo>
                <a:cubicBezTo>
                  <a:pt x="186519" y="104180"/>
                  <a:pt x="190500" y="100199"/>
                  <a:pt x="190500" y="95250"/>
                </a:cubicBezTo>
                <a:cubicBezTo>
                  <a:pt x="190500" y="90301"/>
                  <a:pt x="186519" y="86320"/>
                  <a:pt x="181570" y="86320"/>
                </a:cubicBezTo>
                <a:lnTo>
                  <a:pt x="166688" y="86320"/>
                </a:lnTo>
                <a:lnTo>
                  <a:pt x="166688" y="65484"/>
                </a:lnTo>
                <a:lnTo>
                  <a:pt x="181570" y="65484"/>
                </a:lnTo>
                <a:cubicBezTo>
                  <a:pt x="186519" y="65484"/>
                  <a:pt x="190500" y="61503"/>
                  <a:pt x="190500" y="56555"/>
                </a:cubicBezTo>
                <a:cubicBezTo>
                  <a:pt x="190500" y="51606"/>
                  <a:pt x="186519" y="47625"/>
                  <a:pt x="181570" y="47625"/>
                </a:cubicBezTo>
                <a:lnTo>
                  <a:pt x="166688" y="47625"/>
                </a:lnTo>
                <a:cubicBezTo>
                  <a:pt x="166688" y="34491"/>
                  <a:pt x="156009" y="23812"/>
                  <a:pt x="142875" y="23812"/>
                </a:cubicBezTo>
                <a:lnTo>
                  <a:pt x="142875" y="8930"/>
                </a:lnTo>
                <a:cubicBezTo>
                  <a:pt x="142875" y="3981"/>
                  <a:pt x="138894" y="0"/>
                  <a:pt x="133945" y="0"/>
                </a:cubicBezTo>
                <a:cubicBezTo>
                  <a:pt x="128997" y="0"/>
                  <a:pt x="125016" y="3981"/>
                  <a:pt x="125016" y="8930"/>
                </a:cubicBezTo>
                <a:lnTo>
                  <a:pt x="125016" y="23812"/>
                </a:lnTo>
                <a:lnTo>
                  <a:pt x="104180" y="23812"/>
                </a:lnTo>
                <a:lnTo>
                  <a:pt x="104180" y="8930"/>
                </a:lnTo>
                <a:cubicBezTo>
                  <a:pt x="104180" y="3981"/>
                  <a:pt x="100199" y="0"/>
                  <a:pt x="95250" y="0"/>
                </a:cubicBezTo>
                <a:cubicBezTo>
                  <a:pt x="90301" y="0"/>
                  <a:pt x="86320" y="3981"/>
                  <a:pt x="86320" y="8930"/>
                </a:cubicBezTo>
                <a:lnTo>
                  <a:pt x="86320" y="23812"/>
                </a:lnTo>
                <a:lnTo>
                  <a:pt x="65484" y="23812"/>
                </a:lnTo>
                <a:lnTo>
                  <a:pt x="65484" y="8930"/>
                </a:lnTo>
                <a:close/>
                <a:moveTo>
                  <a:pt x="59531" y="47625"/>
                </a:moveTo>
                <a:lnTo>
                  <a:pt x="130969" y="47625"/>
                </a:lnTo>
                <a:cubicBezTo>
                  <a:pt x="137554" y="47625"/>
                  <a:pt x="142875" y="52946"/>
                  <a:pt x="142875" y="59531"/>
                </a:cubicBezTo>
                <a:lnTo>
                  <a:pt x="142875" y="130969"/>
                </a:lnTo>
                <a:cubicBezTo>
                  <a:pt x="142875" y="137554"/>
                  <a:pt x="137554" y="142875"/>
                  <a:pt x="130969" y="142875"/>
                </a:cubicBezTo>
                <a:lnTo>
                  <a:pt x="59531" y="142875"/>
                </a:lnTo>
                <a:cubicBezTo>
                  <a:pt x="52946" y="142875"/>
                  <a:pt x="47625" y="137554"/>
                  <a:pt x="47625" y="130969"/>
                </a:cubicBezTo>
                <a:lnTo>
                  <a:pt x="47625" y="59531"/>
                </a:lnTo>
                <a:cubicBezTo>
                  <a:pt x="47625" y="52946"/>
                  <a:pt x="52946" y="47625"/>
                  <a:pt x="59531" y="47625"/>
                </a:cubicBezTo>
                <a:close/>
                <a:moveTo>
                  <a:pt x="65484" y="65484"/>
                </a:moveTo>
                <a:lnTo>
                  <a:pt x="65484" y="125016"/>
                </a:lnTo>
                <a:lnTo>
                  <a:pt x="125016" y="125016"/>
                </a:lnTo>
                <a:lnTo>
                  <a:pt x="125016" y="65484"/>
                </a:lnTo>
                <a:lnTo>
                  <a:pt x="65484" y="65484"/>
                </a:lnTo>
                <a:close/>
              </a:path>
            </a:pathLst>
          </a:custGeom>
          <a:solidFill>
            <a:srgbClr val="FAFAFA"/>
          </a:solidFill>
          <a:ln/>
        </p:spPr>
      </p:sp>
      <p:sp>
        <p:nvSpPr>
          <p:cNvPr id="10" name="Text 7"/>
          <p:cNvSpPr/>
          <p:nvPr/>
        </p:nvSpPr>
        <p:spPr>
          <a:xfrm>
            <a:off x="952500" y="6153150"/>
            <a:ext cx="466725" cy="190500"/>
          </a:xfrm>
          <a:prstGeom prst="rect">
            <a:avLst/>
          </a:prstGeom>
          <a:noFill/>
          <a:ln/>
        </p:spPr>
        <p:txBody>
          <a:bodyPr wrap="square" lIns="0" tIns="0" rIns="0" bIns="0" rtlCol="0" anchor="ctr"/>
          <a:lstStyle/>
          <a:p>
            <a:pPr>
              <a:lnSpc>
                <a:spcPct val="120000"/>
              </a:lnSpc>
            </a:pPr>
            <a:r>
              <a:rPr lang="en-US" sz="1050" dirty="0">
                <a:solidFill>
                  <a:srgbClr val="FAFAFA">
                    <a:alpha val="80000"/>
                  </a:srgbClr>
                </a:solidFill>
                <a:latin typeface="Liter" pitchFamily="34" charset="0"/>
                <a:ea typeface="Liter" pitchFamily="34" charset="-122"/>
                <a:cs typeface="Liter" pitchFamily="34" charset="-120"/>
              </a:rPr>
              <a:t>ESP32</a:t>
            </a:r>
            <a:endParaRPr lang="en-US" sz="1600" dirty="0"/>
          </a:p>
        </p:txBody>
      </p:sp>
      <p:sp>
        <p:nvSpPr>
          <p:cNvPr id="11" name="Shape 8"/>
          <p:cNvSpPr/>
          <p:nvPr/>
        </p:nvSpPr>
        <p:spPr>
          <a:xfrm>
            <a:off x="1655683" y="601980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FAFAFA">
              <a:alpha val="10196"/>
            </a:srgbClr>
          </a:solidFill>
          <a:ln/>
        </p:spPr>
      </p:sp>
      <p:sp>
        <p:nvSpPr>
          <p:cNvPr id="12" name="Shape 9"/>
          <p:cNvSpPr/>
          <p:nvPr/>
        </p:nvSpPr>
        <p:spPr>
          <a:xfrm>
            <a:off x="1777127" y="6153150"/>
            <a:ext cx="214313" cy="190500"/>
          </a:xfrm>
          <a:custGeom>
            <a:avLst/>
            <a:gdLst/>
            <a:ahLst/>
            <a:cxnLst/>
            <a:rect l="l" t="t" r="r" b="b"/>
            <a:pathLst>
              <a:path w="214313" h="190500">
                <a:moveTo>
                  <a:pt x="107156" y="35719"/>
                </a:moveTo>
                <a:cubicBezTo>
                  <a:pt x="73335" y="35719"/>
                  <a:pt x="42714" y="49113"/>
                  <a:pt x="20203" y="70917"/>
                </a:cubicBezTo>
                <a:cubicBezTo>
                  <a:pt x="15478" y="75493"/>
                  <a:pt x="7925" y="75381"/>
                  <a:pt x="3386" y="70656"/>
                </a:cubicBezTo>
                <a:cubicBezTo>
                  <a:pt x="-1153" y="65931"/>
                  <a:pt x="-1079" y="58378"/>
                  <a:pt x="3646" y="53839"/>
                </a:cubicBezTo>
                <a:cubicBezTo>
                  <a:pt x="30398" y="27868"/>
                  <a:pt x="66935" y="11906"/>
                  <a:pt x="107156" y="11906"/>
                </a:cubicBezTo>
                <a:cubicBezTo>
                  <a:pt x="147377" y="11906"/>
                  <a:pt x="183914" y="27868"/>
                  <a:pt x="210703" y="53839"/>
                </a:cubicBezTo>
                <a:cubicBezTo>
                  <a:pt x="215429" y="58415"/>
                  <a:pt x="215540" y="65968"/>
                  <a:pt x="210964" y="70656"/>
                </a:cubicBezTo>
                <a:cubicBezTo>
                  <a:pt x="206387" y="75344"/>
                  <a:pt x="198834" y="75493"/>
                  <a:pt x="194146" y="70917"/>
                </a:cubicBezTo>
                <a:cubicBezTo>
                  <a:pt x="171599" y="49113"/>
                  <a:pt x="140977" y="35719"/>
                  <a:pt x="107156" y="35719"/>
                </a:cubicBezTo>
                <a:close/>
                <a:moveTo>
                  <a:pt x="89297" y="160734"/>
                </a:moveTo>
                <a:cubicBezTo>
                  <a:pt x="89297" y="150878"/>
                  <a:pt x="97299" y="142875"/>
                  <a:pt x="107156" y="142875"/>
                </a:cubicBezTo>
                <a:cubicBezTo>
                  <a:pt x="117013" y="142875"/>
                  <a:pt x="125016" y="150878"/>
                  <a:pt x="125016" y="160734"/>
                </a:cubicBezTo>
                <a:cubicBezTo>
                  <a:pt x="125016" y="170591"/>
                  <a:pt x="117013" y="178594"/>
                  <a:pt x="107156" y="178594"/>
                </a:cubicBezTo>
                <a:cubicBezTo>
                  <a:pt x="97299" y="178594"/>
                  <a:pt x="89297" y="170591"/>
                  <a:pt x="89297" y="160734"/>
                </a:cubicBezTo>
                <a:close/>
                <a:moveTo>
                  <a:pt x="62508" y="121369"/>
                </a:moveTo>
                <a:cubicBezTo>
                  <a:pt x="58155" y="126318"/>
                  <a:pt x="50639" y="126764"/>
                  <a:pt x="45690" y="122411"/>
                </a:cubicBezTo>
                <a:cubicBezTo>
                  <a:pt x="40742" y="118058"/>
                  <a:pt x="40295" y="110542"/>
                  <a:pt x="44648" y="105594"/>
                </a:cubicBezTo>
                <a:cubicBezTo>
                  <a:pt x="59903" y="88329"/>
                  <a:pt x="82265" y="77391"/>
                  <a:pt x="107156" y="77391"/>
                </a:cubicBezTo>
                <a:cubicBezTo>
                  <a:pt x="132048" y="77391"/>
                  <a:pt x="154409" y="88329"/>
                  <a:pt x="169664" y="105594"/>
                </a:cubicBezTo>
                <a:cubicBezTo>
                  <a:pt x="174017" y="110542"/>
                  <a:pt x="173534" y="118058"/>
                  <a:pt x="168622" y="122411"/>
                </a:cubicBezTo>
                <a:cubicBezTo>
                  <a:pt x="163711" y="126764"/>
                  <a:pt x="156158" y="126281"/>
                  <a:pt x="151805" y="121369"/>
                </a:cubicBezTo>
                <a:cubicBezTo>
                  <a:pt x="140866" y="108979"/>
                  <a:pt x="124941" y="101203"/>
                  <a:pt x="107156" y="101203"/>
                </a:cubicBezTo>
                <a:cubicBezTo>
                  <a:pt x="89371" y="101203"/>
                  <a:pt x="73447" y="108979"/>
                  <a:pt x="62508" y="121369"/>
                </a:cubicBezTo>
                <a:close/>
              </a:path>
            </a:pathLst>
          </a:custGeom>
          <a:solidFill>
            <a:srgbClr val="FAFAFA"/>
          </a:solidFill>
          <a:ln/>
        </p:spPr>
      </p:sp>
      <p:sp>
        <p:nvSpPr>
          <p:cNvPr id="13" name="Text 10"/>
          <p:cNvSpPr/>
          <p:nvPr/>
        </p:nvSpPr>
        <p:spPr>
          <a:xfrm>
            <a:off x="2227183" y="6153150"/>
            <a:ext cx="333375" cy="190500"/>
          </a:xfrm>
          <a:prstGeom prst="rect">
            <a:avLst/>
          </a:prstGeom>
          <a:noFill/>
          <a:ln/>
        </p:spPr>
        <p:txBody>
          <a:bodyPr wrap="square" lIns="0" tIns="0" rIns="0" bIns="0" rtlCol="0" anchor="ctr"/>
          <a:lstStyle/>
          <a:p>
            <a:pPr>
              <a:lnSpc>
                <a:spcPct val="120000"/>
              </a:lnSpc>
            </a:pPr>
            <a:r>
              <a:rPr lang="en-US" sz="1050" dirty="0">
                <a:solidFill>
                  <a:srgbClr val="FAFAFA">
                    <a:alpha val="80000"/>
                  </a:srgbClr>
                </a:solidFill>
                <a:latin typeface="Liter" pitchFamily="34" charset="0"/>
                <a:ea typeface="Liter" pitchFamily="34" charset="-122"/>
                <a:cs typeface="Liter" pitchFamily="34" charset="-120"/>
              </a:rPr>
              <a:t>WiFi</a:t>
            </a:r>
            <a:endParaRPr lang="en-US" sz="1600" dirty="0"/>
          </a:p>
        </p:txBody>
      </p:sp>
      <p:sp>
        <p:nvSpPr>
          <p:cNvPr id="14" name="Shape 11"/>
          <p:cNvSpPr/>
          <p:nvPr/>
        </p:nvSpPr>
        <p:spPr>
          <a:xfrm>
            <a:off x="2802255" y="601980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FAFAFA">
              <a:alpha val="10196"/>
            </a:srgbClr>
          </a:solidFill>
          <a:ln/>
        </p:spPr>
      </p:sp>
      <p:sp>
        <p:nvSpPr>
          <p:cNvPr id="15" name="Shape 12"/>
          <p:cNvSpPr/>
          <p:nvPr/>
        </p:nvSpPr>
        <p:spPr>
          <a:xfrm>
            <a:off x="2923699" y="6153150"/>
            <a:ext cx="214313" cy="190500"/>
          </a:xfrm>
          <a:custGeom>
            <a:avLst/>
            <a:gdLst/>
            <a:ahLst/>
            <a:cxnLst/>
            <a:rect l="l" t="t" r="r" b="b"/>
            <a:pathLst>
              <a:path w="214313" h="190500">
                <a:moveTo>
                  <a:pt x="0" y="125016"/>
                </a:moveTo>
                <a:cubicBezTo>
                  <a:pt x="0" y="154595"/>
                  <a:pt x="23999" y="178594"/>
                  <a:pt x="53578" y="178594"/>
                </a:cubicBezTo>
                <a:lnTo>
                  <a:pt x="166688" y="178594"/>
                </a:lnTo>
                <a:cubicBezTo>
                  <a:pt x="192993" y="178594"/>
                  <a:pt x="214313" y="157274"/>
                  <a:pt x="214313" y="130969"/>
                </a:cubicBezTo>
                <a:cubicBezTo>
                  <a:pt x="214313" y="111770"/>
                  <a:pt x="202964" y="95213"/>
                  <a:pt x="186593" y="87697"/>
                </a:cubicBezTo>
                <a:cubicBezTo>
                  <a:pt x="189086" y="82823"/>
                  <a:pt x="190500" y="77279"/>
                  <a:pt x="190500" y="71438"/>
                </a:cubicBezTo>
                <a:cubicBezTo>
                  <a:pt x="190500" y="51718"/>
                  <a:pt x="174501" y="35719"/>
                  <a:pt x="154781" y="35719"/>
                </a:cubicBezTo>
                <a:cubicBezTo>
                  <a:pt x="148196" y="35719"/>
                  <a:pt x="142056" y="37505"/>
                  <a:pt x="136773" y="40593"/>
                </a:cubicBezTo>
                <a:cubicBezTo>
                  <a:pt x="127806" y="23552"/>
                  <a:pt x="109910" y="11906"/>
                  <a:pt x="89297" y="11906"/>
                </a:cubicBezTo>
                <a:cubicBezTo>
                  <a:pt x="59717" y="11906"/>
                  <a:pt x="35719" y="35905"/>
                  <a:pt x="35719" y="65484"/>
                </a:cubicBezTo>
                <a:cubicBezTo>
                  <a:pt x="35719" y="68461"/>
                  <a:pt x="35979" y="71400"/>
                  <a:pt x="36426" y="74228"/>
                </a:cubicBezTo>
                <a:cubicBezTo>
                  <a:pt x="15255" y="81372"/>
                  <a:pt x="0" y="101426"/>
                  <a:pt x="0" y="125016"/>
                </a:cubicBezTo>
                <a:close/>
              </a:path>
            </a:pathLst>
          </a:custGeom>
          <a:solidFill>
            <a:srgbClr val="FAFAFA"/>
          </a:solidFill>
          <a:ln/>
        </p:spPr>
      </p:sp>
      <p:sp>
        <p:nvSpPr>
          <p:cNvPr id="16" name="Text 13"/>
          <p:cNvSpPr/>
          <p:nvPr/>
        </p:nvSpPr>
        <p:spPr>
          <a:xfrm>
            <a:off x="3373755" y="6153150"/>
            <a:ext cx="571500" cy="190500"/>
          </a:xfrm>
          <a:prstGeom prst="rect">
            <a:avLst/>
          </a:prstGeom>
          <a:noFill/>
          <a:ln/>
        </p:spPr>
        <p:txBody>
          <a:bodyPr wrap="square" lIns="0" tIns="0" rIns="0" bIns="0" rtlCol="0" anchor="ctr"/>
          <a:lstStyle/>
          <a:p>
            <a:pPr>
              <a:lnSpc>
                <a:spcPct val="120000"/>
              </a:lnSpc>
            </a:pPr>
            <a:r>
              <a:rPr lang="en-US" sz="1050" dirty="0">
                <a:solidFill>
                  <a:srgbClr val="FAFAFA">
                    <a:alpha val="80000"/>
                  </a:srgbClr>
                </a:solidFill>
                <a:latin typeface="Liter" pitchFamily="34" charset="0"/>
                <a:ea typeface="Liter" pitchFamily="34" charset="-122"/>
                <a:cs typeface="Liter" pitchFamily="34" charset="-120"/>
              </a:rPr>
              <a:t>Firebase</a:t>
            </a:r>
            <a:endParaRPr lang="en-US" sz="1600" dirty="0"/>
          </a:p>
        </p:txBody>
      </p:sp>
      <p:sp>
        <p:nvSpPr>
          <p:cNvPr id="17" name="Text 14"/>
          <p:cNvSpPr/>
          <p:nvPr/>
        </p:nvSpPr>
        <p:spPr>
          <a:xfrm>
            <a:off x="11491199" y="6153150"/>
            <a:ext cx="390525" cy="190500"/>
          </a:xfrm>
          <a:prstGeom prst="rect">
            <a:avLst/>
          </a:prstGeom>
          <a:noFill/>
          <a:ln/>
        </p:spPr>
        <p:txBody>
          <a:bodyPr wrap="square" lIns="0" tIns="0" rIns="0" bIns="0" rtlCol="0" anchor="ctr"/>
          <a:lstStyle/>
          <a:p>
            <a:pPr>
              <a:lnSpc>
                <a:spcPct val="120000"/>
              </a:lnSpc>
            </a:pPr>
            <a:r>
              <a:rPr lang="en-US" sz="1050" dirty="0">
                <a:solidFill>
                  <a:srgbClr val="FAFAFA">
                    <a:alpha val="60000"/>
                  </a:srgbClr>
                </a:solidFill>
                <a:latin typeface="Liter" pitchFamily="34" charset="0"/>
                <a:ea typeface="Liter" pitchFamily="34" charset="-122"/>
                <a:cs typeface="Liter" pitchFamily="34" charset="-120"/>
              </a:rPr>
              <a:t>2026</a:t>
            </a:r>
            <a:endParaRPr lang="en-US" sz="1600" dirty="0"/>
          </a:p>
        </p:txBody>
      </p:sp>
      <p:sp>
        <p:nvSpPr>
          <p:cNvPr id="19" name="Text 4">
            <a:extLst>
              <a:ext uri="{FF2B5EF4-FFF2-40B4-BE49-F238E27FC236}">
                <a16:creationId xmlns:a16="http://schemas.microsoft.com/office/drawing/2014/main" id="{6C326F29-A941-9A0A-7803-6B203312901F}"/>
              </a:ext>
            </a:extLst>
          </p:cNvPr>
          <p:cNvSpPr/>
          <p:nvPr/>
        </p:nvSpPr>
        <p:spPr>
          <a:xfrm>
            <a:off x="393182" y="5133975"/>
            <a:ext cx="4054506" cy="371475"/>
          </a:xfrm>
          <a:prstGeom prst="rect">
            <a:avLst/>
          </a:prstGeom>
          <a:noFill/>
          <a:ln/>
        </p:spPr>
        <p:txBody>
          <a:bodyPr wrap="square" lIns="0" tIns="0" rIns="0" bIns="0" rtlCol="0" anchor="ctr"/>
          <a:lstStyle/>
          <a:p>
            <a:pPr>
              <a:lnSpc>
                <a:spcPct val="110000"/>
              </a:lnSpc>
            </a:pPr>
            <a:r>
              <a:rPr lang="en-US" sz="1600" dirty="0">
                <a:solidFill>
                  <a:srgbClr val="86868B"/>
                </a:solidFill>
                <a:latin typeface="Liter" pitchFamily="34" charset="0"/>
                <a:ea typeface="Liter" pitchFamily="34" charset="-122"/>
                <a:cs typeface="Liter" pitchFamily="34" charset="-120"/>
              </a:rPr>
              <a:t> Abdoul Raouf MAMA et </a:t>
            </a:r>
            <a:r>
              <a:rPr lang="en-US" sz="1600" dirty="0" err="1">
                <a:solidFill>
                  <a:srgbClr val="86868B"/>
                </a:solidFill>
                <a:latin typeface="Liter" pitchFamily="34" charset="0"/>
                <a:ea typeface="Liter" pitchFamily="34" charset="-122"/>
                <a:cs typeface="Liter" pitchFamily="34" charset="-120"/>
              </a:rPr>
              <a:t>Béryl</a:t>
            </a:r>
            <a:r>
              <a:rPr lang="en-US" sz="1600" dirty="0">
                <a:solidFill>
                  <a:srgbClr val="86868B"/>
                </a:solidFill>
                <a:latin typeface="Liter" pitchFamily="34" charset="0"/>
                <a:ea typeface="Liter" pitchFamily="34" charset="-122"/>
                <a:cs typeface="Liter" pitchFamily="34" charset="-120"/>
              </a:rPr>
              <a:t> HOUESSOU</a:t>
            </a:r>
            <a:endParaRPr lang="en-US" sz="1400" dirty="0"/>
          </a:p>
        </p:txBody>
      </p:sp>
      <p:pic>
        <p:nvPicPr>
          <p:cNvPr id="21" name="Image 20">
            <a:extLst>
              <a:ext uri="{FF2B5EF4-FFF2-40B4-BE49-F238E27FC236}">
                <a16:creationId xmlns:a16="http://schemas.microsoft.com/office/drawing/2014/main" id="{28D4DD40-D848-BA54-4379-9F101A6233CF}"/>
              </a:ext>
            </a:extLst>
          </p:cNvPr>
          <p:cNvPicPr>
            <a:picLocks noChangeAspect="1"/>
          </p:cNvPicPr>
          <p:nvPr/>
        </p:nvPicPr>
        <p:blipFill>
          <a:blip r:embed="rId4"/>
          <a:stretch>
            <a:fillRect/>
          </a:stretch>
        </p:blipFill>
        <p:spPr>
          <a:xfrm>
            <a:off x="10775364" y="232978"/>
            <a:ext cx="1175551" cy="1119572"/>
          </a:xfrm>
          <a:prstGeom prst="rect">
            <a:avLst/>
          </a:prstGeom>
        </p:spPr>
      </p:pic>
      <p:pic>
        <p:nvPicPr>
          <p:cNvPr id="23" name="Image 22">
            <a:extLst>
              <a:ext uri="{FF2B5EF4-FFF2-40B4-BE49-F238E27FC236}">
                <a16:creationId xmlns:a16="http://schemas.microsoft.com/office/drawing/2014/main" id="{0C299890-9710-8521-8C1A-50D24D38CEF6}"/>
              </a:ext>
            </a:extLst>
          </p:cNvPr>
          <p:cNvPicPr>
            <a:picLocks noChangeAspect="1"/>
          </p:cNvPicPr>
          <p:nvPr/>
        </p:nvPicPr>
        <p:blipFill>
          <a:blip r:embed="rId5"/>
          <a:stretch>
            <a:fillRect/>
          </a:stretch>
        </p:blipFill>
        <p:spPr>
          <a:xfrm>
            <a:off x="312866" y="297700"/>
            <a:ext cx="1106360" cy="1100109"/>
          </a:xfrm>
          <a:prstGeom prst="rect">
            <a:avLst/>
          </a:prstGeom>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kern="0" spc="105" dirty="0">
                <a:solidFill>
                  <a:srgbClr val="86868B"/>
                </a:solidFill>
                <a:latin typeface="Liter" pitchFamily="34" charset="0"/>
                <a:ea typeface="Liter" pitchFamily="34" charset="-122"/>
                <a:cs typeface="Liter" pitchFamily="34" charset="-120"/>
              </a:rPr>
              <a:t>SOMMAIRE</a:t>
            </a:r>
            <a:endParaRPr lang="en-US" sz="1600" dirty="0"/>
          </a:p>
        </p:txBody>
      </p:sp>
      <p:sp>
        <p:nvSpPr>
          <p:cNvPr id="3" name="Text 1"/>
          <p:cNvSpPr/>
          <p:nvPr/>
        </p:nvSpPr>
        <p:spPr>
          <a:xfrm>
            <a:off x="381000" y="685800"/>
            <a:ext cx="11715750" cy="571500"/>
          </a:xfrm>
          <a:prstGeom prst="rect">
            <a:avLst/>
          </a:prstGeom>
          <a:noFill/>
          <a:ln/>
        </p:spPr>
        <p:txBody>
          <a:bodyPr wrap="square" lIns="0" tIns="0" rIns="0" bIns="0" rtlCol="0" anchor="ctr"/>
          <a:lstStyle/>
          <a:p>
            <a:pPr>
              <a:lnSpc>
                <a:spcPct val="80000"/>
              </a:lnSpc>
            </a:pPr>
            <a:r>
              <a:rPr lang="en-US" sz="4500" b="1" dirty="0">
                <a:solidFill>
                  <a:srgbClr val="1D1D1D"/>
                </a:solidFill>
                <a:latin typeface="Liter" pitchFamily="34" charset="0"/>
                <a:ea typeface="Liter" pitchFamily="34" charset="-122"/>
                <a:cs typeface="Liter" pitchFamily="34" charset="-120"/>
              </a:rPr>
              <a:t>Contenu de la présentation</a:t>
            </a:r>
            <a:endParaRPr lang="en-US" sz="1600" dirty="0"/>
          </a:p>
        </p:txBody>
      </p:sp>
      <p:sp>
        <p:nvSpPr>
          <p:cNvPr id="4" name="Text 2"/>
          <p:cNvSpPr/>
          <p:nvPr/>
        </p:nvSpPr>
        <p:spPr>
          <a:xfrm>
            <a:off x="381000" y="1714500"/>
            <a:ext cx="704850" cy="457200"/>
          </a:xfrm>
          <a:prstGeom prst="rect">
            <a:avLst/>
          </a:prstGeom>
          <a:noFill/>
          <a:ln/>
        </p:spPr>
        <p:txBody>
          <a:bodyPr wrap="square" lIns="0" tIns="0" rIns="0" bIns="0" rtlCol="0" anchor="ctr"/>
          <a:lstStyle/>
          <a:p>
            <a:pPr>
              <a:lnSpc>
                <a:spcPct val="80000"/>
              </a:lnSpc>
            </a:pPr>
            <a:r>
              <a:rPr lang="en-US" sz="3600" b="1" dirty="0">
                <a:solidFill>
                  <a:srgbClr val="0071E3"/>
                </a:solidFill>
                <a:latin typeface="Liter" pitchFamily="34" charset="0"/>
                <a:ea typeface="Liter" pitchFamily="34" charset="-122"/>
                <a:cs typeface="Liter" pitchFamily="34" charset="-120"/>
              </a:rPr>
              <a:t>01</a:t>
            </a:r>
            <a:endParaRPr lang="en-US" sz="1600" dirty="0"/>
          </a:p>
        </p:txBody>
      </p:sp>
      <p:sp>
        <p:nvSpPr>
          <p:cNvPr id="5" name="Text 3"/>
          <p:cNvSpPr/>
          <p:nvPr/>
        </p:nvSpPr>
        <p:spPr>
          <a:xfrm>
            <a:off x="1084183" y="1790700"/>
            <a:ext cx="4819650" cy="304800"/>
          </a:xfrm>
          <a:prstGeom prst="rect">
            <a:avLst/>
          </a:prstGeom>
          <a:noFill/>
          <a:ln/>
        </p:spPr>
        <p:txBody>
          <a:bodyPr wrap="square" lIns="0" tIns="0" rIns="0" bIns="0" rtlCol="0" anchor="ctr"/>
          <a:lstStyle/>
          <a:p>
            <a:pPr>
              <a:lnSpc>
                <a:spcPct val="110000"/>
              </a:lnSpc>
            </a:pPr>
            <a:r>
              <a:rPr lang="en-US" sz="1800" b="1" dirty="0">
                <a:solidFill>
                  <a:srgbClr val="1D1D1D"/>
                </a:solidFill>
                <a:latin typeface="Liter" pitchFamily="34" charset="0"/>
                <a:ea typeface="Liter" pitchFamily="34" charset="-122"/>
                <a:cs typeface="Liter" pitchFamily="34" charset="-120"/>
              </a:rPr>
              <a:t>Vue d'ensemble du projet</a:t>
            </a:r>
            <a:endParaRPr lang="en-US" sz="1600" dirty="0"/>
          </a:p>
        </p:txBody>
      </p:sp>
      <p:sp>
        <p:nvSpPr>
          <p:cNvPr id="6" name="Text 4"/>
          <p:cNvSpPr/>
          <p:nvPr/>
        </p:nvSpPr>
        <p:spPr>
          <a:xfrm>
            <a:off x="1084183" y="2171581"/>
            <a:ext cx="4781550" cy="247650"/>
          </a:xfrm>
          <a:prstGeom prst="rect">
            <a:avLst/>
          </a:prstGeom>
          <a:noFill/>
          <a:ln/>
        </p:spPr>
        <p:txBody>
          <a:bodyPr wrap="square" lIns="0" tIns="0" rIns="0" bIns="0" rtlCol="0" anchor="ctr"/>
          <a:lstStyle/>
          <a:p>
            <a:pPr>
              <a:lnSpc>
                <a:spcPct val="140000"/>
              </a:lnSpc>
            </a:pPr>
            <a:r>
              <a:rPr lang="en-US" sz="1200" dirty="0">
                <a:solidFill>
                  <a:srgbClr val="86868B"/>
                </a:solidFill>
                <a:latin typeface="Liter" pitchFamily="34" charset="0"/>
                <a:ea typeface="Liter" pitchFamily="34" charset="-122"/>
                <a:cs typeface="Liter" pitchFamily="34" charset="-120"/>
              </a:rPr>
              <a:t>Objectifs et fonctionnalités principales du système de surveillance</a:t>
            </a:r>
            <a:endParaRPr lang="en-US" sz="1600" dirty="0"/>
          </a:p>
        </p:txBody>
      </p:sp>
      <p:sp>
        <p:nvSpPr>
          <p:cNvPr id="7" name="Text 5"/>
          <p:cNvSpPr/>
          <p:nvPr/>
        </p:nvSpPr>
        <p:spPr>
          <a:xfrm>
            <a:off x="6400800" y="1714500"/>
            <a:ext cx="790575" cy="457200"/>
          </a:xfrm>
          <a:prstGeom prst="rect">
            <a:avLst/>
          </a:prstGeom>
          <a:noFill/>
          <a:ln/>
        </p:spPr>
        <p:txBody>
          <a:bodyPr wrap="square" lIns="0" tIns="0" rIns="0" bIns="0" rtlCol="0" anchor="ctr"/>
          <a:lstStyle/>
          <a:p>
            <a:pPr>
              <a:lnSpc>
                <a:spcPct val="80000"/>
              </a:lnSpc>
            </a:pPr>
            <a:r>
              <a:rPr lang="en-US" sz="3600" b="1" dirty="0">
                <a:solidFill>
                  <a:srgbClr val="0071E3"/>
                </a:solidFill>
                <a:latin typeface="Liter" pitchFamily="34" charset="0"/>
                <a:ea typeface="Liter" pitchFamily="34" charset="-122"/>
                <a:cs typeface="Liter" pitchFamily="34" charset="-120"/>
              </a:rPr>
              <a:t>02</a:t>
            </a:r>
            <a:endParaRPr lang="en-US" sz="1600" dirty="0"/>
          </a:p>
        </p:txBody>
      </p:sp>
      <p:sp>
        <p:nvSpPr>
          <p:cNvPr id="8" name="Text 6"/>
          <p:cNvSpPr/>
          <p:nvPr/>
        </p:nvSpPr>
        <p:spPr>
          <a:xfrm>
            <a:off x="7186732" y="1790700"/>
            <a:ext cx="4733925" cy="304800"/>
          </a:xfrm>
          <a:prstGeom prst="rect">
            <a:avLst/>
          </a:prstGeom>
          <a:noFill/>
          <a:ln/>
        </p:spPr>
        <p:txBody>
          <a:bodyPr wrap="square" lIns="0" tIns="0" rIns="0" bIns="0" rtlCol="0" anchor="ctr"/>
          <a:lstStyle/>
          <a:p>
            <a:pPr>
              <a:lnSpc>
                <a:spcPct val="110000"/>
              </a:lnSpc>
            </a:pPr>
            <a:r>
              <a:rPr lang="en-US" sz="1800" b="1" dirty="0">
                <a:solidFill>
                  <a:srgbClr val="1D1D1D"/>
                </a:solidFill>
                <a:latin typeface="Liter" pitchFamily="34" charset="0"/>
                <a:ea typeface="Liter" pitchFamily="34" charset="-122"/>
                <a:cs typeface="Liter" pitchFamily="34" charset="-120"/>
              </a:rPr>
              <a:t>Présentation des composants</a:t>
            </a:r>
            <a:endParaRPr lang="en-US" sz="1600" dirty="0"/>
          </a:p>
        </p:txBody>
      </p:sp>
      <p:sp>
        <p:nvSpPr>
          <p:cNvPr id="9" name="Text 7"/>
          <p:cNvSpPr/>
          <p:nvPr/>
        </p:nvSpPr>
        <p:spPr>
          <a:xfrm>
            <a:off x="7186732" y="2171581"/>
            <a:ext cx="4695825" cy="247650"/>
          </a:xfrm>
          <a:prstGeom prst="rect">
            <a:avLst/>
          </a:prstGeom>
          <a:noFill/>
          <a:ln/>
        </p:spPr>
        <p:txBody>
          <a:bodyPr wrap="square" lIns="0" tIns="0" rIns="0" bIns="0" rtlCol="0" anchor="ctr"/>
          <a:lstStyle/>
          <a:p>
            <a:pPr>
              <a:lnSpc>
                <a:spcPct val="140000"/>
              </a:lnSpc>
            </a:pPr>
            <a:r>
              <a:rPr lang="en-US" sz="1200" dirty="0">
                <a:solidFill>
                  <a:srgbClr val="86868B"/>
                </a:solidFill>
                <a:latin typeface="Liter" pitchFamily="34" charset="0"/>
                <a:ea typeface="Liter" pitchFamily="34" charset="-122"/>
                <a:cs typeface="Liter" pitchFamily="34" charset="-120"/>
              </a:rPr>
              <a:t>ESP32, capteur ultrasonique, afficheur, LEDs et interfaces</a:t>
            </a:r>
            <a:endParaRPr lang="en-US" sz="1600" dirty="0"/>
          </a:p>
        </p:txBody>
      </p:sp>
      <p:sp>
        <p:nvSpPr>
          <p:cNvPr id="10" name="Text 8"/>
          <p:cNvSpPr/>
          <p:nvPr/>
        </p:nvSpPr>
        <p:spPr>
          <a:xfrm>
            <a:off x="381000" y="2981325"/>
            <a:ext cx="790575" cy="457200"/>
          </a:xfrm>
          <a:prstGeom prst="rect">
            <a:avLst/>
          </a:prstGeom>
          <a:noFill/>
          <a:ln/>
        </p:spPr>
        <p:txBody>
          <a:bodyPr wrap="square" lIns="0" tIns="0" rIns="0" bIns="0" rtlCol="0" anchor="ctr"/>
          <a:lstStyle/>
          <a:p>
            <a:pPr>
              <a:lnSpc>
                <a:spcPct val="80000"/>
              </a:lnSpc>
            </a:pPr>
            <a:r>
              <a:rPr lang="en-US" sz="3600" b="1" dirty="0">
                <a:solidFill>
                  <a:srgbClr val="0071E3"/>
                </a:solidFill>
                <a:latin typeface="Liter" pitchFamily="34" charset="0"/>
                <a:ea typeface="Liter" pitchFamily="34" charset="-122"/>
                <a:cs typeface="Liter" pitchFamily="34" charset="-120"/>
              </a:rPr>
              <a:t>03</a:t>
            </a:r>
            <a:endParaRPr lang="en-US" sz="1600" dirty="0"/>
          </a:p>
        </p:txBody>
      </p:sp>
      <p:sp>
        <p:nvSpPr>
          <p:cNvPr id="11" name="Text 9"/>
          <p:cNvSpPr/>
          <p:nvPr/>
        </p:nvSpPr>
        <p:spPr>
          <a:xfrm>
            <a:off x="1171099" y="3057525"/>
            <a:ext cx="4733925" cy="304800"/>
          </a:xfrm>
          <a:prstGeom prst="rect">
            <a:avLst/>
          </a:prstGeom>
          <a:noFill/>
          <a:ln/>
        </p:spPr>
        <p:txBody>
          <a:bodyPr wrap="square" lIns="0" tIns="0" rIns="0" bIns="0" rtlCol="0" anchor="ctr"/>
          <a:lstStyle/>
          <a:p>
            <a:pPr>
              <a:lnSpc>
                <a:spcPct val="110000"/>
              </a:lnSpc>
            </a:pPr>
            <a:r>
              <a:rPr lang="en-US" sz="1800" b="1" dirty="0">
                <a:solidFill>
                  <a:srgbClr val="1D1D1D"/>
                </a:solidFill>
                <a:latin typeface="Liter" pitchFamily="34" charset="0"/>
                <a:ea typeface="Liter" pitchFamily="34" charset="-122"/>
                <a:cs typeface="Liter" pitchFamily="34" charset="-120"/>
              </a:rPr>
              <a:t>Architecture électronique</a:t>
            </a:r>
            <a:endParaRPr lang="en-US" sz="1600" dirty="0"/>
          </a:p>
        </p:txBody>
      </p:sp>
      <p:sp>
        <p:nvSpPr>
          <p:cNvPr id="12" name="Text 10"/>
          <p:cNvSpPr/>
          <p:nvPr/>
        </p:nvSpPr>
        <p:spPr>
          <a:xfrm>
            <a:off x="1171099" y="3438406"/>
            <a:ext cx="4695825" cy="247650"/>
          </a:xfrm>
          <a:prstGeom prst="rect">
            <a:avLst/>
          </a:prstGeom>
          <a:noFill/>
          <a:ln/>
        </p:spPr>
        <p:txBody>
          <a:bodyPr wrap="square" lIns="0" tIns="0" rIns="0" bIns="0" rtlCol="0" anchor="ctr"/>
          <a:lstStyle/>
          <a:p>
            <a:pPr>
              <a:lnSpc>
                <a:spcPct val="140000"/>
              </a:lnSpc>
            </a:pPr>
            <a:r>
              <a:rPr lang="en-US" sz="1200" dirty="0">
                <a:solidFill>
                  <a:srgbClr val="86868B"/>
                </a:solidFill>
                <a:latin typeface="Liter" pitchFamily="34" charset="0"/>
                <a:ea typeface="Liter" pitchFamily="34" charset="-122"/>
                <a:cs typeface="Liter" pitchFamily="34" charset="-120"/>
              </a:rPr>
              <a:t>Schéma complet des connexions et brochage GPIO</a:t>
            </a:r>
            <a:endParaRPr lang="en-US" sz="1600" dirty="0"/>
          </a:p>
        </p:txBody>
      </p:sp>
      <p:sp>
        <p:nvSpPr>
          <p:cNvPr id="13" name="Text 11"/>
          <p:cNvSpPr/>
          <p:nvPr/>
        </p:nvSpPr>
        <p:spPr>
          <a:xfrm>
            <a:off x="6400800" y="2981325"/>
            <a:ext cx="790575" cy="457200"/>
          </a:xfrm>
          <a:prstGeom prst="rect">
            <a:avLst/>
          </a:prstGeom>
          <a:noFill/>
          <a:ln/>
        </p:spPr>
        <p:txBody>
          <a:bodyPr wrap="square" lIns="0" tIns="0" rIns="0" bIns="0" rtlCol="0" anchor="ctr"/>
          <a:lstStyle/>
          <a:p>
            <a:pPr>
              <a:lnSpc>
                <a:spcPct val="80000"/>
              </a:lnSpc>
            </a:pPr>
            <a:r>
              <a:rPr lang="en-US" sz="3600" b="1" dirty="0">
                <a:solidFill>
                  <a:srgbClr val="0071E3"/>
                </a:solidFill>
                <a:latin typeface="Liter" pitchFamily="34" charset="0"/>
                <a:ea typeface="Liter" pitchFamily="34" charset="-122"/>
                <a:cs typeface="Liter" pitchFamily="34" charset="-120"/>
              </a:rPr>
              <a:t>04</a:t>
            </a:r>
            <a:endParaRPr lang="en-US" sz="1600" dirty="0"/>
          </a:p>
        </p:txBody>
      </p:sp>
      <p:sp>
        <p:nvSpPr>
          <p:cNvPr id="14" name="Text 12"/>
          <p:cNvSpPr/>
          <p:nvPr/>
        </p:nvSpPr>
        <p:spPr>
          <a:xfrm>
            <a:off x="7190423" y="3057525"/>
            <a:ext cx="4733925" cy="304800"/>
          </a:xfrm>
          <a:prstGeom prst="rect">
            <a:avLst/>
          </a:prstGeom>
          <a:noFill/>
          <a:ln/>
        </p:spPr>
        <p:txBody>
          <a:bodyPr wrap="square" lIns="0" tIns="0" rIns="0" bIns="0" rtlCol="0" anchor="ctr"/>
          <a:lstStyle/>
          <a:p>
            <a:pPr>
              <a:lnSpc>
                <a:spcPct val="110000"/>
              </a:lnSpc>
            </a:pPr>
            <a:r>
              <a:rPr lang="en-US" sz="1800" b="1" dirty="0">
                <a:solidFill>
                  <a:srgbClr val="1D1D1D"/>
                </a:solidFill>
                <a:latin typeface="Liter" pitchFamily="34" charset="0"/>
                <a:ea typeface="Liter" pitchFamily="34" charset="-122"/>
                <a:cs typeface="Liter" pitchFamily="34" charset="-120"/>
              </a:rPr>
              <a:t>Méthodologie de calibration</a:t>
            </a:r>
            <a:endParaRPr lang="en-US" sz="1600" dirty="0"/>
          </a:p>
        </p:txBody>
      </p:sp>
      <p:sp>
        <p:nvSpPr>
          <p:cNvPr id="15" name="Text 13"/>
          <p:cNvSpPr/>
          <p:nvPr/>
        </p:nvSpPr>
        <p:spPr>
          <a:xfrm>
            <a:off x="7190423" y="3438406"/>
            <a:ext cx="4695825" cy="247650"/>
          </a:xfrm>
          <a:prstGeom prst="rect">
            <a:avLst/>
          </a:prstGeom>
          <a:noFill/>
          <a:ln/>
        </p:spPr>
        <p:txBody>
          <a:bodyPr wrap="square" lIns="0" tIns="0" rIns="0" bIns="0" rtlCol="0" anchor="ctr"/>
          <a:lstStyle/>
          <a:p>
            <a:pPr>
              <a:lnSpc>
                <a:spcPct val="140000"/>
              </a:lnSpc>
            </a:pPr>
            <a:r>
              <a:rPr lang="en-US" sz="1200" dirty="0">
                <a:solidFill>
                  <a:srgbClr val="86868B"/>
                </a:solidFill>
                <a:latin typeface="Liter" pitchFamily="34" charset="0"/>
                <a:ea typeface="Liter" pitchFamily="34" charset="-122"/>
                <a:cs typeface="Liter" pitchFamily="34" charset="-120"/>
              </a:rPr>
              <a:t>Processus de calibration et calcul des seuils</a:t>
            </a:r>
            <a:endParaRPr lang="en-US" sz="1600" dirty="0"/>
          </a:p>
        </p:txBody>
      </p:sp>
      <p:sp>
        <p:nvSpPr>
          <p:cNvPr id="16" name="Text 14"/>
          <p:cNvSpPr/>
          <p:nvPr/>
        </p:nvSpPr>
        <p:spPr>
          <a:xfrm>
            <a:off x="381000" y="4248150"/>
            <a:ext cx="781050" cy="457200"/>
          </a:xfrm>
          <a:prstGeom prst="rect">
            <a:avLst/>
          </a:prstGeom>
          <a:noFill/>
          <a:ln/>
        </p:spPr>
        <p:txBody>
          <a:bodyPr wrap="square" lIns="0" tIns="0" rIns="0" bIns="0" rtlCol="0" anchor="ctr"/>
          <a:lstStyle/>
          <a:p>
            <a:pPr>
              <a:lnSpc>
                <a:spcPct val="80000"/>
              </a:lnSpc>
            </a:pPr>
            <a:r>
              <a:rPr lang="en-US" sz="3600" b="1" dirty="0">
                <a:solidFill>
                  <a:srgbClr val="0071E3"/>
                </a:solidFill>
                <a:latin typeface="Liter" pitchFamily="34" charset="0"/>
                <a:ea typeface="Liter" pitchFamily="34" charset="-122"/>
                <a:cs typeface="Liter" pitchFamily="34" charset="-120"/>
              </a:rPr>
              <a:t>05</a:t>
            </a:r>
            <a:endParaRPr lang="en-US" sz="1600" dirty="0"/>
          </a:p>
        </p:txBody>
      </p:sp>
      <p:sp>
        <p:nvSpPr>
          <p:cNvPr id="17" name="Text 15"/>
          <p:cNvSpPr/>
          <p:nvPr/>
        </p:nvSpPr>
        <p:spPr>
          <a:xfrm>
            <a:off x="1164669" y="4324350"/>
            <a:ext cx="4743450" cy="304800"/>
          </a:xfrm>
          <a:prstGeom prst="rect">
            <a:avLst/>
          </a:prstGeom>
          <a:noFill/>
          <a:ln/>
        </p:spPr>
        <p:txBody>
          <a:bodyPr wrap="square" lIns="0" tIns="0" rIns="0" bIns="0" rtlCol="0" anchor="ctr"/>
          <a:lstStyle/>
          <a:p>
            <a:pPr>
              <a:lnSpc>
                <a:spcPct val="110000"/>
              </a:lnSpc>
            </a:pPr>
            <a:r>
              <a:rPr lang="en-US" sz="1800" b="1" dirty="0">
                <a:solidFill>
                  <a:srgbClr val="1D1D1D"/>
                </a:solidFill>
                <a:latin typeface="Liter" pitchFamily="34" charset="0"/>
                <a:ea typeface="Liter" pitchFamily="34" charset="-122"/>
                <a:cs typeface="Liter" pitchFamily="34" charset="-120"/>
              </a:rPr>
              <a:t>Fonctionnement du système</a:t>
            </a:r>
            <a:endParaRPr lang="en-US" sz="1600" dirty="0"/>
          </a:p>
        </p:txBody>
      </p:sp>
      <p:sp>
        <p:nvSpPr>
          <p:cNvPr id="18" name="Text 16"/>
          <p:cNvSpPr/>
          <p:nvPr/>
        </p:nvSpPr>
        <p:spPr>
          <a:xfrm>
            <a:off x="1164669" y="4705231"/>
            <a:ext cx="4705350" cy="247650"/>
          </a:xfrm>
          <a:prstGeom prst="rect">
            <a:avLst/>
          </a:prstGeom>
          <a:noFill/>
          <a:ln/>
        </p:spPr>
        <p:txBody>
          <a:bodyPr wrap="square" lIns="0" tIns="0" rIns="0" bIns="0" rtlCol="0" anchor="ctr"/>
          <a:lstStyle/>
          <a:p>
            <a:pPr>
              <a:lnSpc>
                <a:spcPct val="140000"/>
              </a:lnSpc>
            </a:pPr>
            <a:r>
              <a:rPr lang="en-US" sz="1200" dirty="0">
                <a:solidFill>
                  <a:srgbClr val="86868B"/>
                </a:solidFill>
                <a:latin typeface="Liter" pitchFamily="34" charset="0"/>
                <a:ea typeface="Liter" pitchFamily="34" charset="-122"/>
                <a:cs typeface="Liter" pitchFamily="34" charset="-120"/>
              </a:rPr>
              <a:t>Boucle de mesure et gestion des états</a:t>
            </a:r>
            <a:endParaRPr lang="en-US" sz="1600" dirty="0"/>
          </a:p>
        </p:txBody>
      </p:sp>
      <p:sp>
        <p:nvSpPr>
          <p:cNvPr id="19" name="Text 17"/>
          <p:cNvSpPr/>
          <p:nvPr/>
        </p:nvSpPr>
        <p:spPr>
          <a:xfrm>
            <a:off x="6400800" y="4248150"/>
            <a:ext cx="790575" cy="457200"/>
          </a:xfrm>
          <a:prstGeom prst="rect">
            <a:avLst/>
          </a:prstGeom>
          <a:noFill/>
          <a:ln/>
        </p:spPr>
        <p:txBody>
          <a:bodyPr wrap="square" lIns="0" tIns="0" rIns="0" bIns="0" rtlCol="0" anchor="ctr"/>
          <a:lstStyle/>
          <a:p>
            <a:pPr>
              <a:lnSpc>
                <a:spcPct val="80000"/>
              </a:lnSpc>
            </a:pPr>
            <a:r>
              <a:rPr lang="en-US" sz="3600" b="1" dirty="0">
                <a:solidFill>
                  <a:srgbClr val="0071E3"/>
                </a:solidFill>
                <a:latin typeface="Liter" pitchFamily="34" charset="0"/>
                <a:ea typeface="Liter" pitchFamily="34" charset="-122"/>
                <a:cs typeface="Liter" pitchFamily="34" charset="-120"/>
              </a:rPr>
              <a:t>06</a:t>
            </a:r>
            <a:endParaRPr lang="en-US" sz="1600" dirty="0"/>
          </a:p>
        </p:txBody>
      </p:sp>
      <p:sp>
        <p:nvSpPr>
          <p:cNvPr id="20" name="Text 18"/>
          <p:cNvSpPr/>
          <p:nvPr/>
        </p:nvSpPr>
        <p:spPr>
          <a:xfrm>
            <a:off x="7194590" y="4324350"/>
            <a:ext cx="4733925" cy="304800"/>
          </a:xfrm>
          <a:prstGeom prst="rect">
            <a:avLst/>
          </a:prstGeom>
          <a:noFill/>
          <a:ln/>
        </p:spPr>
        <p:txBody>
          <a:bodyPr wrap="square" lIns="0" tIns="0" rIns="0" bIns="0" rtlCol="0" anchor="ctr"/>
          <a:lstStyle/>
          <a:p>
            <a:pPr>
              <a:lnSpc>
                <a:spcPct val="110000"/>
              </a:lnSpc>
            </a:pPr>
            <a:r>
              <a:rPr lang="en-US" sz="1800" b="1" dirty="0">
                <a:solidFill>
                  <a:srgbClr val="1D1D1D"/>
                </a:solidFill>
                <a:latin typeface="Liter" pitchFamily="34" charset="0"/>
                <a:ea typeface="Liter" pitchFamily="34" charset="-122"/>
                <a:cs typeface="Liter" pitchFamily="34" charset="-120"/>
              </a:rPr>
              <a:t>Tableau de bord web</a:t>
            </a:r>
            <a:endParaRPr lang="en-US" sz="1600" dirty="0"/>
          </a:p>
        </p:txBody>
      </p:sp>
      <p:sp>
        <p:nvSpPr>
          <p:cNvPr id="21" name="Text 19"/>
          <p:cNvSpPr/>
          <p:nvPr/>
        </p:nvSpPr>
        <p:spPr>
          <a:xfrm>
            <a:off x="7194590" y="4705231"/>
            <a:ext cx="4695825" cy="247650"/>
          </a:xfrm>
          <a:prstGeom prst="rect">
            <a:avLst/>
          </a:prstGeom>
          <a:noFill/>
          <a:ln/>
        </p:spPr>
        <p:txBody>
          <a:bodyPr wrap="square" lIns="0" tIns="0" rIns="0" bIns="0" rtlCol="0" anchor="ctr"/>
          <a:lstStyle/>
          <a:p>
            <a:pPr>
              <a:lnSpc>
                <a:spcPct val="140000"/>
              </a:lnSpc>
            </a:pPr>
            <a:r>
              <a:rPr lang="en-US" sz="1200" dirty="0">
                <a:solidFill>
                  <a:srgbClr val="86868B"/>
                </a:solidFill>
                <a:latin typeface="Liter" pitchFamily="34" charset="0"/>
                <a:ea typeface="Liter" pitchFamily="34" charset="-122"/>
                <a:cs typeface="Liter" pitchFamily="34" charset="-120"/>
              </a:rPr>
              <a:t>Interface de monitoring à distance via WiFi</a:t>
            </a:r>
            <a:endParaRPr lang="en-US" sz="1600" dirty="0"/>
          </a:p>
        </p:txBody>
      </p:sp>
      <p:sp>
        <p:nvSpPr>
          <p:cNvPr id="22" name="Text 20"/>
          <p:cNvSpPr/>
          <p:nvPr/>
        </p:nvSpPr>
        <p:spPr>
          <a:xfrm>
            <a:off x="381000" y="5514975"/>
            <a:ext cx="752475" cy="457200"/>
          </a:xfrm>
          <a:prstGeom prst="rect">
            <a:avLst/>
          </a:prstGeom>
          <a:noFill/>
          <a:ln/>
        </p:spPr>
        <p:txBody>
          <a:bodyPr wrap="square" lIns="0" tIns="0" rIns="0" bIns="0" rtlCol="0" anchor="ctr"/>
          <a:lstStyle/>
          <a:p>
            <a:pPr>
              <a:lnSpc>
                <a:spcPct val="80000"/>
              </a:lnSpc>
            </a:pPr>
            <a:r>
              <a:rPr lang="en-US" sz="3600" b="1" dirty="0">
                <a:solidFill>
                  <a:srgbClr val="0071E3"/>
                </a:solidFill>
                <a:latin typeface="Liter" pitchFamily="34" charset="0"/>
                <a:ea typeface="Liter" pitchFamily="34" charset="-122"/>
                <a:cs typeface="Liter" pitchFamily="34" charset="-120"/>
              </a:rPr>
              <a:t>07</a:t>
            </a:r>
            <a:endParaRPr lang="en-US" sz="1600" dirty="0"/>
          </a:p>
        </p:txBody>
      </p:sp>
      <p:sp>
        <p:nvSpPr>
          <p:cNvPr id="23" name="Text 21"/>
          <p:cNvSpPr/>
          <p:nvPr/>
        </p:nvSpPr>
        <p:spPr>
          <a:xfrm>
            <a:off x="1135380" y="5591175"/>
            <a:ext cx="4772025" cy="304800"/>
          </a:xfrm>
          <a:prstGeom prst="rect">
            <a:avLst/>
          </a:prstGeom>
          <a:noFill/>
          <a:ln/>
        </p:spPr>
        <p:txBody>
          <a:bodyPr wrap="square" lIns="0" tIns="0" rIns="0" bIns="0" rtlCol="0" anchor="ctr"/>
          <a:lstStyle/>
          <a:p>
            <a:pPr>
              <a:lnSpc>
                <a:spcPct val="110000"/>
              </a:lnSpc>
            </a:pPr>
            <a:r>
              <a:rPr lang="en-US" sz="1800" b="1" dirty="0">
                <a:solidFill>
                  <a:srgbClr val="1D1D1D"/>
                </a:solidFill>
                <a:latin typeface="Liter" pitchFamily="34" charset="0"/>
                <a:ea typeface="Liter" pitchFamily="34" charset="-122"/>
                <a:cs typeface="Liter" pitchFamily="34" charset="-120"/>
              </a:rPr>
              <a:t>Intégration Firebase</a:t>
            </a:r>
            <a:endParaRPr lang="en-US" sz="1600" dirty="0"/>
          </a:p>
        </p:txBody>
      </p:sp>
      <p:sp>
        <p:nvSpPr>
          <p:cNvPr id="24" name="Text 22"/>
          <p:cNvSpPr/>
          <p:nvPr/>
        </p:nvSpPr>
        <p:spPr>
          <a:xfrm>
            <a:off x="1135380" y="5972056"/>
            <a:ext cx="4733925" cy="247650"/>
          </a:xfrm>
          <a:prstGeom prst="rect">
            <a:avLst/>
          </a:prstGeom>
          <a:noFill/>
          <a:ln/>
        </p:spPr>
        <p:txBody>
          <a:bodyPr wrap="square" lIns="0" tIns="0" rIns="0" bIns="0" rtlCol="0" anchor="ctr"/>
          <a:lstStyle/>
          <a:p>
            <a:pPr>
              <a:lnSpc>
                <a:spcPct val="140000"/>
              </a:lnSpc>
            </a:pPr>
            <a:r>
              <a:rPr lang="en-US" sz="1200" dirty="0">
                <a:solidFill>
                  <a:srgbClr val="86868B"/>
                </a:solidFill>
                <a:latin typeface="Liter" pitchFamily="34" charset="0"/>
                <a:ea typeface="Liter" pitchFamily="34" charset="-122"/>
                <a:cs typeface="Liter" pitchFamily="34" charset="-120"/>
              </a:rPr>
              <a:t>Stockage cloud et synchronisation des données</a:t>
            </a:r>
            <a:endParaRPr lang="en-US" sz="1600" dirty="0"/>
          </a:p>
        </p:txBody>
      </p:sp>
      <p:sp>
        <p:nvSpPr>
          <p:cNvPr id="25" name="Text 23"/>
          <p:cNvSpPr/>
          <p:nvPr/>
        </p:nvSpPr>
        <p:spPr>
          <a:xfrm>
            <a:off x="6400800" y="5514975"/>
            <a:ext cx="800100" cy="457200"/>
          </a:xfrm>
          <a:prstGeom prst="rect">
            <a:avLst/>
          </a:prstGeom>
          <a:noFill/>
          <a:ln/>
        </p:spPr>
        <p:txBody>
          <a:bodyPr wrap="square" lIns="0" tIns="0" rIns="0" bIns="0" rtlCol="0" anchor="ctr"/>
          <a:lstStyle/>
          <a:p>
            <a:pPr>
              <a:lnSpc>
                <a:spcPct val="80000"/>
              </a:lnSpc>
            </a:pPr>
            <a:r>
              <a:rPr lang="en-US" sz="3600" b="1" dirty="0">
                <a:solidFill>
                  <a:srgbClr val="0071E3"/>
                </a:solidFill>
                <a:latin typeface="Liter" pitchFamily="34" charset="0"/>
                <a:ea typeface="Liter" pitchFamily="34" charset="-122"/>
                <a:cs typeface="Liter" pitchFamily="34" charset="-120"/>
              </a:rPr>
              <a:t>08</a:t>
            </a:r>
            <a:endParaRPr lang="en-US" sz="1600" dirty="0"/>
          </a:p>
        </p:txBody>
      </p:sp>
      <p:sp>
        <p:nvSpPr>
          <p:cNvPr id="26" name="Text 24"/>
          <p:cNvSpPr/>
          <p:nvPr/>
        </p:nvSpPr>
        <p:spPr>
          <a:xfrm>
            <a:off x="7201853" y="5591175"/>
            <a:ext cx="4724400" cy="304800"/>
          </a:xfrm>
          <a:prstGeom prst="rect">
            <a:avLst/>
          </a:prstGeom>
          <a:noFill/>
          <a:ln/>
        </p:spPr>
        <p:txBody>
          <a:bodyPr wrap="square" lIns="0" tIns="0" rIns="0" bIns="0" rtlCol="0" anchor="ctr"/>
          <a:lstStyle/>
          <a:p>
            <a:pPr>
              <a:lnSpc>
                <a:spcPct val="110000"/>
              </a:lnSpc>
            </a:pPr>
            <a:r>
              <a:rPr lang="en-US" sz="1800" b="1" dirty="0">
                <a:solidFill>
                  <a:srgbClr val="1D1D1D"/>
                </a:solidFill>
                <a:latin typeface="Liter" pitchFamily="34" charset="0"/>
                <a:ea typeface="Liter" pitchFamily="34" charset="-122"/>
                <a:cs typeface="Liter" pitchFamily="34" charset="-120"/>
              </a:rPr>
              <a:t>Démonstration et perspectives</a:t>
            </a:r>
            <a:endParaRPr lang="en-US" sz="1600" dirty="0"/>
          </a:p>
        </p:txBody>
      </p:sp>
      <p:sp>
        <p:nvSpPr>
          <p:cNvPr id="27" name="Text 25"/>
          <p:cNvSpPr/>
          <p:nvPr/>
        </p:nvSpPr>
        <p:spPr>
          <a:xfrm>
            <a:off x="7201853" y="5972056"/>
            <a:ext cx="4686300" cy="247650"/>
          </a:xfrm>
          <a:prstGeom prst="rect">
            <a:avLst/>
          </a:prstGeom>
          <a:noFill/>
          <a:ln/>
        </p:spPr>
        <p:txBody>
          <a:bodyPr wrap="square" lIns="0" tIns="0" rIns="0" bIns="0" rtlCol="0" anchor="ctr"/>
          <a:lstStyle/>
          <a:p>
            <a:pPr>
              <a:lnSpc>
                <a:spcPct val="140000"/>
              </a:lnSpc>
            </a:pPr>
            <a:r>
              <a:rPr lang="en-US" sz="1200" dirty="0">
                <a:solidFill>
                  <a:srgbClr val="86868B"/>
                </a:solidFill>
                <a:latin typeface="Liter" pitchFamily="34" charset="0"/>
                <a:ea typeface="Liter" pitchFamily="34" charset="-122"/>
                <a:cs typeface="Liter" pitchFamily="34" charset="-120"/>
              </a:rPr>
              <a:t>Scénarios de test et évolutions futures</a:t>
            </a:r>
            <a:endParaRPr lang="en-US" sz="16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381000" y="1079183"/>
            <a:ext cx="1875234" cy="1737360"/>
          </a:xfrm>
          <a:prstGeom prst="rect">
            <a:avLst/>
          </a:prstGeom>
          <a:noFill/>
          <a:ln/>
        </p:spPr>
        <p:txBody>
          <a:bodyPr wrap="square" lIns="0" tIns="0" rIns="0" bIns="0" rtlCol="0" anchor="ctr"/>
          <a:lstStyle/>
          <a:p>
            <a:pPr>
              <a:lnSpc>
                <a:spcPct val="80000"/>
              </a:lnSpc>
            </a:pPr>
            <a:r>
              <a:rPr lang="en-US" sz="9600" b="1" dirty="0">
                <a:solidFill>
                  <a:srgbClr val="0071E3"/>
                </a:solidFill>
                <a:latin typeface="Liter" pitchFamily="34" charset="0"/>
                <a:ea typeface="Liter" pitchFamily="34" charset="-122"/>
                <a:cs typeface="Liter" pitchFamily="34" charset="-120"/>
              </a:rPr>
              <a:t>01</a:t>
            </a:r>
            <a:endParaRPr lang="en-US" sz="1600" dirty="0"/>
          </a:p>
        </p:txBody>
      </p:sp>
      <p:sp>
        <p:nvSpPr>
          <p:cNvPr id="3" name="Text 1"/>
          <p:cNvSpPr/>
          <p:nvPr/>
        </p:nvSpPr>
        <p:spPr>
          <a:xfrm>
            <a:off x="381000" y="2862263"/>
            <a:ext cx="11772900" cy="1714500"/>
          </a:xfrm>
          <a:prstGeom prst="rect">
            <a:avLst/>
          </a:prstGeom>
          <a:noFill/>
          <a:ln/>
        </p:spPr>
        <p:txBody>
          <a:bodyPr wrap="square" lIns="0" tIns="0" rIns="0" bIns="0" rtlCol="0" anchor="ctr"/>
          <a:lstStyle/>
          <a:p>
            <a:pPr>
              <a:lnSpc>
                <a:spcPct val="100000"/>
              </a:lnSpc>
            </a:pPr>
            <a:r>
              <a:rPr lang="en-US" sz="5400" b="1" dirty="0">
                <a:solidFill>
                  <a:srgbClr val="1D1D1D"/>
                </a:solidFill>
                <a:latin typeface="Liter" pitchFamily="34" charset="0"/>
                <a:ea typeface="Liter" pitchFamily="34" charset="-122"/>
                <a:cs typeface="Liter" pitchFamily="34" charset="-120"/>
              </a:rPr>
              <a:t>Vue d'ensemble</a:t>
            </a:r>
            <a:endParaRPr lang="en-US" sz="1600" dirty="0"/>
          </a:p>
          <a:p>
            <a:pPr>
              <a:lnSpc>
                <a:spcPct val="100000"/>
              </a:lnSpc>
            </a:pPr>
            <a:r>
              <a:rPr lang="en-US" sz="5400" b="1" dirty="0">
                <a:solidFill>
                  <a:srgbClr val="1D1D1D"/>
                </a:solidFill>
                <a:latin typeface="Liter" pitchFamily="34" charset="0"/>
                <a:ea typeface="Liter" pitchFamily="34" charset="-122"/>
                <a:cs typeface="Liter" pitchFamily="34" charset="-120"/>
              </a:rPr>
              <a:t>du projet</a:t>
            </a:r>
            <a:endParaRPr lang="en-US" sz="1600" dirty="0"/>
          </a:p>
        </p:txBody>
      </p:sp>
      <p:sp>
        <p:nvSpPr>
          <p:cNvPr id="4" name="Shape 2"/>
          <p:cNvSpPr/>
          <p:nvPr/>
        </p:nvSpPr>
        <p:spPr>
          <a:xfrm>
            <a:off x="381000" y="4805363"/>
            <a:ext cx="1219200" cy="38100"/>
          </a:xfrm>
          <a:custGeom>
            <a:avLst/>
            <a:gdLst/>
            <a:ahLst/>
            <a:cxnLst/>
            <a:rect l="l" t="t" r="r" b="b"/>
            <a:pathLst>
              <a:path w="1219200" h="38100">
                <a:moveTo>
                  <a:pt x="0" y="0"/>
                </a:moveTo>
                <a:lnTo>
                  <a:pt x="1219200" y="0"/>
                </a:lnTo>
                <a:lnTo>
                  <a:pt x="1219200" y="38100"/>
                </a:lnTo>
                <a:lnTo>
                  <a:pt x="0" y="38100"/>
                </a:lnTo>
                <a:lnTo>
                  <a:pt x="0" y="0"/>
                </a:lnTo>
                <a:close/>
              </a:path>
            </a:pathLst>
          </a:custGeom>
          <a:solidFill>
            <a:srgbClr val="0071E3"/>
          </a:solidFill>
          <a:ln/>
        </p:spPr>
      </p:sp>
      <p:sp>
        <p:nvSpPr>
          <p:cNvPr id="5" name="Text 3"/>
          <p:cNvSpPr/>
          <p:nvPr/>
        </p:nvSpPr>
        <p:spPr>
          <a:xfrm>
            <a:off x="381000" y="5148263"/>
            <a:ext cx="7429500" cy="371475"/>
          </a:xfrm>
          <a:prstGeom prst="rect">
            <a:avLst/>
          </a:prstGeom>
          <a:noFill/>
          <a:ln/>
        </p:spPr>
        <p:txBody>
          <a:bodyPr wrap="square" lIns="0" tIns="0" rIns="0" bIns="0" rtlCol="0" anchor="ctr"/>
          <a:lstStyle/>
          <a:p>
            <a:pPr>
              <a:lnSpc>
                <a:spcPct val="140000"/>
              </a:lnSpc>
            </a:pPr>
            <a:r>
              <a:rPr lang="en-US" sz="1800" dirty="0">
                <a:solidFill>
                  <a:srgbClr val="86868B"/>
                </a:solidFill>
                <a:latin typeface="Liter" pitchFamily="34" charset="0"/>
                <a:ea typeface="Liter" pitchFamily="34" charset="-122"/>
                <a:cs typeface="Liter" pitchFamily="34" charset="-120"/>
              </a:rPr>
              <a:t>Objectifs et fonctionnalités principales du système de surveillance</a:t>
            </a:r>
            <a:endParaRPr lang="en-US" sz="16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kern="0" spc="105" dirty="0">
                <a:solidFill>
                  <a:srgbClr val="86868B"/>
                </a:solidFill>
                <a:latin typeface="Liter" pitchFamily="34" charset="0"/>
                <a:ea typeface="Liter" pitchFamily="34" charset="-122"/>
                <a:cs typeface="Liter" pitchFamily="34" charset="-120"/>
              </a:rPr>
              <a:t>01 / VUE D'ENSEMBLE</a:t>
            </a:r>
            <a:endParaRPr lang="en-US" sz="1600" dirty="0"/>
          </a:p>
        </p:txBody>
      </p:sp>
      <p:sp>
        <p:nvSpPr>
          <p:cNvPr id="3" name="Text 1"/>
          <p:cNvSpPr/>
          <p:nvPr/>
        </p:nvSpPr>
        <p:spPr>
          <a:xfrm>
            <a:off x="381000" y="685800"/>
            <a:ext cx="11658600" cy="457200"/>
          </a:xfrm>
          <a:prstGeom prst="rect">
            <a:avLst/>
          </a:prstGeom>
          <a:noFill/>
          <a:ln/>
        </p:spPr>
        <p:txBody>
          <a:bodyPr wrap="square" lIns="0" tIns="0" rIns="0" bIns="0" rtlCol="0" anchor="ctr"/>
          <a:lstStyle/>
          <a:p>
            <a:pPr>
              <a:lnSpc>
                <a:spcPct val="80000"/>
              </a:lnSpc>
            </a:pPr>
            <a:r>
              <a:rPr lang="en-US" sz="3600" b="1" dirty="0">
                <a:solidFill>
                  <a:srgbClr val="1D1D1D"/>
                </a:solidFill>
                <a:latin typeface="Liter" pitchFamily="34" charset="0"/>
                <a:ea typeface="Liter" pitchFamily="34" charset="-122"/>
                <a:cs typeface="Liter" pitchFamily="34" charset="-120"/>
              </a:rPr>
              <a:t>Présentation du projet Lake Level</a:t>
            </a:r>
            <a:endParaRPr lang="en-US" sz="1600" dirty="0"/>
          </a:p>
        </p:txBody>
      </p:sp>
      <p:sp>
        <p:nvSpPr>
          <p:cNvPr id="4" name="Text 2"/>
          <p:cNvSpPr/>
          <p:nvPr/>
        </p:nvSpPr>
        <p:spPr>
          <a:xfrm>
            <a:off x="381000" y="2336006"/>
            <a:ext cx="6848475" cy="342900"/>
          </a:xfrm>
          <a:prstGeom prst="rect">
            <a:avLst/>
          </a:prstGeom>
          <a:noFill/>
          <a:ln/>
        </p:spPr>
        <p:txBody>
          <a:bodyPr wrap="square" lIns="0" tIns="0" rIns="0" bIns="0" rtlCol="0" anchor="ctr"/>
          <a:lstStyle/>
          <a:p>
            <a:pPr>
              <a:lnSpc>
                <a:spcPct val="100000"/>
              </a:lnSpc>
            </a:pPr>
            <a:r>
              <a:rPr lang="en-US" sz="2250" b="1" dirty="0">
                <a:solidFill>
                  <a:srgbClr val="1D1D1D"/>
                </a:solidFill>
                <a:latin typeface="Liter" pitchFamily="34" charset="0"/>
                <a:ea typeface="Liter" pitchFamily="34" charset="-122"/>
                <a:cs typeface="Liter" pitchFamily="34" charset="-120"/>
              </a:rPr>
              <a:t>Objectif principal</a:t>
            </a:r>
            <a:endParaRPr lang="en-US" sz="1600" dirty="0"/>
          </a:p>
        </p:txBody>
      </p:sp>
      <p:sp>
        <p:nvSpPr>
          <p:cNvPr id="5" name="Text 3"/>
          <p:cNvSpPr/>
          <p:nvPr/>
        </p:nvSpPr>
        <p:spPr>
          <a:xfrm>
            <a:off x="381000" y="2831306"/>
            <a:ext cx="6800850" cy="933450"/>
          </a:xfrm>
          <a:prstGeom prst="rect">
            <a:avLst/>
          </a:prstGeom>
          <a:noFill/>
          <a:ln/>
        </p:spPr>
        <p:txBody>
          <a:bodyPr wrap="square" lIns="0" tIns="0" rIns="0" bIns="0" rtlCol="0" anchor="ctr"/>
          <a:lstStyle/>
          <a:p>
            <a:pPr>
              <a:lnSpc>
                <a:spcPct val="140000"/>
              </a:lnSpc>
            </a:pPr>
            <a:r>
              <a:rPr lang="en-US" sz="1500" dirty="0">
                <a:solidFill>
                  <a:srgbClr val="86868B"/>
                </a:solidFill>
                <a:latin typeface="Liter" pitchFamily="34" charset="0"/>
                <a:ea typeface="Liter" pitchFamily="34" charset="-122"/>
                <a:cs typeface="Liter" pitchFamily="34" charset="-120"/>
              </a:rPr>
              <a:t>Surveillance en temps réel du niveau d'eau d'un lac, réservoir ou tout autre contenant. Le système détecte automatiquement les seuils critiques et alerte les utilisateurs via des indicateurs visuels et sonores.</a:t>
            </a:r>
            <a:endParaRPr lang="en-US" sz="1600" dirty="0"/>
          </a:p>
        </p:txBody>
      </p:sp>
      <p:sp>
        <p:nvSpPr>
          <p:cNvPr id="6" name="Text 4"/>
          <p:cNvSpPr/>
          <p:nvPr/>
        </p:nvSpPr>
        <p:spPr>
          <a:xfrm>
            <a:off x="381000" y="4140994"/>
            <a:ext cx="6848475" cy="342900"/>
          </a:xfrm>
          <a:prstGeom prst="rect">
            <a:avLst/>
          </a:prstGeom>
          <a:noFill/>
          <a:ln/>
        </p:spPr>
        <p:txBody>
          <a:bodyPr wrap="square" lIns="0" tIns="0" rIns="0" bIns="0" rtlCol="0" anchor="ctr"/>
          <a:lstStyle/>
          <a:p>
            <a:pPr>
              <a:lnSpc>
                <a:spcPct val="100000"/>
              </a:lnSpc>
            </a:pPr>
            <a:r>
              <a:rPr lang="en-US" sz="2250" b="1" dirty="0">
                <a:solidFill>
                  <a:srgbClr val="1D1D1D"/>
                </a:solidFill>
                <a:latin typeface="Liter" pitchFamily="34" charset="0"/>
                <a:ea typeface="Liter" pitchFamily="34" charset="-122"/>
                <a:cs typeface="Liter" pitchFamily="34" charset="-120"/>
              </a:rPr>
              <a:t>Contexte d'utilisation</a:t>
            </a:r>
            <a:endParaRPr lang="en-US" sz="1600" dirty="0"/>
          </a:p>
        </p:txBody>
      </p:sp>
      <p:sp>
        <p:nvSpPr>
          <p:cNvPr id="7" name="Shape 5"/>
          <p:cNvSpPr/>
          <p:nvPr/>
        </p:nvSpPr>
        <p:spPr>
          <a:xfrm>
            <a:off x="381000" y="4731544"/>
            <a:ext cx="76200" cy="76200"/>
          </a:xfrm>
          <a:custGeom>
            <a:avLst/>
            <a:gdLst/>
            <a:ahLst/>
            <a:cxnLst/>
            <a:rect l="l" t="t" r="r" b="b"/>
            <a:pathLst>
              <a:path w="76200" h="76200">
                <a:moveTo>
                  <a:pt x="38100" y="0"/>
                </a:moveTo>
                <a:lnTo>
                  <a:pt x="38100" y="0"/>
                </a:lnTo>
                <a:cubicBezTo>
                  <a:pt x="59128" y="0"/>
                  <a:pt x="76200" y="17072"/>
                  <a:pt x="76200" y="38100"/>
                </a:cubicBezTo>
                <a:lnTo>
                  <a:pt x="76200" y="38100"/>
                </a:lnTo>
                <a:cubicBezTo>
                  <a:pt x="76200" y="59128"/>
                  <a:pt x="59128" y="76200"/>
                  <a:pt x="38100" y="76200"/>
                </a:cubicBezTo>
                <a:lnTo>
                  <a:pt x="38100" y="76200"/>
                </a:lnTo>
                <a:cubicBezTo>
                  <a:pt x="17072" y="76200"/>
                  <a:pt x="0" y="59128"/>
                  <a:pt x="0" y="38100"/>
                </a:cubicBezTo>
                <a:lnTo>
                  <a:pt x="0" y="38100"/>
                </a:lnTo>
                <a:cubicBezTo>
                  <a:pt x="0" y="17072"/>
                  <a:pt x="17072" y="0"/>
                  <a:pt x="38100" y="0"/>
                </a:cubicBezTo>
                <a:close/>
              </a:path>
            </a:pathLst>
          </a:custGeom>
          <a:solidFill>
            <a:srgbClr val="0071E3"/>
          </a:solidFill>
          <a:ln/>
        </p:spPr>
      </p:sp>
      <p:sp>
        <p:nvSpPr>
          <p:cNvPr id="8" name="Text 6"/>
          <p:cNvSpPr/>
          <p:nvPr/>
        </p:nvSpPr>
        <p:spPr>
          <a:xfrm>
            <a:off x="609600" y="4636294"/>
            <a:ext cx="3448050" cy="266700"/>
          </a:xfrm>
          <a:prstGeom prst="rect">
            <a:avLst/>
          </a:prstGeom>
          <a:noFill/>
          <a:ln/>
        </p:spPr>
        <p:txBody>
          <a:bodyPr wrap="square" lIns="0" tIns="0" rIns="0" bIns="0" rtlCol="0" anchor="ctr"/>
          <a:lstStyle/>
          <a:p>
            <a:pPr>
              <a:lnSpc>
                <a:spcPct val="130000"/>
              </a:lnSpc>
            </a:pPr>
            <a:r>
              <a:rPr lang="en-US" sz="1350" dirty="0">
                <a:solidFill>
                  <a:srgbClr val="86868B"/>
                </a:solidFill>
                <a:latin typeface="Liter" pitchFamily="34" charset="0"/>
                <a:ea typeface="Liter" pitchFamily="34" charset="-122"/>
                <a:cs typeface="Liter" pitchFamily="34" charset="-120"/>
              </a:rPr>
              <a:t>Prévention des inondations et débordements</a:t>
            </a:r>
            <a:endParaRPr lang="en-US" sz="1600" dirty="0"/>
          </a:p>
        </p:txBody>
      </p:sp>
      <p:sp>
        <p:nvSpPr>
          <p:cNvPr id="9" name="Shape 7"/>
          <p:cNvSpPr/>
          <p:nvPr/>
        </p:nvSpPr>
        <p:spPr>
          <a:xfrm>
            <a:off x="381000" y="5112544"/>
            <a:ext cx="76200" cy="76200"/>
          </a:xfrm>
          <a:custGeom>
            <a:avLst/>
            <a:gdLst/>
            <a:ahLst/>
            <a:cxnLst/>
            <a:rect l="l" t="t" r="r" b="b"/>
            <a:pathLst>
              <a:path w="76200" h="76200">
                <a:moveTo>
                  <a:pt x="38100" y="0"/>
                </a:moveTo>
                <a:lnTo>
                  <a:pt x="38100" y="0"/>
                </a:lnTo>
                <a:cubicBezTo>
                  <a:pt x="59128" y="0"/>
                  <a:pt x="76200" y="17072"/>
                  <a:pt x="76200" y="38100"/>
                </a:cubicBezTo>
                <a:lnTo>
                  <a:pt x="76200" y="38100"/>
                </a:lnTo>
                <a:cubicBezTo>
                  <a:pt x="76200" y="59128"/>
                  <a:pt x="59128" y="76200"/>
                  <a:pt x="38100" y="76200"/>
                </a:cubicBezTo>
                <a:lnTo>
                  <a:pt x="38100" y="76200"/>
                </a:lnTo>
                <a:cubicBezTo>
                  <a:pt x="17072" y="76200"/>
                  <a:pt x="0" y="59128"/>
                  <a:pt x="0" y="38100"/>
                </a:cubicBezTo>
                <a:lnTo>
                  <a:pt x="0" y="38100"/>
                </a:lnTo>
                <a:cubicBezTo>
                  <a:pt x="0" y="17072"/>
                  <a:pt x="17072" y="0"/>
                  <a:pt x="38100" y="0"/>
                </a:cubicBezTo>
                <a:close/>
              </a:path>
            </a:pathLst>
          </a:custGeom>
          <a:solidFill>
            <a:srgbClr val="0071E3"/>
          </a:solidFill>
          <a:ln/>
        </p:spPr>
      </p:sp>
      <p:sp>
        <p:nvSpPr>
          <p:cNvPr id="10" name="Text 8"/>
          <p:cNvSpPr/>
          <p:nvPr/>
        </p:nvSpPr>
        <p:spPr>
          <a:xfrm>
            <a:off x="609600" y="5017294"/>
            <a:ext cx="3152775" cy="266700"/>
          </a:xfrm>
          <a:prstGeom prst="rect">
            <a:avLst/>
          </a:prstGeom>
          <a:noFill/>
          <a:ln/>
        </p:spPr>
        <p:txBody>
          <a:bodyPr wrap="square" lIns="0" tIns="0" rIns="0" bIns="0" rtlCol="0" anchor="ctr"/>
          <a:lstStyle/>
          <a:p>
            <a:pPr>
              <a:lnSpc>
                <a:spcPct val="130000"/>
              </a:lnSpc>
            </a:pPr>
            <a:r>
              <a:rPr lang="en-US" sz="1350" dirty="0">
                <a:solidFill>
                  <a:srgbClr val="86868B"/>
                </a:solidFill>
                <a:latin typeface="Liter" pitchFamily="34" charset="0"/>
                <a:ea typeface="Liter" pitchFamily="34" charset="-122"/>
                <a:cs typeface="Liter" pitchFamily="34" charset="-120"/>
              </a:rPr>
              <a:t>Gestion optimisée des ressources en eau</a:t>
            </a:r>
            <a:endParaRPr lang="en-US" sz="1600" dirty="0"/>
          </a:p>
        </p:txBody>
      </p:sp>
      <p:sp>
        <p:nvSpPr>
          <p:cNvPr id="11" name="Shape 9"/>
          <p:cNvSpPr/>
          <p:nvPr/>
        </p:nvSpPr>
        <p:spPr>
          <a:xfrm>
            <a:off x="381000" y="5493544"/>
            <a:ext cx="76200" cy="76200"/>
          </a:xfrm>
          <a:custGeom>
            <a:avLst/>
            <a:gdLst/>
            <a:ahLst/>
            <a:cxnLst/>
            <a:rect l="l" t="t" r="r" b="b"/>
            <a:pathLst>
              <a:path w="76200" h="76200">
                <a:moveTo>
                  <a:pt x="38100" y="0"/>
                </a:moveTo>
                <a:lnTo>
                  <a:pt x="38100" y="0"/>
                </a:lnTo>
                <a:cubicBezTo>
                  <a:pt x="59128" y="0"/>
                  <a:pt x="76200" y="17072"/>
                  <a:pt x="76200" y="38100"/>
                </a:cubicBezTo>
                <a:lnTo>
                  <a:pt x="76200" y="38100"/>
                </a:lnTo>
                <a:cubicBezTo>
                  <a:pt x="76200" y="59128"/>
                  <a:pt x="59128" y="76200"/>
                  <a:pt x="38100" y="76200"/>
                </a:cubicBezTo>
                <a:lnTo>
                  <a:pt x="38100" y="76200"/>
                </a:lnTo>
                <a:cubicBezTo>
                  <a:pt x="17072" y="76200"/>
                  <a:pt x="0" y="59128"/>
                  <a:pt x="0" y="38100"/>
                </a:cubicBezTo>
                <a:lnTo>
                  <a:pt x="0" y="38100"/>
                </a:lnTo>
                <a:cubicBezTo>
                  <a:pt x="0" y="17072"/>
                  <a:pt x="17072" y="0"/>
                  <a:pt x="38100" y="0"/>
                </a:cubicBezTo>
                <a:close/>
              </a:path>
            </a:pathLst>
          </a:custGeom>
          <a:solidFill>
            <a:srgbClr val="0071E3"/>
          </a:solidFill>
          <a:ln/>
        </p:spPr>
      </p:sp>
      <p:sp>
        <p:nvSpPr>
          <p:cNvPr id="12" name="Text 10"/>
          <p:cNvSpPr/>
          <p:nvPr/>
        </p:nvSpPr>
        <p:spPr>
          <a:xfrm>
            <a:off x="609600" y="5398294"/>
            <a:ext cx="2476500" cy="266700"/>
          </a:xfrm>
          <a:prstGeom prst="rect">
            <a:avLst/>
          </a:prstGeom>
          <a:noFill/>
          <a:ln/>
        </p:spPr>
        <p:txBody>
          <a:bodyPr wrap="square" lIns="0" tIns="0" rIns="0" bIns="0" rtlCol="0" anchor="ctr"/>
          <a:lstStyle/>
          <a:p>
            <a:pPr>
              <a:lnSpc>
                <a:spcPct val="130000"/>
              </a:lnSpc>
            </a:pPr>
            <a:r>
              <a:rPr lang="en-US" sz="1350" dirty="0">
                <a:solidFill>
                  <a:srgbClr val="86868B"/>
                </a:solidFill>
                <a:latin typeface="Liter" pitchFamily="34" charset="0"/>
                <a:ea typeface="Liter" pitchFamily="34" charset="-122"/>
                <a:cs typeface="Liter" pitchFamily="34" charset="-120"/>
              </a:rPr>
              <a:t>Monitoring industriel et agricole</a:t>
            </a:r>
            <a:endParaRPr lang="en-US" sz="1600" dirty="0"/>
          </a:p>
        </p:txBody>
      </p:sp>
      <p:pic>
        <p:nvPicPr>
          <p:cNvPr id="13" name="Image 0" descr="https://kimi-web-img.moonshot.cn/img/media.gettyimages.com/560a8086a00f879bf3bce70d7c6938aba3ba5acd.jpg"/>
          <p:cNvPicPr>
            <a:picLocks noChangeAspect="1"/>
          </p:cNvPicPr>
          <p:nvPr/>
        </p:nvPicPr>
        <p:blipFill>
          <a:blip r:embed="rId3"/>
          <a:srcRect l="20769" r="20769"/>
          <a:stretch/>
        </p:blipFill>
        <p:spPr>
          <a:xfrm>
            <a:off x="7467600" y="1524000"/>
            <a:ext cx="4343400" cy="4953000"/>
          </a:xfrm>
          <a:prstGeom prst="roundRect">
            <a:avLst>
              <a:gd name="adj" fmla="val 3509"/>
            </a:avLst>
          </a:prstGeom>
        </p:spPr>
      </p:pic>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kern="0" spc="105" dirty="0">
                <a:solidFill>
                  <a:srgbClr val="86868B"/>
                </a:solidFill>
                <a:latin typeface="Liter" pitchFamily="34" charset="0"/>
                <a:ea typeface="Liter" pitchFamily="34" charset="-122"/>
                <a:cs typeface="Liter" pitchFamily="34" charset="-120"/>
              </a:rPr>
              <a:t>01 / FONCTIONNALITÉS</a:t>
            </a:r>
            <a:endParaRPr lang="en-US" sz="1600" dirty="0"/>
          </a:p>
        </p:txBody>
      </p:sp>
      <p:sp>
        <p:nvSpPr>
          <p:cNvPr id="3" name="Text 1"/>
          <p:cNvSpPr/>
          <p:nvPr/>
        </p:nvSpPr>
        <p:spPr>
          <a:xfrm>
            <a:off x="381000" y="685800"/>
            <a:ext cx="11658600" cy="457200"/>
          </a:xfrm>
          <a:prstGeom prst="rect">
            <a:avLst/>
          </a:prstGeom>
          <a:noFill/>
          <a:ln/>
        </p:spPr>
        <p:txBody>
          <a:bodyPr wrap="square" lIns="0" tIns="0" rIns="0" bIns="0" rtlCol="0" anchor="ctr"/>
          <a:lstStyle/>
          <a:p>
            <a:pPr>
              <a:lnSpc>
                <a:spcPct val="80000"/>
              </a:lnSpc>
            </a:pPr>
            <a:r>
              <a:rPr lang="en-US" sz="3600" b="1" dirty="0">
                <a:solidFill>
                  <a:srgbClr val="1D1D1D"/>
                </a:solidFill>
                <a:latin typeface="Liter" pitchFamily="34" charset="0"/>
                <a:ea typeface="Liter" pitchFamily="34" charset="-122"/>
                <a:cs typeface="Liter" pitchFamily="34" charset="-120"/>
              </a:rPr>
              <a:t>Fonctionnalités clés du système</a:t>
            </a:r>
            <a:endParaRPr lang="en-US" sz="1600" dirty="0"/>
          </a:p>
        </p:txBody>
      </p:sp>
      <p:sp>
        <p:nvSpPr>
          <p:cNvPr id="4" name="Shape 2"/>
          <p:cNvSpPr/>
          <p:nvPr/>
        </p:nvSpPr>
        <p:spPr>
          <a:xfrm>
            <a:off x="381000" y="1447800"/>
            <a:ext cx="533400" cy="533400"/>
          </a:xfrm>
          <a:custGeom>
            <a:avLst/>
            <a:gdLst/>
            <a:ahLst/>
            <a:cxnLst/>
            <a:rect l="l" t="t" r="r" b="b"/>
            <a:pathLst>
              <a:path w="533400" h="533400">
                <a:moveTo>
                  <a:pt x="152398" y="0"/>
                </a:moveTo>
                <a:lnTo>
                  <a:pt x="381002" y="0"/>
                </a:lnTo>
                <a:cubicBezTo>
                  <a:pt x="465113" y="0"/>
                  <a:pt x="533400" y="68287"/>
                  <a:pt x="533400" y="152398"/>
                </a:cubicBezTo>
                <a:lnTo>
                  <a:pt x="533400" y="381002"/>
                </a:lnTo>
                <a:cubicBezTo>
                  <a:pt x="533400" y="465113"/>
                  <a:pt x="465113" y="533400"/>
                  <a:pt x="381002" y="533400"/>
                </a:cubicBezTo>
                <a:lnTo>
                  <a:pt x="152398" y="533400"/>
                </a:lnTo>
                <a:cubicBezTo>
                  <a:pt x="68287" y="533400"/>
                  <a:pt x="0" y="465113"/>
                  <a:pt x="0" y="381002"/>
                </a:cubicBezTo>
                <a:lnTo>
                  <a:pt x="0" y="152398"/>
                </a:lnTo>
                <a:cubicBezTo>
                  <a:pt x="0" y="68287"/>
                  <a:pt x="68287" y="0"/>
                  <a:pt x="152398" y="0"/>
                </a:cubicBezTo>
                <a:close/>
              </a:path>
            </a:pathLst>
          </a:custGeom>
          <a:solidFill>
            <a:srgbClr val="0071E3">
              <a:alpha val="10196"/>
            </a:srgbClr>
          </a:solidFill>
          <a:ln/>
        </p:spPr>
      </p:sp>
      <p:sp>
        <p:nvSpPr>
          <p:cNvPr id="5" name="Shape 3"/>
          <p:cNvSpPr/>
          <p:nvPr/>
        </p:nvSpPr>
        <p:spPr>
          <a:xfrm>
            <a:off x="590550" y="1600200"/>
            <a:ext cx="114300" cy="228600"/>
          </a:xfrm>
          <a:custGeom>
            <a:avLst/>
            <a:gdLst/>
            <a:ahLst/>
            <a:cxnLst/>
            <a:rect l="l" t="t" r="r" b="b"/>
            <a:pathLst>
              <a:path w="114300" h="228600">
                <a:moveTo>
                  <a:pt x="0" y="7144"/>
                </a:moveTo>
                <a:cubicBezTo>
                  <a:pt x="0" y="-4688"/>
                  <a:pt x="9599" y="-14287"/>
                  <a:pt x="21431" y="-14287"/>
                </a:cubicBezTo>
                <a:lnTo>
                  <a:pt x="92869" y="-14287"/>
                </a:lnTo>
                <a:cubicBezTo>
                  <a:pt x="104701" y="-14287"/>
                  <a:pt x="114300" y="-4688"/>
                  <a:pt x="114300" y="7144"/>
                </a:cubicBezTo>
                <a:lnTo>
                  <a:pt x="114300" y="17859"/>
                </a:lnTo>
                <a:lnTo>
                  <a:pt x="67866" y="17859"/>
                </a:lnTo>
                <a:cubicBezTo>
                  <a:pt x="61927" y="17859"/>
                  <a:pt x="57150" y="22637"/>
                  <a:pt x="57150" y="28575"/>
                </a:cubicBezTo>
                <a:cubicBezTo>
                  <a:pt x="57150" y="34513"/>
                  <a:pt x="61927" y="39291"/>
                  <a:pt x="67866" y="39291"/>
                </a:cubicBezTo>
                <a:lnTo>
                  <a:pt x="114300" y="39291"/>
                </a:lnTo>
                <a:lnTo>
                  <a:pt x="114300" y="60722"/>
                </a:lnTo>
                <a:lnTo>
                  <a:pt x="82153" y="60722"/>
                </a:lnTo>
                <a:cubicBezTo>
                  <a:pt x="76215" y="60722"/>
                  <a:pt x="71438" y="65499"/>
                  <a:pt x="71438" y="71438"/>
                </a:cubicBezTo>
                <a:cubicBezTo>
                  <a:pt x="71438" y="77376"/>
                  <a:pt x="76215" y="82153"/>
                  <a:pt x="82153" y="82153"/>
                </a:cubicBezTo>
                <a:lnTo>
                  <a:pt x="114300" y="82153"/>
                </a:lnTo>
                <a:lnTo>
                  <a:pt x="114300" y="103584"/>
                </a:lnTo>
                <a:lnTo>
                  <a:pt x="67866" y="103584"/>
                </a:lnTo>
                <a:cubicBezTo>
                  <a:pt x="61927" y="103584"/>
                  <a:pt x="57150" y="108362"/>
                  <a:pt x="57150" y="114300"/>
                </a:cubicBezTo>
                <a:cubicBezTo>
                  <a:pt x="57150" y="120238"/>
                  <a:pt x="61927" y="125016"/>
                  <a:pt x="67866" y="125016"/>
                </a:cubicBezTo>
                <a:lnTo>
                  <a:pt x="114300" y="125016"/>
                </a:lnTo>
                <a:lnTo>
                  <a:pt x="114300" y="146447"/>
                </a:lnTo>
                <a:lnTo>
                  <a:pt x="82153" y="146447"/>
                </a:lnTo>
                <a:cubicBezTo>
                  <a:pt x="76215" y="146447"/>
                  <a:pt x="71438" y="151224"/>
                  <a:pt x="71438" y="157163"/>
                </a:cubicBezTo>
                <a:cubicBezTo>
                  <a:pt x="71438" y="163101"/>
                  <a:pt x="76215" y="167878"/>
                  <a:pt x="82153" y="167878"/>
                </a:cubicBezTo>
                <a:lnTo>
                  <a:pt x="114300" y="167878"/>
                </a:lnTo>
                <a:lnTo>
                  <a:pt x="114300" y="189309"/>
                </a:lnTo>
                <a:lnTo>
                  <a:pt x="67866" y="189309"/>
                </a:lnTo>
                <a:cubicBezTo>
                  <a:pt x="61927" y="189309"/>
                  <a:pt x="57150" y="194087"/>
                  <a:pt x="57150" y="200025"/>
                </a:cubicBezTo>
                <a:cubicBezTo>
                  <a:pt x="57150" y="205963"/>
                  <a:pt x="61927" y="210741"/>
                  <a:pt x="67866" y="210741"/>
                </a:cubicBezTo>
                <a:lnTo>
                  <a:pt x="114300" y="210741"/>
                </a:lnTo>
                <a:lnTo>
                  <a:pt x="114300" y="221456"/>
                </a:lnTo>
                <a:cubicBezTo>
                  <a:pt x="114300" y="233288"/>
                  <a:pt x="104701" y="242888"/>
                  <a:pt x="92869" y="242888"/>
                </a:cubicBezTo>
                <a:lnTo>
                  <a:pt x="21431" y="242888"/>
                </a:lnTo>
                <a:cubicBezTo>
                  <a:pt x="9599" y="242888"/>
                  <a:pt x="0" y="233288"/>
                  <a:pt x="0" y="221456"/>
                </a:cubicBezTo>
                <a:lnTo>
                  <a:pt x="0" y="7144"/>
                </a:lnTo>
                <a:close/>
              </a:path>
            </a:pathLst>
          </a:custGeom>
          <a:solidFill>
            <a:srgbClr val="0071E3"/>
          </a:solidFill>
          <a:ln/>
        </p:spPr>
      </p:sp>
      <p:sp>
        <p:nvSpPr>
          <p:cNvPr id="6" name="Text 4"/>
          <p:cNvSpPr/>
          <p:nvPr/>
        </p:nvSpPr>
        <p:spPr>
          <a:xfrm>
            <a:off x="381000" y="2171700"/>
            <a:ext cx="2781300" cy="266700"/>
          </a:xfrm>
          <a:prstGeom prst="rect">
            <a:avLst/>
          </a:prstGeom>
          <a:noFill/>
          <a:ln/>
        </p:spPr>
        <p:txBody>
          <a:bodyPr wrap="square" lIns="0" tIns="0" rIns="0" bIns="0" rtlCol="0" anchor="ctr"/>
          <a:lstStyle/>
          <a:p>
            <a:pPr>
              <a:lnSpc>
                <a:spcPct val="120000"/>
              </a:lnSpc>
            </a:pPr>
            <a:r>
              <a:rPr lang="en-US" sz="1500" b="1" dirty="0">
                <a:solidFill>
                  <a:srgbClr val="1D1D1D"/>
                </a:solidFill>
                <a:latin typeface="Liter" pitchFamily="34" charset="0"/>
                <a:ea typeface="Liter" pitchFamily="34" charset="-122"/>
                <a:cs typeface="Liter" pitchFamily="34" charset="-120"/>
              </a:rPr>
              <a:t>Mesure précise</a:t>
            </a:r>
            <a:endParaRPr lang="en-US" sz="1600" dirty="0"/>
          </a:p>
        </p:txBody>
      </p:sp>
      <p:sp>
        <p:nvSpPr>
          <p:cNvPr id="7" name="Text 5"/>
          <p:cNvSpPr/>
          <p:nvPr/>
        </p:nvSpPr>
        <p:spPr>
          <a:xfrm>
            <a:off x="381000" y="2552700"/>
            <a:ext cx="2762250" cy="1295400"/>
          </a:xfrm>
          <a:prstGeom prst="rect">
            <a:avLst/>
          </a:prstGeom>
          <a:noFill/>
          <a:ln/>
        </p:spPr>
        <p:txBody>
          <a:bodyPr wrap="square" lIns="0" tIns="0" rIns="0" bIns="0" rtlCol="0" anchor="ctr"/>
          <a:lstStyle/>
          <a:p>
            <a:pPr>
              <a:lnSpc>
                <a:spcPct val="140000"/>
              </a:lnSpc>
            </a:pPr>
            <a:r>
              <a:rPr lang="en-US" sz="1200" dirty="0">
                <a:solidFill>
                  <a:srgbClr val="86868B"/>
                </a:solidFill>
                <a:latin typeface="Liter" pitchFamily="34" charset="0"/>
                <a:ea typeface="Liter" pitchFamily="34" charset="-122"/>
                <a:cs typeface="Liter" pitchFamily="34" charset="-120"/>
              </a:rPr>
              <a:t>Capteur ultrasonique HC-SR04 pour mesures précises de 2 à 400 cm avec mise à jour toutes les 100ms</a:t>
            </a:r>
            <a:endParaRPr lang="en-US" sz="1600" dirty="0"/>
          </a:p>
        </p:txBody>
      </p:sp>
      <p:sp>
        <p:nvSpPr>
          <p:cNvPr id="8" name="Shape 6"/>
          <p:cNvSpPr/>
          <p:nvPr/>
        </p:nvSpPr>
        <p:spPr>
          <a:xfrm>
            <a:off x="3295650" y="1447800"/>
            <a:ext cx="533400" cy="533400"/>
          </a:xfrm>
          <a:custGeom>
            <a:avLst/>
            <a:gdLst/>
            <a:ahLst/>
            <a:cxnLst/>
            <a:rect l="l" t="t" r="r" b="b"/>
            <a:pathLst>
              <a:path w="533400" h="533400">
                <a:moveTo>
                  <a:pt x="152398" y="0"/>
                </a:moveTo>
                <a:lnTo>
                  <a:pt x="381002" y="0"/>
                </a:lnTo>
                <a:cubicBezTo>
                  <a:pt x="465113" y="0"/>
                  <a:pt x="533400" y="68287"/>
                  <a:pt x="533400" y="152398"/>
                </a:cubicBezTo>
                <a:lnTo>
                  <a:pt x="533400" y="381002"/>
                </a:lnTo>
                <a:cubicBezTo>
                  <a:pt x="533400" y="465113"/>
                  <a:pt x="465113" y="533400"/>
                  <a:pt x="381002" y="533400"/>
                </a:cubicBezTo>
                <a:lnTo>
                  <a:pt x="152398" y="533400"/>
                </a:lnTo>
                <a:cubicBezTo>
                  <a:pt x="68287" y="533400"/>
                  <a:pt x="0" y="465113"/>
                  <a:pt x="0" y="381002"/>
                </a:cubicBezTo>
                <a:lnTo>
                  <a:pt x="0" y="152398"/>
                </a:lnTo>
                <a:cubicBezTo>
                  <a:pt x="0" y="68287"/>
                  <a:pt x="68287" y="0"/>
                  <a:pt x="152398" y="0"/>
                </a:cubicBezTo>
                <a:close/>
              </a:path>
            </a:pathLst>
          </a:custGeom>
          <a:solidFill>
            <a:srgbClr val="0071E3">
              <a:alpha val="10196"/>
            </a:srgbClr>
          </a:solidFill>
          <a:ln/>
        </p:spPr>
      </p:sp>
      <p:sp>
        <p:nvSpPr>
          <p:cNvPr id="9" name="Shape 7"/>
          <p:cNvSpPr/>
          <p:nvPr/>
        </p:nvSpPr>
        <p:spPr>
          <a:xfrm>
            <a:off x="3433763" y="1600200"/>
            <a:ext cx="257175" cy="228600"/>
          </a:xfrm>
          <a:custGeom>
            <a:avLst/>
            <a:gdLst/>
            <a:ahLst/>
            <a:cxnLst/>
            <a:rect l="l" t="t" r="r" b="b"/>
            <a:pathLst>
              <a:path w="257175" h="228600">
                <a:moveTo>
                  <a:pt x="0" y="57150"/>
                </a:moveTo>
                <a:cubicBezTo>
                  <a:pt x="0" y="41389"/>
                  <a:pt x="12814" y="28575"/>
                  <a:pt x="28575" y="28575"/>
                </a:cubicBezTo>
                <a:lnTo>
                  <a:pt x="228600" y="28575"/>
                </a:lnTo>
                <a:cubicBezTo>
                  <a:pt x="244361" y="28575"/>
                  <a:pt x="257175" y="41389"/>
                  <a:pt x="257175" y="57150"/>
                </a:cubicBezTo>
                <a:lnTo>
                  <a:pt x="257175" y="171450"/>
                </a:lnTo>
                <a:cubicBezTo>
                  <a:pt x="257175" y="187211"/>
                  <a:pt x="244361" y="200025"/>
                  <a:pt x="228600" y="200025"/>
                </a:cubicBezTo>
                <a:lnTo>
                  <a:pt x="28575" y="200025"/>
                </a:lnTo>
                <a:cubicBezTo>
                  <a:pt x="12814" y="200025"/>
                  <a:pt x="0" y="187211"/>
                  <a:pt x="0" y="171450"/>
                </a:cubicBezTo>
                <a:lnTo>
                  <a:pt x="0" y="57150"/>
                </a:lnTo>
                <a:close/>
                <a:moveTo>
                  <a:pt x="28575" y="71438"/>
                </a:moveTo>
                <a:lnTo>
                  <a:pt x="28575" y="85725"/>
                </a:lnTo>
                <a:cubicBezTo>
                  <a:pt x="28575" y="93628"/>
                  <a:pt x="34960" y="100013"/>
                  <a:pt x="42863" y="100013"/>
                </a:cubicBezTo>
                <a:lnTo>
                  <a:pt x="114300" y="100013"/>
                </a:lnTo>
                <a:cubicBezTo>
                  <a:pt x="122203" y="100013"/>
                  <a:pt x="128588" y="93628"/>
                  <a:pt x="128588" y="85725"/>
                </a:cubicBezTo>
                <a:lnTo>
                  <a:pt x="128588" y="71438"/>
                </a:lnTo>
                <a:cubicBezTo>
                  <a:pt x="128588" y="63535"/>
                  <a:pt x="122203" y="57150"/>
                  <a:pt x="114300" y="57150"/>
                </a:cubicBezTo>
                <a:lnTo>
                  <a:pt x="42863" y="57150"/>
                </a:lnTo>
                <a:cubicBezTo>
                  <a:pt x="34960" y="57150"/>
                  <a:pt x="28575" y="63535"/>
                  <a:pt x="28575" y="71438"/>
                </a:cubicBezTo>
                <a:close/>
                <a:moveTo>
                  <a:pt x="39291" y="157163"/>
                </a:moveTo>
                <a:cubicBezTo>
                  <a:pt x="33352" y="157163"/>
                  <a:pt x="28575" y="161940"/>
                  <a:pt x="28575" y="167878"/>
                </a:cubicBezTo>
                <a:cubicBezTo>
                  <a:pt x="28575" y="173816"/>
                  <a:pt x="33352" y="178594"/>
                  <a:pt x="39291" y="178594"/>
                </a:cubicBezTo>
                <a:lnTo>
                  <a:pt x="100013" y="178594"/>
                </a:lnTo>
                <a:cubicBezTo>
                  <a:pt x="105951" y="178594"/>
                  <a:pt x="110728" y="173816"/>
                  <a:pt x="110728" y="167878"/>
                </a:cubicBezTo>
                <a:cubicBezTo>
                  <a:pt x="110728" y="161940"/>
                  <a:pt x="105951" y="157163"/>
                  <a:pt x="100013" y="157163"/>
                </a:cubicBezTo>
                <a:lnTo>
                  <a:pt x="39291" y="157163"/>
                </a:lnTo>
                <a:close/>
                <a:moveTo>
                  <a:pt x="153591" y="157163"/>
                </a:moveTo>
                <a:cubicBezTo>
                  <a:pt x="147652" y="157163"/>
                  <a:pt x="142875" y="161940"/>
                  <a:pt x="142875" y="167878"/>
                </a:cubicBezTo>
                <a:cubicBezTo>
                  <a:pt x="142875" y="173816"/>
                  <a:pt x="147652" y="178594"/>
                  <a:pt x="153591" y="178594"/>
                </a:cubicBezTo>
                <a:lnTo>
                  <a:pt x="217884" y="178594"/>
                </a:lnTo>
                <a:cubicBezTo>
                  <a:pt x="223823" y="178594"/>
                  <a:pt x="228600" y="173816"/>
                  <a:pt x="228600" y="167878"/>
                </a:cubicBezTo>
                <a:cubicBezTo>
                  <a:pt x="228600" y="161940"/>
                  <a:pt x="223823" y="157163"/>
                  <a:pt x="217884" y="157163"/>
                </a:cubicBezTo>
                <a:lnTo>
                  <a:pt x="153591" y="157163"/>
                </a:lnTo>
                <a:close/>
                <a:moveTo>
                  <a:pt x="221456" y="85725"/>
                </a:moveTo>
                <a:cubicBezTo>
                  <a:pt x="221456" y="69954"/>
                  <a:pt x="208652" y="57150"/>
                  <a:pt x="192881" y="57150"/>
                </a:cubicBezTo>
                <a:cubicBezTo>
                  <a:pt x="177110" y="57150"/>
                  <a:pt x="164306" y="69954"/>
                  <a:pt x="164306" y="85725"/>
                </a:cubicBezTo>
                <a:cubicBezTo>
                  <a:pt x="164306" y="101496"/>
                  <a:pt x="177110" y="114300"/>
                  <a:pt x="192881" y="114300"/>
                </a:cubicBezTo>
                <a:cubicBezTo>
                  <a:pt x="208652" y="114300"/>
                  <a:pt x="221456" y="101496"/>
                  <a:pt x="221456" y="85725"/>
                </a:cubicBezTo>
                <a:close/>
                <a:moveTo>
                  <a:pt x="39291" y="139303"/>
                </a:moveTo>
                <a:cubicBezTo>
                  <a:pt x="45205" y="139303"/>
                  <a:pt x="50006" y="134502"/>
                  <a:pt x="50006" y="128588"/>
                </a:cubicBezTo>
                <a:cubicBezTo>
                  <a:pt x="50006" y="122673"/>
                  <a:pt x="45205" y="117872"/>
                  <a:pt x="39291" y="117872"/>
                </a:cubicBezTo>
                <a:cubicBezTo>
                  <a:pt x="33377" y="117872"/>
                  <a:pt x="28575" y="122673"/>
                  <a:pt x="28575" y="128588"/>
                </a:cubicBezTo>
                <a:cubicBezTo>
                  <a:pt x="28575" y="134502"/>
                  <a:pt x="33377" y="139303"/>
                  <a:pt x="39291" y="139303"/>
                </a:cubicBezTo>
                <a:close/>
                <a:moveTo>
                  <a:pt x="85725" y="128588"/>
                </a:moveTo>
                <a:cubicBezTo>
                  <a:pt x="85725" y="122673"/>
                  <a:pt x="80923" y="117872"/>
                  <a:pt x="75009" y="117872"/>
                </a:cubicBezTo>
                <a:cubicBezTo>
                  <a:pt x="69095" y="117872"/>
                  <a:pt x="64294" y="122673"/>
                  <a:pt x="64294" y="128588"/>
                </a:cubicBezTo>
                <a:cubicBezTo>
                  <a:pt x="64294" y="134502"/>
                  <a:pt x="69095" y="139303"/>
                  <a:pt x="75009" y="139303"/>
                </a:cubicBezTo>
                <a:cubicBezTo>
                  <a:pt x="80923" y="139303"/>
                  <a:pt x="85725" y="134502"/>
                  <a:pt x="85725" y="128588"/>
                </a:cubicBezTo>
                <a:close/>
                <a:moveTo>
                  <a:pt x="110728" y="139303"/>
                </a:moveTo>
                <a:cubicBezTo>
                  <a:pt x="116642" y="139303"/>
                  <a:pt x="121444" y="134502"/>
                  <a:pt x="121444" y="128588"/>
                </a:cubicBezTo>
                <a:cubicBezTo>
                  <a:pt x="121444" y="122673"/>
                  <a:pt x="116642" y="117872"/>
                  <a:pt x="110728" y="117872"/>
                </a:cubicBezTo>
                <a:cubicBezTo>
                  <a:pt x="104814" y="117872"/>
                  <a:pt x="100013" y="122673"/>
                  <a:pt x="100013" y="128588"/>
                </a:cubicBezTo>
                <a:cubicBezTo>
                  <a:pt x="100013" y="134502"/>
                  <a:pt x="104814" y="139303"/>
                  <a:pt x="110728" y="139303"/>
                </a:cubicBezTo>
                <a:close/>
              </a:path>
            </a:pathLst>
          </a:custGeom>
          <a:solidFill>
            <a:srgbClr val="0071E3"/>
          </a:solidFill>
          <a:ln/>
        </p:spPr>
      </p:sp>
      <p:sp>
        <p:nvSpPr>
          <p:cNvPr id="10" name="Text 8"/>
          <p:cNvSpPr/>
          <p:nvPr/>
        </p:nvSpPr>
        <p:spPr>
          <a:xfrm>
            <a:off x="3295650" y="2171700"/>
            <a:ext cx="2781300" cy="266700"/>
          </a:xfrm>
          <a:prstGeom prst="rect">
            <a:avLst/>
          </a:prstGeom>
          <a:noFill/>
          <a:ln/>
        </p:spPr>
        <p:txBody>
          <a:bodyPr wrap="square" lIns="0" tIns="0" rIns="0" bIns="0" rtlCol="0" anchor="ctr"/>
          <a:lstStyle/>
          <a:p>
            <a:pPr>
              <a:lnSpc>
                <a:spcPct val="120000"/>
              </a:lnSpc>
            </a:pPr>
            <a:r>
              <a:rPr lang="en-US" sz="1500" b="1" dirty="0">
                <a:solidFill>
                  <a:srgbClr val="1D1D1D"/>
                </a:solidFill>
                <a:latin typeface="Liter" pitchFamily="34" charset="0"/>
                <a:ea typeface="Liter" pitchFamily="34" charset="-122"/>
                <a:cs typeface="Liter" pitchFamily="34" charset="-120"/>
              </a:rPr>
              <a:t>Affichage local</a:t>
            </a:r>
            <a:endParaRPr lang="en-US" sz="1600" dirty="0"/>
          </a:p>
        </p:txBody>
      </p:sp>
      <p:sp>
        <p:nvSpPr>
          <p:cNvPr id="11" name="Text 9"/>
          <p:cNvSpPr/>
          <p:nvPr/>
        </p:nvSpPr>
        <p:spPr>
          <a:xfrm>
            <a:off x="3295650" y="2552700"/>
            <a:ext cx="2762250" cy="1295400"/>
          </a:xfrm>
          <a:prstGeom prst="rect">
            <a:avLst/>
          </a:prstGeom>
          <a:noFill/>
          <a:ln/>
        </p:spPr>
        <p:txBody>
          <a:bodyPr wrap="square" lIns="0" tIns="0" rIns="0" bIns="0" rtlCol="0" anchor="ctr"/>
          <a:lstStyle/>
          <a:p>
            <a:pPr>
              <a:lnSpc>
                <a:spcPct val="140000"/>
              </a:lnSpc>
            </a:pPr>
            <a:r>
              <a:rPr lang="en-US" sz="1200" dirty="0">
                <a:solidFill>
                  <a:srgbClr val="86868B"/>
                </a:solidFill>
                <a:latin typeface="Liter" pitchFamily="34" charset="0"/>
                <a:ea typeface="Liter" pitchFamily="34" charset="-122"/>
                <a:cs typeface="Liter" pitchFamily="34" charset="-120"/>
              </a:rPr>
              <a:t>Écran 7 segments 4 chiffres affichant le niveau d'eau en centimètres avec gestion des décimales</a:t>
            </a:r>
            <a:endParaRPr lang="en-US" sz="1600" dirty="0"/>
          </a:p>
        </p:txBody>
      </p:sp>
      <p:sp>
        <p:nvSpPr>
          <p:cNvPr id="12" name="Shape 10"/>
          <p:cNvSpPr/>
          <p:nvPr/>
        </p:nvSpPr>
        <p:spPr>
          <a:xfrm>
            <a:off x="6210300" y="1447800"/>
            <a:ext cx="533400" cy="533400"/>
          </a:xfrm>
          <a:custGeom>
            <a:avLst/>
            <a:gdLst/>
            <a:ahLst/>
            <a:cxnLst/>
            <a:rect l="l" t="t" r="r" b="b"/>
            <a:pathLst>
              <a:path w="533400" h="533400">
                <a:moveTo>
                  <a:pt x="152398" y="0"/>
                </a:moveTo>
                <a:lnTo>
                  <a:pt x="381002" y="0"/>
                </a:lnTo>
                <a:cubicBezTo>
                  <a:pt x="465113" y="0"/>
                  <a:pt x="533400" y="68287"/>
                  <a:pt x="533400" y="152398"/>
                </a:cubicBezTo>
                <a:lnTo>
                  <a:pt x="533400" y="381002"/>
                </a:lnTo>
                <a:cubicBezTo>
                  <a:pt x="533400" y="465113"/>
                  <a:pt x="465113" y="533400"/>
                  <a:pt x="381002" y="533400"/>
                </a:cubicBezTo>
                <a:lnTo>
                  <a:pt x="152398" y="533400"/>
                </a:lnTo>
                <a:cubicBezTo>
                  <a:pt x="68287" y="533400"/>
                  <a:pt x="0" y="465113"/>
                  <a:pt x="0" y="381002"/>
                </a:cubicBezTo>
                <a:lnTo>
                  <a:pt x="0" y="152398"/>
                </a:lnTo>
                <a:cubicBezTo>
                  <a:pt x="0" y="68287"/>
                  <a:pt x="68287" y="0"/>
                  <a:pt x="152398" y="0"/>
                </a:cubicBezTo>
                <a:close/>
              </a:path>
            </a:pathLst>
          </a:custGeom>
          <a:solidFill>
            <a:srgbClr val="0071E3">
              <a:alpha val="10196"/>
            </a:srgbClr>
          </a:solidFill>
          <a:ln/>
        </p:spPr>
      </p:sp>
      <p:sp>
        <p:nvSpPr>
          <p:cNvPr id="13" name="Shape 11"/>
          <p:cNvSpPr/>
          <p:nvPr/>
        </p:nvSpPr>
        <p:spPr>
          <a:xfrm>
            <a:off x="6391275" y="1600200"/>
            <a:ext cx="171450" cy="228600"/>
          </a:xfrm>
          <a:custGeom>
            <a:avLst/>
            <a:gdLst/>
            <a:ahLst/>
            <a:cxnLst/>
            <a:rect l="l" t="t" r="r" b="b"/>
            <a:pathLst>
              <a:path w="171450" h="228600">
                <a:moveTo>
                  <a:pt x="130775" y="171450"/>
                </a:moveTo>
                <a:cubicBezTo>
                  <a:pt x="134035" y="161493"/>
                  <a:pt x="140553" y="152474"/>
                  <a:pt x="147920" y="144706"/>
                </a:cubicBezTo>
                <a:cubicBezTo>
                  <a:pt x="162520" y="129347"/>
                  <a:pt x="171450" y="108585"/>
                  <a:pt x="171450" y="85725"/>
                </a:cubicBezTo>
                <a:cubicBezTo>
                  <a:pt x="171450" y="38398"/>
                  <a:pt x="133052" y="0"/>
                  <a:pt x="85725" y="0"/>
                </a:cubicBezTo>
                <a:cubicBezTo>
                  <a:pt x="38398" y="0"/>
                  <a:pt x="0" y="38398"/>
                  <a:pt x="0" y="85725"/>
                </a:cubicBezTo>
                <a:cubicBezTo>
                  <a:pt x="0" y="108585"/>
                  <a:pt x="8930" y="129347"/>
                  <a:pt x="23530" y="144706"/>
                </a:cubicBezTo>
                <a:cubicBezTo>
                  <a:pt x="30897" y="152474"/>
                  <a:pt x="37460" y="161493"/>
                  <a:pt x="40675" y="171450"/>
                </a:cubicBezTo>
                <a:lnTo>
                  <a:pt x="130731" y="171450"/>
                </a:lnTo>
                <a:close/>
                <a:moveTo>
                  <a:pt x="128588" y="192881"/>
                </a:moveTo>
                <a:lnTo>
                  <a:pt x="42863" y="192881"/>
                </a:lnTo>
                <a:lnTo>
                  <a:pt x="42863" y="200025"/>
                </a:lnTo>
                <a:cubicBezTo>
                  <a:pt x="42863" y="219760"/>
                  <a:pt x="58847" y="235744"/>
                  <a:pt x="78581" y="235744"/>
                </a:cubicBezTo>
                <a:lnTo>
                  <a:pt x="92869" y="235744"/>
                </a:lnTo>
                <a:cubicBezTo>
                  <a:pt x="112603" y="235744"/>
                  <a:pt x="128588" y="219760"/>
                  <a:pt x="128588" y="200025"/>
                </a:cubicBezTo>
                <a:lnTo>
                  <a:pt x="128588" y="192881"/>
                </a:lnTo>
                <a:close/>
                <a:moveTo>
                  <a:pt x="82153" y="50006"/>
                </a:moveTo>
                <a:cubicBezTo>
                  <a:pt x="64383" y="50006"/>
                  <a:pt x="50006" y="64383"/>
                  <a:pt x="50006" y="82153"/>
                </a:cubicBezTo>
                <a:cubicBezTo>
                  <a:pt x="50006" y="88091"/>
                  <a:pt x="45229" y="92869"/>
                  <a:pt x="39291" y="92869"/>
                </a:cubicBezTo>
                <a:cubicBezTo>
                  <a:pt x="33352" y="92869"/>
                  <a:pt x="28575" y="88091"/>
                  <a:pt x="28575" y="82153"/>
                </a:cubicBezTo>
                <a:cubicBezTo>
                  <a:pt x="28575" y="52551"/>
                  <a:pt x="52551" y="28575"/>
                  <a:pt x="82153" y="28575"/>
                </a:cubicBezTo>
                <a:cubicBezTo>
                  <a:pt x="88091" y="28575"/>
                  <a:pt x="92869" y="33352"/>
                  <a:pt x="92869" y="39291"/>
                </a:cubicBezTo>
                <a:cubicBezTo>
                  <a:pt x="92869" y="45229"/>
                  <a:pt x="88091" y="50006"/>
                  <a:pt x="82153" y="50006"/>
                </a:cubicBezTo>
                <a:close/>
              </a:path>
            </a:pathLst>
          </a:custGeom>
          <a:solidFill>
            <a:srgbClr val="0071E3"/>
          </a:solidFill>
          <a:ln/>
        </p:spPr>
      </p:sp>
      <p:sp>
        <p:nvSpPr>
          <p:cNvPr id="14" name="Text 12"/>
          <p:cNvSpPr/>
          <p:nvPr/>
        </p:nvSpPr>
        <p:spPr>
          <a:xfrm>
            <a:off x="6210300" y="2171700"/>
            <a:ext cx="2781300" cy="266700"/>
          </a:xfrm>
          <a:prstGeom prst="rect">
            <a:avLst/>
          </a:prstGeom>
          <a:noFill/>
          <a:ln/>
        </p:spPr>
        <p:txBody>
          <a:bodyPr wrap="square" lIns="0" tIns="0" rIns="0" bIns="0" rtlCol="0" anchor="ctr"/>
          <a:lstStyle/>
          <a:p>
            <a:pPr>
              <a:lnSpc>
                <a:spcPct val="120000"/>
              </a:lnSpc>
            </a:pPr>
            <a:r>
              <a:rPr lang="en-US" sz="1500" b="1" dirty="0">
                <a:solidFill>
                  <a:srgbClr val="1D1D1D"/>
                </a:solidFill>
                <a:latin typeface="Liter" pitchFamily="34" charset="0"/>
                <a:ea typeface="Liter" pitchFamily="34" charset="-122"/>
                <a:cs typeface="Liter" pitchFamily="34" charset="-120"/>
              </a:rPr>
              <a:t>Indicateurs LED</a:t>
            </a:r>
            <a:endParaRPr lang="en-US" sz="1600" dirty="0"/>
          </a:p>
        </p:txBody>
      </p:sp>
      <p:sp>
        <p:nvSpPr>
          <p:cNvPr id="15" name="Text 13"/>
          <p:cNvSpPr/>
          <p:nvPr/>
        </p:nvSpPr>
        <p:spPr>
          <a:xfrm>
            <a:off x="6210300" y="2552700"/>
            <a:ext cx="2762250" cy="1295400"/>
          </a:xfrm>
          <a:prstGeom prst="rect">
            <a:avLst/>
          </a:prstGeom>
          <a:noFill/>
          <a:ln/>
        </p:spPr>
        <p:txBody>
          <a:bodyPr wrap="square" lIns="0" tIns="0" rIns="0" bIns="0" rtlCol="0" anchor="ctr"/>
          <a:lstStyle/>
          <a:p>
            <a:pPr>
              <a:lnSpc>
                <a:spcPct val="140000"/>
              </a:lnSpc>
            </a:pPr>
            <a:r>
              <a:rPr lang="en-US" sz="1200" dirty="0">
                <a:solidFill>
                  <a:srgbClr val="86868B"/>
                </a:solidFill>
                <a:latin typeface="Liter" pitchFamily="34" charset="0"/>
                <a:ea typeface="Liter" pitchFamily="34" charset="-122"/>
                <a:cs typeface="Liter" pitchFamily="34" charset="-120"/>
              </a:rPr>
              <a:t>Trois LEDs tricolores (vert, jaune, rouge) pour indication visuelle immédiate de l'état du système</a:t>
            </a:r>
            <a:endParaRPr lang="en-US" sz="1600" dirty="0"/>
          </a:p>
        </p:txBody>
      </p:sp>
      <p:sp>
        <p:nvSpPr>
          <p:cNvPr id="16" name="Shape 14"/>
          <p:cNvSpPr/>
          <p:nvPr/>
        </p:nvSpPr>
        <p:spPr>
          <a:xfrm>
            <a:off x="9124950" y="1447800"/>
            <a:ext cx="533400" cy="533400"/>
          </a:xfrm>
          <a:custGeom>
            <a:avLst/>
            <a:gdLst/>
            <a:ahLst/>
            <a:cxnLst/>
            <a:rect l="l" t="t" r="r" b="b"/>
            <a:pathLst>
              <a:path w="533400" h="533400">
                <a:moveTo>
                  <a:pt x="152398" y="0"/>
                </a:moveTo>
                <a:lnTo>
                  <a:pt x="381002" y="0"/>
                </a:lnTo>
                <a:cubicBezTo>
                  <a:pt x="465113" y="0"/>
                  <a:pt x="533400" y="68287"/>
                  <a:pt x="533400" y="152398"/>
                </a:cubicBezTo>
                <a:lnTo>
                  <a:pt x="533400" y="381002"/>
                </a:lnTo>
                <a:cubicBezTo>
                  <a:pt x="533400" y="465113"/>
                  <a:pt x="465113" y="533400"/>
                  <a:pt x="381002" y="533400"/>
                </a:cubicBezTo>
                <a:lnTo>
                  <a:pt x="152398" y="533400"/>
                </a:lnTo>
                <a:cubicBezTo>
                  <a:pt x="68287" y="533400"/>
                  <a:pt x="0" y="465113"/>
                  <a:pt x="0" y="381002"/>
                </a:cubicBezTo>
                <a:lnTo>
                  <a:pt x="0" y="152398"/>
                </a:lnTo>
                <a:cubicBezTo>
                  <a:pt x="0" y="68287"/>
                  <a:pt x="68287" y="0"/>
                  <a:pt x="152398" y="0"/>
                </a:cubicBezTo>
                <a:close/>
              </a:path>
            </a:pathLst>
          </a:custGeom>
          <a:solidFill>
            <a:srgbClr val="0071E3">
              <a:alpha val="10196"/>
            </a:srgbClr>
          </a:solidFill>
          <a:ln/>
        </p:spPr>
      </p:sp>
      <p:sp>
        <p:nvSpPr>
          <p:cNvPr id="17" name="Shape 15"/>
          <p:cNvSpPr/>
          <p:nvPr/>
        </p:nvSpPr>
        <p:spPr>
          <a:xfrm>
            <a:off x="9291638" y="1600200"/>
            <a:ext cx="200025" cy="228600"/>
          </a:xfrm>
          <a:custGeom>
            <a:avLst/>
            <a:gdLst/>
            <a:ahLst/>
            <a:cxnLst/>
            <a:rect l="l" t="t" r="r" b="b"/>
            <a:pathLst>
              <a:path w="200025" h="228600">
                <a:moveTo>
                  <a:pt x="100013" y="0"/>
                </a:moveTo>
                <a:cubicBezTo>
                  <a:pt x="92110" y="0"/>
                  <a:pt x="85725" y="6385"/>
                  <a:pt x="85725" y="14288"/>
                </a:cubicBezTo>
                <a:lnTo>
                  <a:pt x="85725" y="15716"/>
                </a:lnTo>
                <a:cubicBezTo>
                  <a:pt x="53132" y="22324"/>
                  <a:pt x="28575" y="51167"/>
                  <a:pt x="28575" y="85725"/>
                </a:cubicBezTo>
                <a:lnTo>
                  <a:pt x="28575" y="95414"/>
                </a:lnTo>
                <a:cubicBezTo>
                  <a:pt x="28575" y="116890"/>
                  <a:pt x="21253" y="137740"/>
                  <a:pt x="7858" y="154528"/>
                </a:cubicBezTo>
                <a:lnTo>
                  <a:pt x="3483" y="159975"/>
                </a:lnTo>
                <a:cubicBezTo>
                  <a:pt x="1206" y="162788"/>
                  <a:pt x="0" y="166271"/>
                  <a:pt x="0" y="169887"/>
                </a:cubicBezTo>
                <a:cubicBezTo>
                  <a:pt x="0" y="178638"/>
                  <a:pt x="7099" y="185738"/>
                  <a:pt x="15850" y="185738"/>
                </a:cubicBezTo>
                <a:lnTo>
                  <a:pt x="184130" y="185738"/>
                </a:lnTo>
                <a:cubicBezTo>
                  <a:pt x="192881" y="185738"/>
                  <a:pt x="199980" y="178638"/>
                  <a:pt x="199980" y="169887"/>
                </a:cubicBezTo>
                <a:cubicBezTo>
                  <a:pt x="199980" y="166271"/>
                  <a:pt x="198775" y="162788"/>
                  <a:pt x="196498" y="159975"/>
                </a:cubicBezTo>
                <a:lnTo>
                  <a:pt x="192122" y="154528"/>
                </a:lnTo>
                <a:cubicBezTo>
                  <a:pt x="178772" y="137740"/>
                  <a:pt x="171450" y="116890"/>
                  <a:pt x="171450" y="95414"/>
                </a:cubicBezTo>
                <a:lnTo>
                  <a:pt x="171450" y="85725"/>
                </a:lnTo>
                <a:cubicBezTo>
                  <a:pt x="171450" y="51167"/>
                  <a:pt x="146893" y="22324"/>
                  <a:pt x="114300" y="15716"/>
                </a:cubicBezTo>
                <a:lnTo>
                  <a:pt x="114300" y="14287"/>
                </a:lnTo>
                <a:cubicBezTo>
                  <a:pt x="114300" y="6385"/>
                  <a:pt x="107915" y="0"/>
                  <a:pt x="100013" y="0"/>
                </a:cubicBezTo>
                <a:close/>
                <a:moveTo>
                  <a:pt x="72330" y="207169"/>
                </a:moveTo>
                <a:cubicBezTo>
                  <a:pt x="75501" y="219492"/>
                  <a:pt x="86707" y="228600"/>
                  <a:pt x="100013" y="228600"/>
                </a:cubicBezTo>
                <a:cubicBezTo>
                  <a:pt x="113318" y="228600"/>
                  <a:pt x="124524" y="219492"/>
                  <a:pt x="127695" y="207169"/>
                </a:cubicBezTo>
                <a:lnTo>
                  <a:pt x="72330" y="207169"/>
                </a:lnTo>
                <a:close/>
              </a:path>
            </a:pathLst>
          </a:custGeom>
          <a:solidFill>
            <a:srgbClr val="0071E3"/>
          </a:solidFill>
          <a:ln/>
        </p:spPr>
      </p:sp>
      <p:sp>
        <p:nvSpPr>
          <p:cNvPr id="18" name="Text 16"/>
          <p:cNvSpPr/>
          <p:nvPr/>
        </p:nvSpPr>
        <p:spPr>
          <a:xfrm>
            <a:off x="9124950" y="2171700"/>
            <a:ext cx="2781300" cy="266700"/>
          </a:xfrm>
          <a:prstGeom prst="rect">
            <a:avLst/>
          </a:prstGeom>
          <a:noFill/>
          <a:ln/>
        </p:spPr>
        <p:txBody>
          <a:bodyPr wrap="square" lIns="0" tIns="0" rIns="0" bIns="0" rtlCol="0" anchor="ctr"/>
          <a:lstStyle/>
          <a:p>
            <a:pPr>
              <a:lnSpc>
                <a:spcPct val="120000"/>
              </a:lnSpc>
            </a:pPr>
            <a:r>
              <a:rPr lang="en-US" sz="1500" b="1" dirty="0">
                <a:solidFill>
                  <a:srgbClr val="1D1D1D"/>
                </a:solidFill>
                <a:latin typeface="Liter" pitchFamily="34" charset="0"/>
                <a:ea typeface="Liter" pitchFamily="34" charset="-122"/>
                <a:cs typeface="Liter" pitchFamily="34" charset="-120"/>
              </a:rPr>
              <a:t>Alarme sonore</a:t>
            </a:r>
            <a:endParaRPr lang="en-US" sz="1600" dirty="0"/>
          </a:p>
        </p:txBody>
      </p:sp>
      <p:sp>
        <p:nvSpPr>
          <p:cNvPr id="19" name="Text 17"/>
          <p:cNvSpPr/>
          <p:nvPr/>
        </p:nvSpPr>
        <p:spPr>
          <a:xfrm>
            <a:off x="9124950" y="2552700"/>
            <a:ext cx="2762250" cy="1295400"/>
          </a:xfrm>
          <a:prstGeom prst="rect">
            <a:avLst/>
          </a:prstGeom>
          <a:noFill/>
          <a:ln/>
        </p:spPr>
        <p:txBody>
          <a:bodyPr wrap="square" lIns="0" tIns="0" rIns="0" bIns="0" rtlCol="0" anchor="ctr"/>
          <a:lstStyle/>
          <a:p>
            <a:pPr>
              <a:lnSpc>
                <a:spcPct val="140000"/>
              </a:lnSpc>
            </a:pPr>
            <a:r>
              <a:rPr lang="en-US" sz="1200" dirty="0">
                <a:solidFill>
                  <a:srgbClr val="86868B"/>
                </a:solidFill>
                <a:latin typeface="Liter" pitchFamily="34" charset="0"/>
                <a:ea typeface="Liter" pitchFamily="34" charset="-122"/>
                <a:cs typeface="Liter" pitchFamily="34" charset="-120"/>
              </a:rPr>
              <a:t>Buzzer piezoélectrique pour alerte sonore en cas de niveau critique avec fonctionnement non-bloquant</a:t>
            </a:r>
            <a:endParaRPr lang="en-US" sz="1600" dirty="0"/>
          </a:p>
        </p:txBody>
      </p:sp>
      <p:sp>
        <p:nvSpPr>
          <p:cNvPr id="20" name="Shape 18"/>
          <p:cNvSpPr/>
          <p:nvPr/>
        </p:nvSpPr>
        <p:spPr>
          <a:xfrm>
            <a:off x="381000" y="4076700"/>
            <a:ext cx="533400" cy="533400"/>
          </a:xfrm>
          <a:custGeom>
            <a:avLst/>
            <a:gdLst/>
            <a:ahLst/>
            <a:cxnLst/>
            <a:rect l="l" t="t" r="r" b="b"/>
            <a:pathLst>
              <a:path w="533400" h="533400">
                <a:moveTo>
                  <a:pt x="152398" y="0"/>
                </a:moveTo>
                <a:lnTo>
                  <a:pt x="381002" y="0"/>
                </a:lnTo>
                <a:cubicBezTo>
                  <a:pt x="465113" y="0"/>
                  <a:pt x="533400" y="68287"/>
                  <a:pt x="533400" y="152398"/>
                </a:cubicBezTo>
                <a:lnTo>
                  <a:pt x="533400" y="381002"/>
                </a:lnTo>
                <a:cubicBezTo>
                  <a:pt x="533400" y="465113"/>
                  <a:pt x="465113" y="533400"/>
                  <a:pt x="381002" y="533400"/>
                </a:cubicBezTo>
                <a:lnTo>
                  <a:pt x="152398" y="533400"/>
                </a:lnTo>
                <a:cubicBezTo>
                  <a:pt x="68287" y="533400"/>
                  <a:pt x="0" y="465113"/>
                  <a:pt x="0" y="381002"/>
                </a:cubicBezTo>
                <a:lnTo>
                  <a:pt x="0" y="152398"/>
                </a:lnTo>
                <a:cubicBezTo>
                  <a:pt x="0" y="68287"/>
                  <a:pt x="68287" y="0"/>
                  <a:pt x="152398" y="0"/>
                </a:cubicBezTo>
                <a:close/>
              </a:path>
            </a:pathLst>
          </a:custGeom>
          <a:solidFill>
            <a:srgbClr val="0071E3">
              <a:alpha val="10196"/>
            </a:srgbClr>
          </a:solidFill>
          <a:ln/>
        </p:spPr>
      </p:sp>
      <p:sp>
        <p:nvSpPr>
          <p:cNvPr id="21" name="Shape 19"/>
          <p:cNvSpPr/>
          <p:nvPr/>
        </p:nvSpPr>
        <p:spPr>
          <a:xfrm>
            <a:off x="533400" y="4229100"/>
            <a:ext cx="228600" cy="228600"/>
          </a:xfrm>
          <a:custGeom>
            <a:avLst/>
            <a:gdLst/>
            <a:ahLst/>
            <a:cxnLst/>
            <a:rect l="l" t="t" r="r" b="b"/>
            <a:pathLst>
              <a:path w="228600" h="228600">
                <a:moveTo>
                  <a:pt x="14288" y="28575"/>
                </a:moveTo>
                <a:cubicBezTo>
                  <a:pt x="6385" y="28575"/>
                  <a:pt x="0" y="34960"/>
                  <a:pt x="0" y="42863"/>
                </a:cubicBezTo>
                <a:cubicBezTo>
                  <a:pt x="0" y="50765"/>
                  <a:pt x="6385" y="57150"/>
                  <a:pt x="14288" y="57150"/>
                </a:cubicBezTo>
                <a:lnTo>
                  <a:pt x="52998" y="57150"/>
                </a:lnTo>
                <a:cubicBezTo>
                  <a:pt x="58489" y="69786"/>
                  <a:pt x="71080" y="78581"/>
                  <a:pt x="85725" y="78581"/>
                </a:cubicBezTo>
                <a:cubicBezTo>
                  <a:pt x="100370" y="78581"/>
                  <a:pt x="112961" y="69786"/>
                  <a:pt x="118452" y="57150"/>
                </a:cubicBezTo>
                <a:lnTo>
                  <a:pt x="214313" y="57150"/>
                </a:lnTo>
                <a:cubicBezTo>
                  <a:pt x="222215" y="57150"/>
                  <a:pt x="228600" y="50765"/>
                  <a:pt x="228600" y="42863"/>
                </a:cubicBezTo>
                <a:cubicBezTo>
                  <a:pt x="228600" y="34960"/>
                  <a:pt x="222215" y="28575"/>
                  <a:pt x="214313" y="28575"/>
                </a:cubicBezTo>
                <a:lnTo>
                  <a:pt x="118452" y="28575"/>
                </a:lnTo>
                <a:cubicBezTo>
                  <a:pt x="112961" y="15939"/>
                  <a:pt x="100370" y="7144"/>
                  <a:pt x="85725" y="7144"/>
                </a:cubicBezTo>
                <a:cubicBezTo>
                  <a:pt x="71080" y="7144"/>
                  <a:pt x="58489" y="15939"/>
                  <a:pt x="52998" y="28575"/>
                </a:cubicBezTo>
                <a:lnTo>
                  <a:pt x="14288" y="28575"/>
                </a:lnTo>
                <a:close/>
                <a:moveTo>
                  <a:pt x="14288" y="100013"/>
                </a:moveTo>
                <a:cubicBezTo>
                  <a:pt x="6385" y="100013"/>
                  <a:pt x="0" y="106397"/>
                  <a:pt x="0" y="114300"/>
                </a:cubicBezTo>
                <a:cubicBezTo>
                  <a:pt x="0" y="122203"/>
                  <a:pt x="6385" y="128588"/>
                  <a:pt x="14288" y="128588"/>
                </a:cubicBezTo>
                <a:lnTo>
                  <a:pt x="124435" y="128588"/>
                </a:lnTo>
                <a:cubicBezTo>
                  <a:pt x="129927" y="141223"/>
                  <a:pt x="142518" y="150019"/>
                  <a:pt x="157163" y="150019"/>
                </a:cubicBezTo>
                <a:cubicBezTo>
                  <a:pt x="171807" y="150019"/>
                  <a:pt x="184398" y="141223"/>
                  <a:pt x="189890" y="128588"/>
                </a:cubicBezTo>
                <a:lnTo>
                  <a:pt x="214313" y="128588"/>
                </a:lnTo>
                <a:cubicBezTo>
                  <a:pt x="222215" y="128588"/>
                  <a:pt x="228600" y="122203"/>
                  <a:pt x="228600" y="114300"/>
                </a:cubicBezTo>
                <a:cubicBezTo>
                  <a:pt x="228600" y="106397"/>
                  <a:pt x="222215" y="100013"/>
                  <a:pt x="214313" y="100013"/>
                </a:cubicBezTo>
                <a:lnTo>
                  <a:pt x="189890" y="100013"/>
                </a:lnTo>
                <a:cubicBezTo>
                  <a:pt x="184398" y="87377"/>
                  <a:pt x="171807" y="78581"/>
                  <a:pt x="157163" y="78581"/>
                </a:cubicBezTo>
                <a:cubicBezTo>
                  <a:pt x="142518" y="78581"/>
                  <a:pt x="129927" y="87377"/>
                  <a:pt x="124435" y="100013"/>
                </a:cubicBezTo>
                <a:lnTo>
                  <a:pt x="14288" y="100013"/>
                </a:lnTo>
                <a:close/>
                <a:moveTo>
                  <a:pt x="14288" y="171450"/>
                </a:moveTo>
                <a:cubicBezTo>
                  <a:pt x="6385" y="171450"/>
                  <a:pt x="0" y="177835"/>
                  <a:pt x="0" y="185738"/>
                </a:cubicBezTo>
                <a:cubicBezTo>
                  <a:pt x="0" y="193640"/>
                  <a:pt x="6385" y="200025"/>
                  <a:pt x="14288" y="200025"/>
                </a:cubicBezTo>
                <a:lnTo>
                  <a:pt x="38710" y="200025"/>
                </a:lnTo>
                <a:cubicBezTo>
                  <a:pt x="44202" y="212661"/>
                  <a:pt x="56793" y="221456"/>
                  <a:pt x="71438" y="221456"/>
                </a:cubicBezTo>
                <a:cubicBezTo>
                  <a:pt x="86082" y="221456"/>
                  <a:pt x="98673" y="212661"/>
                  <a:pt x="104165" y="200025"/>
                </a:cubicBezTo>
                <a:lnTo>
                  <a:pt x="214313" y="200025"/>
                </a:lnTo>
                <a:cubicBezTo>
                  <a:pt x="222215" y="200025"/>
                  <a:pt x="228600" y="193640"/>
                  <a:pt x="228600" y="185738"/>
                </a:cubicBezTo>
                <a:cubicBezTo>
                  <a:pt x="228600" y="177835"/>
                  <a:pt x="222215" y="171450"/>
                  <a:pt x="214313" y="171450"/>
                </a:cubicBezTo>
                <a:lnTo>
                  <a:pt x="104165" y="171450"/>
                </a:lnTo>
                <a:cubicBezTo>
                  <a:pt x="98673" y="158814"/>
                  <a:pt x="86082" y="150019"/>
                  <a:pt x="71438" y="150019"/>
                </a:cubicBezTo>
                <a:cubicBezTo>
                  <a:pt x="56793" y="150019"/>
                  <a:pt x="44202" y="158814"/>
                  <a:pt x="38710" y="171450"/>
                </a:cubicBezTo>
                <a:lnTo>
                  <a:pt x="14288" y="171450"/>
                </a:lnTo>
                <a:close/>
              </a:path>
            </a:pathLst>
          </a:custGeom>
          <a:solidFill>
            <a:srgbClr val="0071E3"/>
          </a:solidFill>
          <a:ln/>
        </p:spPr>
      </p:sp>
      <p:sp>
        <p:nvSpPr>
          <p:cNvPr id="22" name="Text 20"/>
          <p:cNvSpPr/>
          <p:nvPr/>
        </p:nvSpPr>
        <p:spPr>
          <a:xfrm>
            <a:off x="381000" y="4800600"/>
            <a:ext cx="2781300" cy="266700"/>
          </a:xfrm>
          <a:prstGeom prst="rect">
            <a:avLst/>
          </a:prstGeom>
          <a:noFill/>
          <a:ln/>
        </p:spPr>
        <p:txBody>
          <a:bodyPr wrap="square" lIns="0" tIns="0" rIns="0" bIns="0" rtlCol="0" anchor="ctr"/>
          <a:lstStyle/>
          <a:p>
            <a:pPr>
              <a:lnSpc>
                <a:spcPct val="120000"/>
              </a:lnSpc>
            </a:pPr>
            <a:r>
              <a:rPr lang="en-US" sz="1500" b="1" dirty="0">
                <a:solidFill>
                  <a:srgbClr val="1D1D1D"/>
                </a:solidFill>
                <a:latin typeface="Liter" pitchFamily="34" charset="0"/>
                <a:ea typeface="Liter" pitchFamily="34" charset="-122"/>
                <a:cs typeface="Liter" pitchFamily="34" charset="-120"/>
              </a:rPr>
              <a:t>Calibration</a:t>
            </a:r>
            <a:endParaRPr lang="en-US" sz="1600" dirty="0"/>
          </a:p>
        </p:txBody>
      </p:sp>
      <p:sp>
        <p:nvSpPr>
          <p:cNvPr id="23" name="Text 21"/>
          <p:cNvSpPr/>
          <p:nvPr/>
        </p:nvSpPr>
        <p:spPr>
          <a:xfrm>
            <a:off x="381000" y="5181600"/>
            <a:ext cx="2762250" cy="1295400"/>
          </a:xfrm>
          <a:prstGeom prst="rect">
            <a:avLst/>
          </a:prstGeom>
          <a:noFill/>
          <a:ln/>
        </p:spPr>
        <p:txBody>
          <a:bodyPr wrap="square" lIns="0" tIns="0" rIns="0" bIns="0" rtlCol="0" anchor="ctr"/>
          <a:lstStyle/>
          <a:p>
            <a:pPr>
              <a:lnSpc>
                <a:spcPct val="140000"/>
              </a:lnSpc>
            </a:pPr>
            <a:r>
              <a:rPr lang="en-US" sz="1200" dirty="0">
                <a:solidFill>
                  <a:srgbClr val="86868B"/>
                </a:solidFill>
                <a:latin typeface="Liter" pitchFamily="34" charset="0"/>
                <a:ea typeface="Liter" pitchFamily="34" charset="-122"/>
                <a:cs typeface="Liter" pitchFamily="34" charset="-120"/>
              </a:rPr>
              <a:t>Bouton poussoir pour calibration automatique et calcul dynamique des seuils de vigilance</a:t>
            </a:r>
            <a:endParaRPr lang="en-US" sz="1600" dirty="0"/>
          </a:p>
        </p:txBody>
      </p:sp>
      <p:sp>
        <p:nvSpPr>
          <p:cNvPr id="24" name="Shape 22"/>
          <p:cNvSpPr/>
          <p:nvPr/>
        </p:nvSpPr>
        <p:spPr>
          <a:xfrm>
            <a:off x="3295650" y="4076700"/>
            <a:ext cx="533400" cy="533400"/>
          </a:xfrm>
          <a:custGeom>
            <a:avLst/>
            <a:gdLst/>
            <a:ahLst/>
            <a:cxnLst/>
            <a:rect l="l" t="t" r="r" b="b"/>
            <a:pathLst>
              <a:path w="533400" h="533400">
                <a:moveTo>
                  <a:pt x="152398" y="0"/>
                </a:moveTo>
                <a:lnTo>
                  <a:pt x="381002" y="0"/>
                </a:lnTo>
                <a:cubicBezTo>
                  <a:pt x="465113" y="0"/>
                  <a:pt x="533400" y="68287"/>
                  <a:pt x="533400" y="152398"/>
                </a:cubicBezTo>
                <a:lnTo>
                  <a:pt x="533400" y="381002"/>
                </a:lnTo>
                <a:cubicBezTo>
                  <a:pt x="533400" y="465113"/>
                  <a:pt x="465113" y="533400"/>
                  <a:pt x="381002" y="533400"/>
                </a:cubicBezTo>
                <a:lnTo>
                  <a:pt x="152398" y="533400"/>
                </a:lnTo>
                <a:cubicBezTo>
                  <a:pt x="68287" y="533400"/>
                  <a:pt x="0" y="465113"/>
                  <a:pt x="0" y="381002"/>
                </a:cubicBezTo>
                <a:lnTo>
                  <a:pt x="0" y="152398"/>
                </a:lnTo>
                <a:cubicBezTo>
                  <a:pt x="0" y="68287"/>
                  <a:pt x="68287" y="0"/>
                  <a:pt x="152398" y="0"/>
                </a:cubicBezTo>
                <a:close/>
              </a:path>
            </a:pathLst>
          </a:custGeom>
          <a:solidFill>
            <a:srgbClr val="0071E3">
              <a:alpha val="10196"/>
            </a:srgbClr>
          </a:solidFill>
          <a:ln/>
        </p:spPr>
      </p:sp>
      <p:sp>
        <p:nvSpPr>
          <p:cNvPr id="25" name="Shape 23"/>
          <p:cNvSpPr/>
          <p:nvPr/>
        </p:nvSpPr>
        <p:spPr>
          <a:xfrm>
            <a:off x="3433763" y="4229100"/>
            <a:ext cx="257175" cy="228600"/>
          </a:xfrm>
          <a:custGeom>
            <a:avLst/>
            <a:gdLst/>
            <a:ahLst/>
            <a:cxnLst/>
            <a:rect l="l" t="t" r="r" b="b"/>
            <a:pathLst>
              <a:path w="257175" h="228600">
                <a:moveTo>
                  <a:pt x="128588" y="42863"/>
                </a:moveTo>
                <a:cubicBezTo>
                  <a:pt x="88002" y="42863"/>
                  <a:pt x="51256" y="58936"/>
                  <a:pt x="24244" y="85100"/>
                </a:cubicBezTo>
                <a:cubicBezTo>
                  <a:pt x="18574" y="90592"/>
                  <a:pt x="9510" y="90458"/>
                  <a:pt x="4063" y="84787"/>
                </a:cubicBezTo>
                <a:cubicBezTo>
                  <a:pt x="-1384" y="79117"/>
                  <a:pt x="-1295" y="70053"/>
                  <a:pt x="4376" y="64606"/>
                </a:cubicBezTo>
                <a:cubicBezTo>
                  <a:pt x="36478" y="33442"/>
                  <a:pt x="80323" y="14288"/>
                  <a:pt x="128588" y="14288"/>
                </a:cubicBezTo>
                <a:cubicBezTo>
                  <a:pt x="176852" y="14288"/>
                  <a:pt x="220697" y="33442"/>
                  <a:pt x="252844" y="64606"/>
                </a:cubicBezTo>
                <a:cubicBezTo>
                  <a:pt x="258514" y="70098"/>
                  <a:pt x="258648" y="79162"/>
                  <a:pt x="253157" y="84787"/>
                </a:cubicBezTo>
                <a:cubicBezTo>
                  <a:pt x="247665" y="90413"/>
                  <a:pt x="238601" y="90592"/>
                  <a:pt x="232976" y="85100"/>
                </a:cubicBezTo>
                <a:cubicBezTo>
                  <a:pt x="205919" y="58936"/>
                  <a:pt x="169173" y="42863"/>
                  <a:pt x="128588" y="42863"/>
                </a:cubicBezTo>
                <a:close/>
                <a:moveTo>
                  <a:pt x="107156" y="192881"/>
                </a:moveTo>
                <a:cubicBezTo>
                  <a:pt x="107156" y="181053"/>
                  <a:pt x="116759" y="171450"/>
                  <a:pt x="128588" y="171450"/>
                </a:cubicBezTo>
                <a:cubicBezTo>
                  <a:pt x="140416" y="171450"/>
                  <a:pt x="150019" y="181053"/>
                  <a:pt x="150019" y="192881"/>
                </a:cubicBezTo>
                <a:cubicBezTo>
                  <a:pt x="150019" y="204709"/>
                  <a:pt x="140416" y="214313"/>
                  <a:pt x="128588" y="214313"/>
                </a:cubicBezTo>
                <a:cubicBezTo>
                  <a:pt x="116759" y="214313"/>
                  <a:pt x="107156" y="204709"/>
                  <a:pt x="107156" y="192881"/>
                </a:cubicBezTo>
                <a:close/>
                <a:moveTo>
                  <a:pt x="75009" y="145643"/>
                </a:moveTo>
                <a:cubicBezTo>
                  <a:pt x="69786" y="151581"/>
                  <a:pt x="60767" y="152117"/>
                  <a:pt x="54828" y="146893"/>
                </a:cubicBezTo>
                <a:cubicBezTo>
                  <a:pt x="48890" y="141669"/>
                  <a:pt x="48354" y="132651"/>
                  <a:pt x="53578" y="126712"/>
                </a:cubicBezTo>
                <a:cubicBezTo>
                  <a:pt x="71884" y="105995"/>
                  <a:pt x="98718" y="92869"/>
                  <a:pt x="128588" y="92869"/>
                </a:cubicBezTo>
                <a:cubicBezTo>
                  <a:pt x="158457" y="92869"/>
                  <a:pt x="185291" y="105995"/>
                  <a:pt x="203597" y="126712"/>
                </a:cubicBezTo>
                <a:cubicBezTo>
                  <a:pt x="208821" y="132651"/>
                  <a:pt x="208240" y="141669"/>
                  <a:pt x="202347" y="146893"/>
                </a:cubicBezTo>
                <a:cubicBezTo>
                  <a:pt x="196453" y="152117"/>
                  <a:pt x="187389" y="151537"/>
                  <a:pt x="182166" y="145643"/>
                </a:cubicBezTo>
                <a:cubicBezTo>
                  <a:pt x="169039" y="130775"/>
                  <a:pt x="149929" y="121444"/>
                  <a:pt x="128588" y="121444"/>
                </a:cubicBezTo>
                <a:cubicBezTo>
                  <a:pt x="107246" y="121444"/>
                  <a:pt x="88136" y="130775"/>
                  <a:pt x="75009" y="145643"/>
                </a:cubicBezTo>
                <a:close/>
              </a:path>
            </a:pathLst>
          </a:custGeom>
          <a:solidFill>
            <a:srgbClr val="0071E3"/>
          </a:solidFill>
          <a:ln/>
        </p:spPr>
      </p:sp>
      <p:sp>
        <p:nvSpPr>
          <p:cNvPr id="26" name="Text 24"/>
          <p:cNvSpPr/>
          <p:nvPr/>
        </p:nvSpPr>
        <p:spPr>
          <a:xfrm>
            <a:off x="3295650" y="4800600"/>
            <a:ext cx="2781300" cy="266700"/>
          </a:xfrm>
          <a:prstGeom prst="rect">
            <a:avLst/>
          </a:prstGeom>
          <a:noFill/>
          <a:ln/>
        </p:spPr>
        <p:txBody>
          <a:bodyPr wrap="square" lIns="0" tIns="0" rIns="0" bIns="0" rtlCol="0" anchor="ctr"/>
          <a:lstStyle/>
          <a:p>
            <a:pPr>
              <a:lnSpc>
                <a:spcPct val="120000"/>
              </a:lnSpc>
            </a:pPr>
            <a:r>
              <a:rPr lang="en-US" sz="1500" b="1" dirty="0">
                <a:solidFill>
                  <a:srgbClr val="1D1D1D"/>
                </a:solidFill>
                <a:latin typeface="Liter" pitchFamily="34" charset="0"/>
                <a:ea typeface="Liter" pitchFamily="34" charset="-122"/>
                <a:cs typeface="Liter" pitchFamily="34" charset="-120"/>
              </a:rPr>
              <a:t>Connectivité WiFi</a:t>
            </a:r>
            <a:endParaRPr lang="en-US" sz="1600" dirty="0"/>
          </a:p>
        </p:txBody>
      </p:sp>
      <p:sp>
        <p:nvSpPr>
          <p:cNvPr id="27" name="Text 25"/>
          <p:cNvSpPr/>
          <p:nvPr/>
        </p:nvSpPr>
        <p:spPr>
          <a:xfrm>
            <a:off x="3295650" y="5181600"/>
            <a:ext cx="2762250" cy="1295400"/>
          </a:xfrm>
          <a:prstGeom prst="rect">
            <a:avLst/>
          </a:prstGeom>
          <a:noFill/>
          <a:ln/>
        </p:spPr>
        <p:txBody>
          <a:bodyPr wrap="square" lIns="0" tIns="0" rIns="0" bIns="0" rtlCol="0" anchor="ctr"/>
          <a:lstStyle/>
          <a:p>
            <a:pPr>
              <a:lnSpc>
                <a:spcPct val="140000"/>
              </a:lnSpc>
            </a:pPr>
            <a:r>
              <a:rPr lang="en-US" sz="1200" dirty="0">
                <a:solidFill>
                  <a:srgbClr val="86868B"/>
                </a:solidFill>
                <a:latin typeface="Liter" pitchFamily="34" charset="0"/>
                <a:ea typeface="Liter" pitchFamily="34" charset="-122"/>
                <a:cs typeface="Liter" pitchFamily="34" charset="-120"/>
              </a:rPr>
              <a:t>ESP32 avec WiFi intégré pour monitoring distant et serveur web embarqué accessible sur le réseau local</a:t>
            </a:r>
            <a:endParaRPr lang="en-US" sz="1600" dirty="0"/>
          </a:p>
        </p:txBody>
      </p:sp>
      <p:sp>
        <p:nvSpPr>
          <p:cNvPr id="28" name="Shape 26"/>
          <p:cNvSpPr/>
          <p:nvPr/>
        </p:nvSpPr>
        <p:spPr>
          <a:xfrm>
            <a:off x="6210300" y="4076700"/>
            <a:ext cx="533400" cy="533400"/>
          </a:xfrm>
          <a:custGeom>
            <a:avLst/>
            <a:gdLst/>
            <a:ahLst/>
            <a:cxnLst/>
            <a:rect l="l" t="t" r="r" b="b"/>
            <a:pathLst>
              <a:path w="533400" h="533400">
                <a:moveTo>
                  <a:pt x="152398" y="0"/>
                </a:moveTo>
                <a:lnTo>
                  <a:pt x="381002" y="0"/>
                </a:lnTo>
                <a:cubicBezTo>
                  <a:pt x="465113" y="0"/>
                  <a:pt x="533400" y="68287"/>
                  <a:pt x="533400" y="152398"/>
                </a:cubicBezTo>
                <a:lnTo>
                  <a:pt x="533400" y="381002"/>
                </a:lnTo>
                <a:cubicBezTo>
                  <a:pt x="533400" y="465113"/>
                  <a:pt x="465113" y="533400"/>
                  <a:pt x="381002" y="533400"/>
                </a:cubicBezTo>
                <a:lnTo>
                  <a:pt x="152398" y="533400"/>
                </a:lnTo>
                <a:cubicBezTo>
                  <a:pt x="68287" y="533400"/>
                  <a:pt x="0" y="465113"/>
                  <a:pt x="0" y="381002"/>
                </a:cubicBezTo>
                <a:lnTo>
                  <a:pt x="0" y="152398"/>
                </a:lnTo>
                <a:cubicBezTo>
                  <a:pt x="0" y="68287"/>
                  <a:pt x="68287" y="0"/>
                  <a:pt x="152398" y="0"/>
                </a:cubicBezTo>
                <a:close/>
              </a:path>
            </a:pathLst>
          </a:custGeom>
          <a:solidFill>
            <a:srgbClr val="0071E3">
              <a:alpha val="10196"/>
            </a:srgbClr>
          </a:solidFill>
          <a:ln/>
        </p:spPr>
      </p:sp>
      <p:sp>
        <p:nvSpPr>
          <p:cNvPr id="29" name="Shape 27"/>
          <p:cNvSpPr/>
          <p:nvPr/>
        </p:nvSpPr>
        <p:spPr>
          <a:xfrm>
            <a:off x="6362700" y="4229100"/>
            <a:ext cx="228600" cy="228600"/>
          </a:xfrm>
          <a:custGeom>
            <a:avLst/>
            <a:gdLst/>
            <a:ahLst/>
            <a:cxnLst/>
            <a:rect l="l" t="t" r="r" b="b"/>
            <a:pathLst>
              <a:path w="228600" h="228600">
                <a:moveTo>
                  <a:pt x="28575" y="14288"/>
                </a:moveTo>
                <a:cubicBezTo>
                  <a:pt x="12814" y="14288"/>
                  <a:pt x="0" y="27102"/>
                  <a:pt x="0" y="42863"/>
                </a:cubicBezTo>
                <a:lnTo>
                  <a:pt x="0" y="157163"/>
                </a:lnTo>
                <a:cubicBezTo>
                  <a:pt x="0" y="172923"/>
                  <a:pt x="12814" y="185738"/>
                  <a:pt x="28575" y="185738"/>
                </a:cubicBezTo>
                <a:lnTo>
                  <a:pt x="92869" y="185738"/>
                </a:lnTo>
                <a:lnTo>
                  <a:pt x="85725" y="207169"/>
                </a:lnTo>
                <a:lnTo>
                  <a:pt x="53578" y="207169"/>
                </a:lnTo>
                <a:cubicBezTo>
                  <a:pt x="47640" y="207169"/>
                  <a:pt x="42863" y="211946"/>
                  <a:pt x="42863" y="217884"/>
                </a:cubicBezTo>
                <a:cubicBezTo>
                  <a:pt x="42863" y="223823"/>
                  <a:pt x="47640" y="228600"/>
                  <a:pt x="53578" y="228600"/>
                </a:cubicBezTo>
                <a:lnTo>
                  <a:pt x="175022" y="228600"/>
                </a:lnTo>
                <a:cubicBezTo>
                  <a:pt x="180960" y="228600"/>
                  <a:pt x="185738" y="223823"/>
                  <a:pt x="185738" y="217884"/>
                </a:cubicBezTo>
                <a:cubicBezTo>
                  <a:pt x="185738" y="211946"/>
                  <a:pt x="180960" y="207169"/>
                  <a:pt x="175022" y="207169"/>
                </a:cubicBezTo>
                <a:lnTo>
                  <a:pt x="142875" y="207169"/>
                </a:lnTo>
                <a:lnTo>
                  <a:pt x="135731" y="185738"/>
                </a:lnTo>
                <a:lnTo>
                  <a:pt x="200025" y="185738"/>
                </a:lnTo>
                <a:cubicBezTo>
                  <a:pt x="215786" y="185738"/>
                  <a:pt x="228600" y="172923"/>
                  <a:pt x="228600" y="157163"/>
                </a:cubicBezTo>
                <a:lnTo>
                  <a:pt x="228600" y="42863"/>
                </a:lnTo>
                <a:cubicBezTo>
                  <a:pt x="228600" y="27102"/>
                  <a:pt x="215786" y="14288"/>
                  <a:pt x="200025" y="14288"/>
                </a:cubicBezTo>
                <a:lnTo>
                  <a:pt x="28575" y="14288"/>
                </a:lnTo>
                <a:close/>
                <a:moveTo>
                  <a:pt x="42863" y="42863"/>
                </a:moveTo>
                <a:lnTo>
                  <a:pt x="185738" y="42863"/>
                </a:lnTo>
                <a:cubicBezTo>
                  <a:pt x="193640" y="42863"/>
                  <a:pt x="200025" y="49247"/>
                  <a:pt x="200025" y="57150"/>
                </a:cubicBezTo>
                <a:lnTo>
                  <a:pt x="200025" y="128588"/>
                </a:lnTo>
                <a:cubicBezTo>
                  <a:pt x="200025" y="136490"/>
                  <a:pt x="193640" y="142875"/>
                  <a:pt x="185738" y="142875"/>
                </a:cubicBezTo>
                <a:lnTo>
                  <a:pt x="42863" y="142875"/>
                </a:lnTo>
                <a:cubicBezTo>
                  <a:pt x="34960" y="142875"/>
                  <a:pt x="28575" y="136490"/>
                  <a:pt x="28575" y="128588"/>
                </a:cubicBezTo>
                <a:lnTo>
                  <a:pt x="28575" y="57150"/>
                </a:lnTo>
                <a:cubicBezTo>
                  <a:pt x="28575" y="49247"/>
                  <a:pt x="34960" y="42863"/>
                  <a:pt x="42863" y="42863"/>
                </a:cubicBezTo>
                <a:close/>
              </a:path>
            </a:pathLst>
          </a:custGeom>
          <a:solidFill>
            <a:srgbClr val="0071E3"/>
          </a:solidFill>
          <a:ln/>
        </p:spPr>
      </p:sp>
      <p:sp>
        <p:nvSpPr>
          <p:cNvPr id="30" name="Text 28"/>
          <p:cNvSpPr/>
          <p:nvPr/>
        </p:nvSpPr>
        <p:spPr>
          <a:xfrm>
            <a:off x="6210300" y="4800600"/>
            <a:ext cx="2781300" cy="266700"/>
          </a:xfrm>
          <a:prstGeom prst="rect">
            <a:avLst/>
          </a:prstGeom>
          <a:noFill/>
          <a:ln/>
        </p:spPr>
        <p:txBody>
          <a:bodyPr wrap="square" lIns="0" tIns="0" rIns="0" bIns="0" rtlCol="0" anchor="ctr"/>
          <a:lstStyle/>
          <a:p>
            <a:pPr>
              <a:lnSpc>
                <a:spcPct val="120000"/>
              </a:lnSpc>
            </a:pPr>
            <a:r>
              <a:rPr lang="en-US" sz="1500" b="1" dirty="0">
                <a:solidFill>
                  <a:srgbClr val="1D1D1D"/>
                </a:solidFill>
                <a:latin typeface="Liter" pitchFamily="34" charset="0"/>
                <a:ea typeface="Liter" pitchFamily="34" charset="-122"/>
                <a:cs typeface="Liter" pitchFamily="34" charset="-120"/>
              </a:rPr>
              <a:t>Dashboard web</a:t>
            </a:r>
            <a:endParaRPr lang="en-US" sz="1600" dirty="0"/>
          </a:p>
        </p:txBody>
      </p:sp>
      <p:sp>
        <p:nvSpPr>
          <p:cNvPr id="31" name="Text 29"/>
          <p:cNvSpPr/>
          <p:nvPr/>
        </p:nvSpPr>
        <p:spPr>
          <a:xfrm>
            <a:off x="6210300" y="5181600"/>
            <a:ext cx="2762250" cy="1295400"/>
          </a:xfrm>
          <a:prstGeom prst="rect">
            <a:avLst/>
          </a:prstGeom>
          <a:noFill/>
          <a:ln/>
        </p:spPr>
        <p:txBody>
          <a:bodyPr wrap="square" lIns="0" tIns="0" rIns="0" bIns="0" rtlCol="0" anchor="ctr"/>
          <a:lstStyle/>
          <a:p>
            <a:pPr>
              <a:lnSpc>
                <a:spcPct val="140000"/>
              </a:lnSpc>
            </a:pPr>
            <a:r>
              <a:rPr lang="en-US" sz="1200" dirty="0">
                <a:solidFill>
                  <a:srgbClr val="86868B"/>
                </a:solidFill>
                <a:latin typeface="Liter" pitchFamily="34" charset="0"/>
                <a:ea typeface="Liter" pitchFamily="34" charset="-122"/>
                <a:cs typeface="Liter" pitchFamily="34" charset="-120"/>
              </a:rPr>
              <a:t>Interface responsive avec mise à jour automatique toutes les 2 secondes via JavaScript et API REST</a:t>
            </a:r>
            <a:endParaRPr lang="en-US" sz="1600" dirty="0"/>
          </a:p>
        </p:txBody>
      </p:sp>
      <p:sp>
        <p:nvSpPr>
          <p:cNvPr id="32" name="Shape 30"/>
          <p:cNvSpPr/>
          <p:nvPr/>
        </p:nvSpPr>
        <p:spPr>
          <a:xfrm>
            <a:off x="9124950" y="4076700"/>
            <a:ext cx="533400" cy="533400"/>
          </a:xfrm>
          <a:custGeom>
            <a:avLst/>
            <a:gdLst/>
            <a:ahLst/>
            <a:cxnLst/>
            <a:rect l="l" t="t" r="r" b="b"/>
            <a:pathLst>
              <a:path w="533400" h="533400">
                <a:moveTo>
                  <a:pt x="152398" y="0"/>
                </a:moveTo>
                <a:lnTo>
                  <a:pt x="381002" y="0"/>
                </a:lnTo>
                <a:cubicBezTo>
                  <a:pt x="465113" y="0"/>
                  <a:pt x="533400" y="68287"/>
                  <a:pt x="533400" y="152398"/>
                </a:cubicBezTo>
                <a:lnTo>
                  <a:pt x="533400" y="381002"/>
                </a:lnTo>
                <a:cubicBezTo>
                  <a:pt x="533400" y="465113"/>
                  <a:pt x="465113" y="533400"/>
                  <a:pt x="381002" y="533400"/>
                </a:cubicBezTo>
                <a:lnTo>
                  <a:pt x="152398" y="533400"/>
                </a:lnTo>
                <a:cubicBezTo>
                  <a:pt x="68287" y="533400"/>
                  <a:pt x="0" y="465113"/>
                  <a:pt x="0" y="381002"/>
                </a:cubicBezTo>
                <a:lnTo>
                  <a:pt x="0" y="152398"/>
                </a:lnTo>
                <a:cubicBezTo>
                  <a:pt x="0" y="68287"/>
                  <a:pt x="68287" y="0"/>
                  <a:pt x="152398" y="0"/>
                </a:cubicBezTo>
                <a:close/>
              </a:path>
            </a:pathLst>
          </a:custGeom>
          <a:solidFill>
            <a:srgbClr val="0071E3">
              <a:alpha val="10196"/>
            </a:srgbClr>
          </a:solidFill>
          <a:ln/>
        </p:spPr>
      </p:sp>
      <p:sp>
        <p:nvSpPr>
          <p:cNvPr id="33" name="Shape 31"/>
          <p:cNvSpPr/>
          <p:nvPr/>
        </p:nvSpPr>
        <p:spPr>
          <a:xfrm>
            <a:off x="9263063" y="4229100"/>
            <a:ext cx="257175" cy="228600"/>
          </a:xfrm>
          <a:custGeom>
            <a:avLst/>
            <a:gdLst/>
            <a:ahLst/>
            <a:cxnLst/>
            <a:rect l="l" t="t" r="r" b="b"/>
            <a:pathLst>
              <a:path w="257175" h="228600">
                <a:moveTo>
                  <a:pt x="64294" y="214313"/>
                </a:moveTo>
                <a:cubicBezTo>
                  <a:pt x="28798" y="214313"/>
                  <a:pt x="0" y="185514"/>
                  <a:pt x="0" y="150019"/>
                </a:cubicBezTo>
                <a:cubicBezTo>
                  <a:pt x="0" y="121712"/>
                  <a:pt x="18306" y="97691"/>
                  <a:pt x="43711" y="89074"/>
                </a:cubicBezTo>
                <a:cubicBezTo>
                  <a:pt x="43130" y="85636"/>
                  <a:pt x="42863" y="82153"/>
                  <a:pt x="42863" y="78581"/>
                </a:cubicBezTo>
                <a:cubicBezTo>
                  <a:pt x="42863" y="43086"/>
                  <a:pt x="71661" y="14288"/>
                  <a:pt x="107156" y="14288"/>
                </a:cubicBezTo>
                <a:cubicBezTo>
                  <a:pt x="131891" y="14288"/>
                  <a:pt x="153367" y="28262"/>
                  <a:pt x="164128" y="48711"/>
                </a:cubicBezTo>
                <a:cubicBezTo>
                  <a:pt x="170468" y="45006"/>
                  <a:pt x="177879" y="42863"/>
                  <a:pt x="185738" y="42863"/>
                </a:cubicBezTo>
                <a:cubicBezTo>
                  <a:pt x="209401" y="42863"/>
                  <a:pt x="228600" y="62061"/>
                  <a:pt x="228600" y="85725"/>
                </a:cubicBezTo>
                <a:cubicBezTo>
                  <a:pt x="228600" y="92735"/>
                  <a:pt x="226903" y="99387"/>
                  <a:pt x="223912" y="105236"/>
                </a:cubicBezTo>
                <a:cubicBezTo>
                  <a:pt x="243557" y="114300"/>
                  <a:pt x="257175" y="134124"/>
                  <a:pt x="257175" y="157163"/>
                </a:cubicBezTo>
                <a:cubicBezTo>
                  <a:pt x="257175" y="188729"/>
                  <a:pt x="231591" y="214313"/>
                  <a:pt x="200025" y="214313"/>
                </a:cubicBezTo>
                <a:lnTo>
                  <a:pt x="64294" y="214313"/>
                </a:lnTo>
                <a:close/>
                <a:moveTo>
                  <a:pt x="136178" y="85279"/>
                </a:moveTo>
                <a:cubicBezTo>
                  <a:pt x="131981" y="81082"/>
                  <a:pt x="125194" y="81082"/>
                  <a:pt x="121042" y="85279"/>
                </a:cubicBezTo>
                <a:lnTo>
                  <a:pt x="88895" y="117425"/>
                </a:lnTo>
                <a:cubicBezTo>
                  <a:pt x="84698" y="121622"/>
                  <a:pt x="84698" y="128409"/>
                  <a:pt x="88895" y="132561"/>
                </a:cubicBezTo>
                <a:cubicBezTo>
                  <a:pt x="93092" y="136714"/>
                  <a:pt x="99879" y="136758"/>
                  <a:pt x="104031" y="132561"/>
                </a:cubicBezTo>
                <a:lnTo>
                  <a:pt x="117872" y="118720"/>
                </a:lnTo>
                <a:lnTo>
                  <a:pt x="117872" y="164306"/>
                </a:lnTo>
                <a:cubicBezTo>
                  <a:pt x="117872" y="170244"/>
                  <a:pt x="122649" y="175022"/>
                  <a:pt x="128588" y="175022"/>
                </a:cubicBezTo>
                <a:cubicBezTo>
                  <a:pt x="134526" y="175022"/>
                  <a:pt x="139303" y="170244"/>
                  <a:pt x="139303" y="164306"/>
                </a:cubicBezTo>
                <a:lnTo>
                  <a:pt x="139303" y="118720"/>
                </a:lnTo>
                <a:lnTo>
                  <a:pt x="153144" y="132561"/>
                </a:lnTo>
                <a:cubicBezTo>
                  <a:pt x="157341" y="136758"/>
                  <a:pt x="164128" y="136758"/>
                  <a:pt x="168280" y="132561"/>
                </a:cubicBezTo>
                <a:cubicBezTo>
                  <a:pt x="172432" y="128364"/>
                  <a:pt x="172477" y="121578"/>
                  <a:pt x="168280" y="117425"/>
                </a:cubicBezTo>
                <a:lnTo>
                  <a:pt x="136133" y="85279"/>
                </a:lnTo>
                <a:close/>
              </a:path>
            </a:pathLst>
          </a:custGeom>
          <a:solidFill>
            <a:srgbClr val="0071E3"/>
          </a:solidFill>
          <a:ln/>
        </p:spPr>
      </p:sp>
      <p:sp>
        <p:nvSpPr>
          <p:cNvPr id="34" name="Text 32"/>
          <p:cNvSpPr/>
          <p:nvPr/>
        </p:nvSpPr>
        <p:spPr>
          <a:xfrm>
            <a:off x="9124950" y="4800600"/>
            <a:ext cx="2781300" cy="266700"/>
          </a:xfrm>
          <a:prstGeom prst="rect">
            <a:avLst/>
          </a:prstGeom>
          <a:noFill/>
          <a:ln/>
        </p:spPr>
        <p:txBody>
          <a:bodyPr wrap="square" lIns="0" tIns="0" rIns="0" bIns="0" rtlCol="0" anchor="ctr"/>
          <a:lstStyle/>
          <a:p>
            <a:pPr>
              <a:lnSpc>
                <a:spcPct val="120000"/>
              </a:lnSpc>
            </a:pPr>
            <a:r>
              <a:rPr lang="en-US" sz="1500" b="1" dirty="0">
                <a:solidFill>
                  <a:srgbClr val="1D1D1D"/>
                </a:solidFill>
                <a:latin typeface="Liter" pitchFamily="34" charset="0"/>
                <a:ea typeface="Liter" pitchFamily="34" charset="-122"/>
                <a:cs typeface="Liter" pitchFamily="34" charset="-120"/>
              </a:rPr>
              <a:t>Cloud Firebase</a:t>
            </a:r>
            <a:endParaRPr lang="en-US" sz="1600" dirty="0"/>
          </a:p>
        </p:txBody>
      </p:sp>
      <p:sp>
        <p:nvSpPr>
          <p:cNvPr id="35" name="Text 33"/>
          <p:cNvSpPr/>
          <p:nvPr/>
        </p:nvSpPr>
        <p:spPr>
          <a:xfrm>
            <a:off x="9124950" y="5181600"/>
            <a:ext cx="2762250" cy="1295400"/>
          </a:xfrm>
          <a:prstGeom prst="rect">
            <a:avLst/>
          </a:prstGeom>
          <a:noFill/>
          <a:ln/>
        </p:spPr>
        <p:txBody>
          <a:bodyPr wrap="square" lIns="0" tIns="0" rIns="0" bIns="0" rtlCol="0" anchor="ctr"/>
          <a:lstStyle/>
          <a:p>
            <a:pPr>
              <a:lnSpc>
                <a:spcPct val="140000"/>
              </a:lnSpc>
            </a:pPr>
            <a:r>
              <a:rPr lang="en-US" sz="1200" dirty="0">
                <a:solidFill>
                  <a:srgbClr val="86868B"/>
                </a:solidFill>
                <a:latin typeface="Liter" pitchFamily="34" charset="0"/>
                <a:ea typeface="Liter" pitchFamily="34" charset="-122"/>
                <a:cs typeface="Liter" pitchFamily="34" charset="-120"/>
              </a:rPr>
              <a:t>Stockage temps réel dans Firebase Realtime Database pour historique et analyse des données</a:t>
            </a:r>
            <a:endParaRPr lang="en-US" sz="1600"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381000" y="1079183"/>
            <a:ext cx="2095857" cy="1737360"/>
          </a:xfrm>
          <a:prstGeom prst="rect">
            <a:avLst/>
          </a:prstGeom>
          <a:noFill/>
          <a:ln/>
        </p:spPr>
        <p:txBody>
          <a:bodyPr wrap="square" lIns="0" tIns="0" rIns="0" bIns="0" rtlCol="0" anchor="ctr"/>
          <a:lstStyle/>
          <a:p>
            <a:pPr>
              <a:lnSpc>
                <a:spcPct val="80000"/>
              </a:lnSpc>
            </a:pPr>
            <a:r>
              <a:rPr lang="en-US" sz="9600" b="1" dirty="0">
                <a:solidFill>
                  <a:srgbClr val="0071E3"/>
                </a:solidFill>
                <a:latin typeface="Liter" pitchFamily="34" charset="0"/>
                <a:ea typeface="Liter" pitchFamily="34" charset="-122"/>
                <a:cs typeface="Liter" pitchFamily="34" charset="-120"/>
              </a:rPr>
              <a:t>02</a:t>
            </a:r>
            <a:endParaRPr lang="en-US" sz="1600" dirty="0"/>
          </a:p>
        </p:txBody>
      </p:sp>
      <p:sp>
        <p:nvSpPr>
          <p:cNvPr id="3" name="Text 1"/>
          <p:cNvSpPr/>
          <p:nvPr/>
        </p:nvSpPr>
        <p:spPr>
          <a:xfrm>
            <a:off x="381000" y="2862263"/>
            <a:ext cx="11772900" cy="1714500"/>
          </a:xfrm>
          <a:prstGeom prst="rect">
            <a:avLst/>
          </a:prstGeom>
          <a:noFill/>
          <a:ln/>
        </p:spPr>
        <p:txBody>
          <a:bodyPr wrap="square" lIns="0" tIns="0" rIns="0" bIns="0" rtlCol="0" anchor="ctr"/>
          <a:lstStyle/>
          <a:p>
            <a:pPr>
              <a:lnSpc>
                <a:spcPct val="100000"/>
              </a:lnSpc>
            </a:pPr>
            <a:r>
              <a:rPr lang="en-US" sz="5400" b="1" dirty="0">
                <a:solidFill>
                  <a:srgbClr val="1D1D1D"/>
                </a:solidFill>
                <a:latin typeface="Liter" pitchFamily="34" charset="0"/>
                <a:ea typeface="Liter" pitchFamily="34" charset="-122"/>
                <a:cs typeface="Liter" pitchFamily="34" charset="-120"/>
              </a:rPr>
              <a:t>Présentation des</a:t>
            </a:r>
            <a:endParaRPr lang="en-US" sz="1600" dirty="0"/>
          </a:p>
          <a:p>
            <a:pPr>
              <a:lnSpc>
                <a:spcPct val="100000"/>
              </a:lnSpc>
            </a:pPr>
            <a:r>
              <a:rPr lang="en-US" sz="5400" b="1" dirty="0">
                <a:solidFill>
                  <a:srgbClr val="1D1D1D"/>
                </a:solidFill>
                <a:latin typeface="Liter" pitchFamily="34" charset="0"/>
                <a:ea typeface="Liter" pitchFamily="34" charset="-122"/>
                <a:cs typeface="Liter" pitchFamily="34" charset="-120"/>
              </a:rPr>
              <a:t>composants</a:t>
            </a:r>
            <a:endParaRPr lang="en-US" sz="1600" dirty="0"/>
          </a:p>
        </p:txBody>
      </p:sp>
      <p:sp>
        <p:nvSpPr>
          <p:cNvPr id="4" name="Shape 2"/>
          <p:cNvSpPr/>
          <p:nvPr/>
        </p:nvSpPr>
        <p:spPr>
          <a:xfrm>
            <a:off x="381000" y="4805363"/>
            <a:ext cx="1219200" cy="38100"/>
          </a:xfrm>
          <a:custGeom>
            <a:avLst/>
            <a:gdLst/>
            <a:ahLst/>
            <a:cxnLst/>
            <a:rect l="l" t="t" r="r" b="b"/>
            <a:pathLst>
              <a:path w="1219200" h="38100">
                <a:moveTo>
                  <a:pt x="0" y="0"/>
                </a:moveTo>
                <a:lnTo>
                  <a:pt x="1219200" y="0"/>
                </a:lnTo>
                <a:lnTo>
                  <a:pt x="1219200" y="38100"/>
                </a:lnTo>
                <a:lnTo>
                  <a:pt x="0" y="38100"/>
                </a:lnTo>
                <a:lnTo>
                  <a:pt x="0" y="0"/>
                </a:lnTo>
                <a:close/>
              </a:path>
            </a:pathLst>
          </a:custGeom>
          <a:solidFill>
            <a:srgbClr val="0071E3"/>
          </a:solidFill>
          <a:ln/>
        </p:spPr>
      </p:sp>
      <p:sp>
        <p:nvSpPr>
          <p:cNvPr id="5" name="Text 3"/>
          <p:cNvSpPr/>
          <p:nvPr/>
        </p:nvSpPr>
        <p:spPr>
          <a:xfrm>
            <a:off x="381000" y="5148263"/>
            <a:ext cx="7429500" cy="371475"/>
          </a:xfrm>
          <a:prstGeom prst="rect">
            <a:avLst/>
          </a:prstGeom>
          <a:noFill/>
          <a:ln/>
        </p:spPr>
        <p:txBody>
          <a:bodyPr wrap="square" lIns="0" tIns="0" rIns="0" bIns="0" rtlCol="0" anchor="ctr"/>
          <a:lstStyle/>
          <a:p>
            <a:pPr>
              <a:lnSpc>
                <a:spcPct val="140000"/>
              </a:lnSpc>
            </a:pPr>
            <a:r>
              <a:rPr lang="en-US" sz="1800" dirty="0">
                <a:solidFill>
                  <a:srgbClr val="86868B"/>
                </a:solidFill>
                <a:latin typeface="Liter" pitchFamily="34" charset="0"/>
                <a:ea typeface="Liter" pitchFamily="34" charset="-122"/>
                <a:cs typeface="Liter" pitchFamily="34" charset="-120"/>
              </a:rPr>
              <a:t>ESP32, capteur ultrasonique, afficheur, LEDs et interfaces</a:t>
            </a:r>
            <a:endParaRPr lang="en-US" sz="1600"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332207" y="332207"/>
            <a:ext cx="11585722" cy="166104"/>
          </a:xfrm>
          <a:prstGeom prst="rect">
            <a:avLst/>
          </a:prstGeom>
          <a:noFill/>
          <a:ln/>
        </p:spPr>
        <p:txBody>
          <a:bodyPr wrap="square" lIns="0" tIns="0" rIns="0" bIns="0" rtlCol="0" anchor="ctr"/>
          <a:lstStyle/>
          <a:p>
            <a:pPr>
              <a:lnSpc>
                <a:spcPct val="120000"/>
              </a:lnSpc>
            </a:pPr>
            <a:r>
              <a:rPr lang="en-US" sz="916" b="1" kern="0" spc="92" dirty="0">
                <a:solidFill>
                  <a:srgbClr val="86868B"/>
                </a:solidFill>
                <a:latin typeface="Liter" pitchFamily="34" charset="0"/>
                <a:ea typeface="Liter" pitchFamily="34" charset="-122"/>
                <a:cs typeface="Liter" pitchFamily="34" charset="-120"/>
              </a:rPr>
              <a:t>02 / MATÉRIEL</a:t>
            </a:r>
            <a:endParaRPr lang="en-US" sz="1600" dirty="0"/>
          </a:p>
        </p:txBody>
      </p:sp>
      <p:sp>
        <p:nvSpPr>
          <p:cNvPr id="3" name="Text 1"/>
          <p:cNvSpPr/>
          <p:nvPr/>
        </p:nvSpPr>
        <p:spPr>
          <a:xfrm>
            <a:off x="332207" y="597973"/>
            <a:ext cx="11726910" cy="398649"/>
          </a:xfrm>
          <a:prstGeom prst="rect">
            <a:avLst/>
          </a:prstGeom>
          <a:noFill/>
          <a:ln/>
        </p:spPr>
        <p:txBody>
          <a:bodyPr wrap="square" lIns="0" tIns="0" rIns="0" bIns="0" rtlCol="0" anchor="ctr"/>
          <a:lstStyle/>
          <a:p>
            <a:pPr>
              <a:lnSpc>
                <a:spcPct val="80000"/>
              </a:lnSpc>
            </a:pPr>
            <a:r>
              <a:rPr lang="en-US" sz="3139" b="1" dirty="0">
                <a:solidFill>
                  <a:srgbClr val="1D1D1D"/>
                </a:solidFill>
                <a:latin typeface="Liter" pitchFamily="34" charset="0"/>
                <a:ea typeface="Liter" pitchFamily="34" charset="-122"/>
                <a:cs typeface="Liter" pitchFamily="34" charset="-120"/>
              </a:rPr>
              <a:t>Matériel utilisé</a:t>
            </a:r>
            <a:endParaRPr lang="en-US" sz="1600" dirty="0"/>
          </a:p>
        </p:txBody>
      </p:sp>
      <p:sp>
        <p:nvSpPr>
          <p:cNvPr id="4" name="Shape 2"/>
          <p:cNvSpPr/>
          <p:nvPr/>
        </p:nvSpPr>
        <p:spPr>
          <a:xfrm>
            <a:off x="332207" y="1262387"/>
            <a:ext cx="3712414" cy="1328828"/>
          </a:xfrm>
          <a:custGeom>
            <a:avLst/>
            <a:gdLst/>
            <a:ahLst/>
            <a:cxnLst/>
            <a:rect l="l" t="t" r="r" b="b"/>
            <a:pathLst>
              <a:path w="3712414" h="1328828">
                <a:moveTo>
                  <a:pt x="132883" y="0"/>
                </a:moveTo>
                <a:lnTo>
                  <a:pt x="3579531" y="0"/>
                </a:lnTo>
                <a:cubicBezTo>
                  <a:pt x="3652920" y="0"/>
                  <a:pt x="3712414" y="59494"/>
                  <a:pt x="3712414" y="132883"/>
                </a:cubicBezTo>
                <a:lnTo>
                  <a:pt x="3712414" y="1195946"/>
                </a:lnTo>
                <a:cubicBezTo>
                  <a:pt x="3712414" y="1269335"/>
                  <a:pt x="3652920" y="1328828"/>
                  <a:pt x="3579531" y="1328828"/>
                </a:cubicBezTo>
                <a:lnTo>
                  <a:pt x="132883" y="1328828"/>
                </a:lnTo>
                <a:cubicBezTo>
                  <a:pt x="59543" y="1328828"/>
                  <a:pt x="0" y="1269286"/>
                  <a:pt x="0" y="1195946"/>
                </a:cubicBezTo>
                <a:lnTo>
                  <a:pt x="0" y="132883"/>
                </a:lnTo>
                <a:cubicBezTo>
                  <a:pt x="0" y="59543"/>
                  <a:pt x="59543" y="0"/>
                  <a:pt x="132883" y="0"/>
                </a:cubicBezTo>
                <a:close/>
              </a:path>
            </a:pathLst>
          </a:custGeom>
          <a:solidFill>
            <a:srgbClr val="F5F5F7"/>
          </a:solidFill>
          <a:ln/>
        </p:spPr>
      </p:sp>
      <p:sp>
        <p:nvSpPr>
          <p:cNvPr id="6" name="Text 3"/>
          <p:cNvSpPr/>
          <p:nvPr/>
        </p:nvSpPr>
        <p:spPr>
          <a:xfrm>
            <a:off x="332207" y="2757319"/>
            <a:ext cx="3795466" cy="232545"/>
          </a:xfrm>
          <a:prstGeom prst="rect">
            <a:avLst/>
          </a:prstGeom>
          <a:noFill/>
          <a:ln/>
        </p:spPr>
        <p:txBody>
          <a:bodyPr wrap="square" lIns="0" tIns="0" rIns="0" bIns="0" rtlCol="0" anchor="ctr"/>
          <a:lstStyle/>
          <a:p>
            <a:pPr>
              <a:lnSpc>
                <a:spcPct val="120000"/>
              </a:lnSpc>
            </a:pPr>
            <a:r>
              <a:rPr lang="en-US" sz="1308" b="1" dirty="0">
                <a:solidFill>
                  <a:srgbClr val="1D1D1D"/>
                </a:solidFill>
                <a:latin typeface="Liter" pitchFamily="34" charset="0"/>
                <a:ea typeface="Liter" pitchFamily="34" charset="-122"/>
                <a:cs typeface="Liter" pitchFamily="34" charset="-120"/>
              </a:rPr>
              <a:t>ESP32 DevKit</a:t>
            </a:r>
            <a:endParaRPr lang="en-US" sz="1600" dirty="0"/>
          </a:p>
        </p:txBody>
      </p:sp>
      <p:sp>
        <p:nvSpPr>
          <p:cNvPr id="7" name="Text 4"/>
          <p:cNvSpPr/>
          <p:nvPr/>
        </p:nvSpPr>
        <p:spPr>
          <a:xfrm>
            <a:off x="332207" y="3056305"/>
            <a:ext cx="3778856" cy="431869"/>
          </a:xfrm>
          <a:prstGeom prst="rect">
            <a:avLst/>
          </a:prstGeom>
          <a:noFill/>
          <a:ln/>
        </p:spPr>
        <p:txBody>
          <a:bodyPr wrap="square" lIns="0" tIns="0" rIns="0" bIns="0" rtlCol="0" anchor="ctr"/>
          <a:lstStyle/>
          <a:p>
            <a:pPr>
              <a:lnSpc>
                <a:spcPct val="140000"/>
              </a:lnSpc>
            </a:pPr>
            <a:r>
              <a:rPr lang="en-US" sz="1046" dirty="0">
                <a:solidFill>
                  <a:srgbClr val="86868B"/>
                </a:solidFill>
                <a:latin typeface="Liter" pitchFamily="34" charset="0"/>
                <a:ea typeface="Liter" pitchFamily="34" charset="-122"/>
                <a:cs typeface="Liter" pitchFamily="34" charset="-120"/>
              </a:rPr>
              <a:t>Microcontrôleur avec WiFi et Bluetooth intégrés, 34 GPIO, fréquence jusqu'à 240MHz</a:t>
            </a:r>
            <a:endParaRPr lang="en-US" sz="1600" dirty="0"/>
          </a:p>
        </p:txBody>
      </p:sp>
      <p:sp>
        <p:nvSpPr>
          <p:cNvPr id="8" name="Shape 5"/>
          <p:cNvSpPr/>
          <p:nvPr/>
        </p:nvSpPr>
        <p:spPr>
          <a:xfrm>
            <a:off x="332207" y="3624379"/>
            <a:ext cx="3712414" cy="6644"/>
          </a:xfrm>
          <a:custGeom>
            <a:avLst/>
            <a:gdLst/>
            <a:ahLst/>
            <a:cxnLst/>
            <a:rect l="l" t="t" r="r" b="b"/>
            <a:pathLst>
              <a:path w="3712414" h="6644">
                <a:moveTo>
                  <a:pt x="0" y="0"/>
                </a:moveTo>
                <a:lnTo>
                  <a:pt x="3712414" y="0"/>
                </a:lnTo>
                <a:lnTo>
                  <a:pt x="3712414" y="6644"/>
                </a:lnTo>
                <a:lnTo>
                  <a:pt x="0" y="6644"/>
                </a:lnTo>
                <a:lnTo>
                  <a:pt x="0" y="0"/>
                </a:lnTo>
                <a:close/>
              </a:path>
            </a:pathLst>
          </a:custGeom>
          <a:solidFill>
            <a:srgbClr val="E5E5E5"/>
          </a:solidFill>
          <a:ln/>
        </p:spPr>
      </p:sp>
      <p:sp>
        <p:nvSpPr>
          <p:cNvPr id="9" name="Text 6"/>
          <p:cNvSpPr/>
          <p:nvPr/>
        </p:nvSpPr>
        <p:spPr>
          <a:xfrm>
            <a:off x="332207" y="3780518"/>
            <a:ext cx="964439" cy="166104"/>
          </a:xfrm>
          <a:prstGeom prst="rect">
            <a:avLst/>
          </a:prstGeom>
          <a:noFill/>
          <a:ln/>
        </p:spPr>
        <p:txBody>
          <a:bodyPr wrap="square" lIns="0" tIns="0" rIns="0" bIns="0" rtlCol="0" anchor="ctr"/>
          <a:lstStyle/>
          <a:p>
            <a:pPr>
              <a:lnSpc>
                <a:spcPct val="120000"/>
              </a:lnSpc>
            </a:pPr>
            <a:r>
              <a:rPr lang="en-US" sz="916" b="1" dirty="0">
                <a:solidFill>
                  <a:srgbClr val="0071E3"/>
                </a:solidFill>
                <a:latin typeface="Liter" pitchFamily="34" charset="0"/>
                <a:ea typeface="Liter" pitchFamily="34" charset="-122"/>
                <a:cs typeface="Liter" pitchFamily="34" charset="-120"/>
              </a:rPr>
              <a:t>Cœur du système</a:t>
            </a:r>
            <a:endParaRPr lang="en-US" sz="1600" dirty="0"/>
          </a:p>
        </p:txBody>
      </p:sp>
      <p:sp>
        <p:nvSpPr>
          <p:cNvPr id="10" name="Shape 7"/>
          <p:cNvSpPr/>
          <p:nvPr/>
        </p:nvSpPr>
        <p:spPr>
          <a:xfrm>
            <a:off x="4242388" y="1262387"/>
            <a:ext cx="3712414" cy="1328828"/>
          </a:xfrm>
          <a:custGeom>
            <a:avLst/>
            <a:gdLst/>
            <a:ahLst/>
            <a:cxnLst/>
            <a:rect l="l" t="t" r="r" b="b"/>
            <a:pathLst>
              <a:path w="3712414" h="1328828">
                <a:moveTo>
                  <a:pt x="132883" y="0"/>
                </a:moveTo>
                <a:lnTo>
                  <a:pt x="3579531" y="0"/>
                </a:lnTo>
                <a:cubicBezTo>
                  <a:pt x="3652920" y="0"/>
                  <a:pt x="3712414" y="59494"/>
                  <a:pt x="3712414" y="132883"/>
                </a:cubicBezTo>
                <a:lnTo>
                  <a:pt x="3712414" y="1195946"/>
                </a:lnTo>
                <a:cubicBezTo>
                  <a:pt x="3712414" y="1269335"/>
                  <a:pt x="3652920" y="1328828"/>
                  <a:pt x="3579531" y="1328828"/>
                </a:cubicBezTo>
                <a:lnTo>
                  <a:pt x="132883" y="1328828"/>
                </a:lnTo>
                <a:cubicBezTo>
                  <a:pt x="59543" y="1328828"/>
                  <a:pt x="0" y="1269286"/>
                  <a:pt x="0" y="1195946"/>
                </a:cubicBezTo>
                <a:lnTo>
                  <a:pt x="0" y="132883"/>
                </a:lnTo>
                <a:cubicBezTo>
                  <a:pt x="0" y="59543"/>
                  <a:pt x="59543" y="0"/>
                  <a:pt x="132883" y="0"/>
                </a:cubicBezTo>
                <a:close/>
              </a:path>
            </a:pathLst>
          </a:custGeom>
          <a:solidFill>
            <a:srgbClr val="F5F5F7"/>
          </a:solidFill>
          <a:ln/>
        </p:spPr>
      </p:sp>
      <p:pic>
        <p:nvPicPr>
          <p:cNvPr id="11" name="Image 1" descr="https://kimi-web-img.moonshot.cn/img/automationroboticsarduino.com/d79e87c7af0b8b338d36d919d55d00c9c94e445d.jpg"/>
          <p:cNvPicPr>
            <a:picLocks noChangeAspect="1"/>
          </p:cNvPicPr>
          <p:nvPr/>
        </p:nvPicPr>
        <p:blipFill>
          <a:blip r:embed="rId3"/>
          <a:srcRect l="113" r="113"/>
          <a:stretch/>
        </p:blipFill>
        <p:spPr>
          <a:xfrm>
            <a:off x="5311161" y="1461711"/>
            <a:ext cx="1569678" cy="930180"/>
          </a:xfrm>
          <a:prstGeom prst="roundRect">
            <a:avLst>
              <a:gd name="adj" fmla="val 10000"/>
            </a:avLst>
          </a:prstGeom>
        </p:spPr>
      </p:pic>
      <p:sp>
        <p:nvSpPr>
          <p:cNvPr id="12" name="Text 8"/>
          <p:cNvSpPr/>
          <p:nvPr/>
        </p:nvSpPr>
        <p:spPr>
          <a:xfrm>
            <a:off x="4242388" y="2757319"/>
            <a:ext cx="3795466" cy="232545"/>
          </a:xfrm>
          <a:prstGeom prst="rect">
            <a:avLst/>
          </a:prstGeom>
          <a:noFill/>
          <a:ln/>
        </p:spPr>
        <p:txBody>
          <a:bodyPr wrap="square" lIns="0" tIns="0" rIns="0" bIns="0" rtlCol="0" anchor="ctr"/>
          <a:lstStyle/>
          <a:p>
            <a:pPr>
              <a:lnSpc>
                <a:spcPct val="120000"/>
              </a:lnSpc>
            </a:pPr>
            <a:r>
              <a:rPr lang="en-US" sz="1308" b="1" dirty="0">
                <a:solidFill>
                  <a:srgbClr val="1D1D1D"/>
                </a:solidFill>
                <a:latin typeface="Liter" pitchFamily="34" charset="0"/>
                <a:ea typeface="Liter" pitchFamily="34" charset="-122"/>
                <a:cs typeface="Liter" pitchFamily="34" charset="-120"/>
              </a:rPr>
              <a:t>HC-SR04</a:t>
            </a:r>
            <a:endParaRPr lang="en-US" sz="1600" dirty="0"/>
          </a:p>
        </p:txBody>
      </p:sp>
      <p:sp>
        <p:nvSpPr>
          <p:cNvPr id="13" name="Text 9"/>
          <p:cNvSpPr/>
          <p:nvPr/>
        </p:nvSpPr>
        <p:spPr>
          <a:xfrm>
            <a:off x="4242388" y="3056305"/>
            <a:ext cx="3778856" cy="431869"/>
          </a:xfrm>
          <a:prstGeom prst="rect">
            <a:avLst/>
          </a:prstGeom>
          <a:noFill/>
          <a:ln/>
        </p:spPr>
        <p:txBody>
          <a:bodyPr wrap="square" lIns="0" tIns="0" rIns="0" bIns="0" rtlCol="0" anchor="ctr"/>
          <a:lstStyle/>
          <a:p>
            <a:pPr>
              <a:lnSpc>
                <a:spcPct val="140000"/>
              </a:lnSpc>
            </a:pPr>
            <a:r>
              <a:rPr lang="en-US" sz="1046" dirty="0">
                <a:solidFill>
                  <a:srgbClr val="86868B"/>
                </a:solidFill>
                <a:latin typeface="Liter" pitchFamily="34" charset="0"/>
                <a:ea typeface="Liter" pitchFamily="34" charset="-122"/>
                <a:cs typeface="Liter" pitchFamily="34" charset="-120"/>
              </a:rPr>
              <a:t>Capteur ultrasonique de distance, plage 2-400cm, précision ±3mm, alimentation 5V</a:t>
            </a:r>
            <a:endParaRPr lang="en-US" sz="1600" dirty="0"/>
          </a:p>
        </p:txBody>
      </p:sp>
      <p:sp>
        <p:nvSpPr>
          <p:cNvPr id="14" name="Shape 10"/>
          <p:cNvSpPr/>
          <p:nvPr/>
        </p:nvSpPr>
        <p:spPr>
          <a:xfrm>
            <a:off x="4242388" y="3624379"/>
            <a:ext cx="3712414" cy="6644"/>
          </a:xfrm>
          <a:custGeom>
            <a:avLst/>
            <a:gdLst/>
            <a:ahLst/>
            <a:cxnLst/>
            <a:rect l="l" t="t" r="r" b="b"/>
            <a:pathLst>
              <a:path w="3712414" h="6644">
                <a:moveTo>
                  <a:pt x="0" y="0"/>
                </a:moveTo>
                <a:lnTo>
                  <a:pt x="3712414" y="0"/>
                </a:lnTo>
                <a:lnTo>
                  <a:pt x="3712414" y="6644"/>
                </a:lnTo>
                <a:lnTo>
                  <a:pt x="0" y="6644"/>
                </a:lnTo>
                <a:lnTo>
                  <a:pt x="0" y="0"/>
                </a:lnTo>
                <a:close/>
              </a:path>
            </a:pathLst>
          </a:custGeom>
          <a:solidFill>
            <a:srgbClr val="E5E5E5"/>
          </a:solidFill>
          <a:ln/>
        </p:spPr>
      </p:sp>
      <p:sp>
        <p:nvSpPr>
          <p:cNvPr id="15" name="Text 11"/>
          <p:cNvSpPr/>
          <p:nvPr/>
        </p:nvSpPr>
        <p:spPr>
          <a:xfrm>
            <a:off x="4242388" y="3780518"/>
            <a:ext cx="959456" cy="166104"/>
          </a:xfrm>
          <a:prstGeom prst="rect">
            <a:avLst/>
          </a:prstGeom>
          <a:noFill/>
          <a:ln/>
        </p:spPr>
        <p:txBody>
          <a:bodyPr wrap="square" lIns="0" tIns="0" rIns="0" bIns="0" rtlCol="0" anchor="ctr"/>
          <a:lstStyle/>
          <a:p>
            <a:pPr>
              <a:lnSpc>
                <a:spcPct val="120000"/>
              </a:lnSpc>
            </a:pPr>
            <a:r>
              <a:rPr lang="en-US" sz="916" b="1" dirty="0">
                <a:solidFill>
                  <a:srgbClr val="0071E3"/>
                </a:solidFill>
                <a:latin typeface="Liter" pitchFamily="34" charset="0"/>
                <a:ea typeface="Liter" pitchFamily="34" charset="-122"/>
                <a:cs typeface="Liter" pitchFamily="34" charset="-120"/>
              </a:rPr>
              <a:t>Mesure du niveau</a:t>
            </a:r>
            <a:endParaRPr lang="en-US" sz="1600" dirty="0"/>
          </a:p>
        </p:txBody>
      </p:sp>
      <p:sp>
        <p:nvSpPr>
          <p:cNvPr id="16" name="Shape 12"/>
          <p:cNvSpPr/>
          <p:nvPr/>
        </p:nvSpPr>
        <p:spPr>
          <a:xfrm>
            <a:off x="8152569" y="1262387"/>
            <a:ext cx="3712414" cy="1328828"/>
          </a:xfrm>
          <a:custGeom>
            <a:avLst/>
            <a:gdLst/>
            <a:ahLst/>
            <a:cxnLst/>
            <a:rect l="l" t="t" r="r" b="b"/>
            <a:pathLst>
              <a:path w="3712414" h="1328828">
                <a:moveTo>
                  <a:pt x="132883" y="0"/>
                </a:moveTo>
                <a:lnTo>
                  <a:pt x="3579531" y="0"/>
                </a:lnTo>
                <a:cubicBezTo>
                  <a:pt x="3652920" y="0"/>
                  <a:pt x="3712414" y="59494"/>
                  <a:pt x="3712414" y="132883"/>
                </a:cubicBezTo>
                <a:lnTo>
                  <a:pt x="3712414" y="1195946"/>
                </a:lnTo>
                <a:cubicBezTo>
                  <a:pt x="3712414" y="1269335"/>
                  <a:pt x="3652920" y="1328828"/>
                  <a:pt x="3579531" y="1328828"/>
                </a:cubicBezTo>
                <a:lnTo>
                  <a:pt x="132883" y="1328828"/>
                </a:lnTo>
                <a:cubicBezTo>
                  <a:pt x="59543" y="1328828"/>
                  <a:pt x="0" y="1269286"/>
                  <a:pt x="0" y="1195946"/>
                </a:cubicBezTo>
                <a:lnTo>
                  <a:pt x="0" y="132883"/>
                </a:lnTo>
                <a:cubicBezTo>
                  <a:pt x="0" y="59543"/>
                  <a:pt x="59543" y="0"/>
                  <a:pt x="132883" y="0"/>
                </a:cubicBezTo>
                <a:close/>
              </a:path>
            </a:pathLst>
          </a:custGeom>
          <a:solidFill>
            <a:srgbClr val="F5F5F7"/>
          </a:solidFill>
          <a:ln/>
        </p:spPr>
      </p:sp>
      <p:pic>
        <p:nvPicPr>
          <p:cNvPr id="17" name="Image 2" descr="https://kimi-web-img.moonshot.cn/img/content.instructables.com/dcaa4af42413c3feb1081380649773c6eb603b39.png"/>
          <p:cNvPicPr>
            <a:picLocks noChangeAspect="1"/>
          </p:cNvPicPr>
          <p:nvPr/>
        </p:nvPicPr>
        <p:blipFill>
          <a:blip r:embed="rId4"/>
          <a:srcRect/>
          <a:stretch/>
        </p:blipFill>
        <p:spPr>
          <a:xfrm>
            <a:off x="9542856" y="1461711"/>
            <a:ext cx="930180" cy="930180"/>
          </a:xfrm>
          <a:prstGeom prst="roundRect">
            <a:avLst>
              <a:gd name="adj" fmla="val 10000"/>
            </a:avLst>
          </a:prstGeom>
        </p:spPr>
      </p:pic>
      <p:sp>
        <p:nvSpPr>
          <p:cNvPr id="18" name="Text 13"/>
          <p:cNvSpPr/>
          <p:nvPr/>
        </p:nvSpPr>
        <p:spPr>
          <a:xfrm>
            <a:off x="8152569" y="2757319"/>
            <a:ext cx="3795466" cy="232545"/>
          </a:xfrm>
          <a:prstGeom prst="rect">
            <a:avLst/>
          </a:prstGeom>
          <a:noFill/>
          <a:ln/>
        </p:spPr>
        <p:txBody>
          <a:bodyPr wrap="square" lIns="0" tIns="0" rIns="0" bIns="0" rtlCol="0" anchor="ctr"/>
          <a:lstStyle/>
          <a:p>
            <a:pPr>
              <a:lnSpc>
                <a:spcPct val="120000"/>
              </a:lnSpc>
            </a:pPr>
            <a:r>
              <a:rPr lang="en-US" sz="1308" b="1" dirty="0">
                <a:solidFill>
                  <a:srgbClr val="1D1D1D"/>
                </a:solidFill>
                <a:latin typeface="Liter" pitchFamily="34" charset="0"/>
                <a:ea typeface="Liter" pitchFamily="34" charset="-122"/>
                <a:cs typeface="Liter" pitchFamily="34" charset="-120"/>
              </a:rPr>
              <a:t>Afficheur 7 segments</a:t>
            </a:r>
            <a:endParaRPr lang="en-US" sz="1600" dirty="0"/>
          </a:p>
        </p:txBody>
      </p:sp>
      <p:sp>
        <p:nvSpPr>
          <p:cNvPr id="19" name="Text 14"/>
          <p:cNvSpPr/>
          <p:nvPr/>
        </p:nvSpPr>
        <p:spPr>
          <a:xfrm>
            <a:off x="8152569" y="3056305"/>
            <a:ext cx="3778856" cy="431869"/>
          </a:xfrm>
          <a:prstGeom prst="rect">
            <a:avLst/>
          </a:prstGeom>
          <a:noFill/>
          <a:ln/>
        </p:spPr>
        <p:txBody>
          <a:bodyPr wrap="square" lIns="0" tIns="0" rIns="0" bIns="0" rtlCol="0" anchor="ctr"/>
          <a:lstStyle/>
          <a:p>
            <a:pPr>
              <a:lnSpc>
                <a:spcPct val="140000"/>
              </a:lnSpc>
            </a:pPr>
            <a:r>
              <a:rPr lang="en-US" sz="1046" dirty="0">
                <a:solidFill>
                  <a:srgbClr val="86868B"/>
                </a:solidFill>
                <a:latin typeface="Liter" pitchFamily="34" charset="0"/>
                <a:ea typeface="Liter" pitchFamily="34" charset="-122"/>
                <a:cs typeface="Liter" pitchFamily="34" charset="-120"/>
              </a:rPr>
              <a:t>4 digits avec cathode commune, affichage numérique du niveau d'eau en temps réel</a:t>
            </a:r>
            <a:endParaRPr lang="en-US" sz="1600" dirty="0"/>
          </a:p>
        </p:txBody>
      </p:sp>
      <p:sp>
        <p:nvSpPr>
          <p:cNvPr id="20" name="Shape 15"/>
          <p:cNvSpPr/>
          <p:nvPr/>
        </p:nvSpPr>
        <p:spPr>
          <a:xfrm>
            <a:off x="8152569" y="3624379"/>
            <a:ext cx="3712414" cy="6644"/>
          </a:xfrm>
          <a:custGeom>
            <a:avLst/>
            <a:gdLst/>
            <a:ahLst/>
            <a:cxnLst/>
            <a:rect l="l" t="t" r="r" b="b"/>
            <a:pathLst>
              <a:path w="3712414" h="6644">
                <a:moveTo>
                  <a:pt x="0" y="0"/>
                </a:moveTo>
                <a:lnTo>
                  <a:pt x="3712414" y="0"/>
                </a:lnTo>
                <a:lnTo>
                  <a:pt x="3712414" y="6644"/>
                </a:lnTo>
                <a:lnTo>
                  <a:pt x="0" y="6644"/>
                </a:lnTo>
                <a:lnTo>
                  <a:pt x="0" y="0"/>
                </a:lnTo>
                <a:close/>
              </a:path>
            </a:pathLst>
          </a:custGeom>
          <a:solidFill>
            <a:srgbClr val="E5E5E5"/>
          </a:solidFill>
          <a:ln/>
        </p:spPr>
      </p:sp>
      <p:sp>
        <p:nvSpPr>
          <p:cNvPr id="21" name="Text 16"/>
          <p:cNvSpPr/>
          <p:nvPr/>
        </p:nvSpPr>
        <p:spPr>
          <a:xfrm>
            <a:off x="8152569" y="3780518"/>
            <a:ext cx="823977" cy="166104"/>
          </a:xfrm>
          <a:prstGeom prst="rect">
            <a:avLst/>
          </a:prstGeom>
          <a:noFill/>
          <a:ln/>
        </p:spPr>
        <p:txBody>
          <a:bodyPr wrap="square" lIns="0" tIns="0" rIns="0" bIns="0" rtlCol="0" anchor="ctr"/>
          <a:lstStyle/>
          <a:p>
            <a:pPr>
              <a:lnSpc>
                <a:spcPct val="120000"/>
              </a:lnSpc>
            </a:pPr>
            <a:r>
              <a:rPr lang="en-US" sz="916" b="1" dirty="0">
                <a:solidFill>
                  <a:srgbClr val="0071E3"/>
                </a:solidFill>
                <a:latin typeface="Liter" pitchFamily="34" charset="0"/>
                <a:ea typeface="Liter" pitchFamily="34" charset="-122"/>
                <a:cs typeface="Liter" pitchFamily="34" charset="-120"/>
              </a:rPr>
              <a:t>Affichage local</a:t>
            </a:r>
            <a:endParaRPr lang="en-US" sz="1600" dirty="0"/>
          </a:p>
        </p:txBody>
      </p:sp>
      <p:sp>
        <p:nvSpPr>
          <p:cNvPr id="22" name="Shape 17"/>
          <p:cNvSpPr/>
          <p:nvPr/>
        </p:nvSpPr>
        <p:spPr>
          <a:xfrm>
            <a:off x="332207" y="4159235"/>
            <a:ext cx="3712414" cy="1328828"/>
          </a:xfrm>
          <a:custGeom>
            <a:avLst/>
            <a:gdLst/>
            <a:ahLst/>
            <a:cxnLst/>
            <a:rect l="l" t="t" r="r" b="b"/>
            <a:pathLst>
              <a:path w="3712414" h="1328828">
                <a:moveTo>
                  <a:pt x="132883" y="0"/>
                </a:moveTo>
                <a:lnTo>
                  <a:pt x="3579531" y="0"/>
                </a:lnTo>
                <a:cubicBezTo>
                  <a:pt x="3652920" y="0"/>
                  <a:pt x="3712414" y="59494"/>
                  <a:pt x="3712414" y="132883"/>
                </a:cubicBezTo>
                <a:lnTo>
                  <a:pt x="3712414" y="1195946"/>
                </a:lnTo>
                <a:cubicBezTo>
                  <a:pt x="3712414" y="1269335"/>
                  <a:pt x="3652920" y="1328828"/>
                  <a:pt x="3579531" y="1328828"/>
                </a:cubicBezTo>
                <a:lnTo>
                  <a:pt x="132883" y="1328828"/>
                </a:lnTo>
                <a:cubicBezTo>
                  <a:pt x="59543" y="1328828"/>
                  <a:pt x="0" y="1269286"/>
                  <a:pt x="0" y="1195946"/>
                </a:cubicBezTo>
                <a:lnTo>
                  <a:pt x="0" y="132883"/>
                </a:lnTo>
                <a:cubicBezTo>
                  <a:pt x="0" y="59543"/>
                  <a:pt x="59543" y="0"/>
                  <a:pt x="132883" y="0"/>
                </a:cubicBezTo>
                <a:close/>
              </a:path>
            </a:pathLst>
          </a:custGeom>
          <a:solidFill>
            <a:srgbClr val="F5F5F7"/>
          </a:solidFill>
          <a:ln/>
        </p:spPr>
      </p:sp>
      <p:sp>
        <p:nvSpPr>
          <p:cNvPr id="23" name="Shape 18"/>
          <p:cNvSpPr/>
          <p:nvPr/>
        </p:nvSpPr>
        <p:spPr>
          <a:xfrm>
            <a:off x="1390287" y="4591104"/>
            <a:ext cx="465090" cy="465090"/>
          </a:xfrm>
          <a:custGeom>
            <a:avLst/>
            <a:gdLst/>
            <a:ahLst/>
            <a:cxnLst/>
            <a:rect l="l" t="t" r="r" b="b"/>
            <a:pathLst>
              <a:path w="465090" h="465090">
                <a:moveTo>
                  <a:pt x="232545" y="0"/>
                </a:moveTo>
                <a:lnTo>
                  <a:pt x="232545" y="0"/>
                </a:lnTo>
                <a:cubicBezTo>
                  <a:pt x="360976" y="0"/>
                  <a:pt x="465090" y="104114"/>
                  <a:pt x="465090" y="232545"/>
                </a:cubicBezTo>
                <a:lnTo>
                  <a:pt x="465090" y="232545"/>
                </a:lnTo>
                <a:cubicBezTo>
                  <a:pt x="465090" y="360976"/>
                  <a:pt x="360976" y="465090"/>
                  <a:pt x="232545" y="465090"/>
                </a:cubicBezTo>
                <a:lnTo>
                  <a:pt x="232545" y="465090"/>
                </a:lnTo>
                <a:cubicBezTo>
                  <a:pt x="104114" y="465090"/>
                  <a:pt x="0" y="360976"/>
                  <a:pt x="0" y="232545"/>
                </a:cubicBezTo>
                <a:lnTo>
                  <a:pt x="0" y="232545"/>
                </a:lnTo>
                <a:cubicBezTo>
                  <a:pt x="0" y="104114"/>
                  <a:pt x="104114" y="0"/>
                  <a:pt x="232545" y="0"/>
                </a:cubicBezTo>
                <a:close/>
              </a:path>
            </a:pathLst>
          </a:custGeom>
          <a:solidFill>
            <a:srgbClr val="2E7D32"/>
          </a:solidFill>
          <a:ln/>
        </p:spPr>
      </p:sp>
      <p:sp>
        <p:nvSpPr>
          <p:cNvPr id="24" name="Shape 19"/>
          <p:cNvSpPr/>
          <p:nvPr/>
        </p:nvSpPr>
        <p:spPr>
          <a:xfrm>
            <a:off x="1955039" y="4591104"/>
            <a:ext cx="465090" cy="465090"/>
          </a:xfrm>
          <a:custGeom>
            <a:avLst/>
            <a:gdLst/>
            <a:ahLst/>
            <a:cxnLst/>
            <a:rect l="l" t="t" r="r" b="b"/>
            <a:pathLst>
              <a:path w="465090" h="465090">
                <a:moveTo>
                  <a:pt x="232545" y="0"/>
                </a:moveTo>
                <a:lnTo>
                  <a:pt x="232545" y="0"/>
                </a:lnTo>
                <a:cubicBezTo>
                  <a:pt x="360976" y="0"/>
                  <a:pt x="465090" y="104114"/>
                  <a:pt x="465090" y="232545"/>
                </a:cubicBezTo>
                <a:lnTo>
                  <a:pt x="465090" y="232545"/>
                </a:lnTo>
                <a:cubicBezTo>
                  <a:pt x="465090" y="360976"/>
                  <a:pt x="360976" y="465090"/>
                  <a:pt x="232545" y="465090"/>
                </a:cubicBezTo>
                <a:lnTo>
                  <a:pt x="232545" y="465090"/>
                </a:lnTo>
                <a:cubicBezTo>
                  <a:pt x="104114" y="465090"/>
                  <a:pt x="0" y="360976"/>
                  <a:pt x="0" y="232545"/>
                </a:cubicBezTo>
                <a:lnTo>
                  <a:pt x="0" y="232545"/>
                </a:lnTo>
                <a:cubicBezTo>
                  <a:pt x="0" y="104114"/>
                  <a:pt x="104114" y="0"/>
                  <a:pt x="232545" y="0"/>
                </a:cubicBezTo>
                <a:close/>
              </a:path>
            </a:pathLst>
          </a:custGeom>
          <a:solidFill>
            <a:srgbClr val="EF6C00"/>
          </a:solidFill>
          <a:ln/>
        </p:spPr>
      </p:sp>
      <p:sp>
        <p:nvSpPr>
          <p:cNvPr id="25" name="Shape 20"/>
          <p:cNvSpPr/>
          <p:nvPr/>
        </p:nvSpPr>
        <p:spPr>
          <a:xfrm>
            <a:off x="2519791" y="4591104"/>
            <a:ext cx="465090" cy="465090"/>
          </a:xfrm>
          <a:custGeom>
            <a:avLst/>
            <a:gdLst/>
            <a:ahLst/>
            <a:cxnLst/>
            <a:rect l="l" t="t" r="r" b="b"/>
            <a:pathLst>
              <a:path w="465090" h="465090">
                <a:moveTo>
                  <a:pt x="232545" y="0"/>
                </a:moveTo>
                <a:lnTo>
                  <a:pt x="232545" y="0"/>
                </a:lnTo>
                <a:cubicBezTo>
                  <a:pt x="360976" y="0"/>
                  <a:pt x="465090" y="104114"/>
                  <a:pt x="465090" y="232545"/>
                </a:cubicBezTo>
                <a:lnTo>
                  <a:pt x="465090" y="232545"/>
                </a:lnTo>
                <a:cubicBezTo>
                  <a:pt x="465090" y="360976"/>
                  <a:pt x="360976" y="465090"/>
                  <a:pt x="232545" y="465090"/>
                </a:cubicBezTo>
                <a:lnTo>
                  <a:pt x="232545" y="465090"/>
                </a:lnTo>
                <a:cubicBezTo>
                  <a:pt x="104114" y="465090"/>
                  <a:pt x="0" y="360976"/>
                  <a:pt x="0" y="232545"/>
                </a:cubicBezTo>
                <a:lnTo>
                  <a:pt x="0" y="232545"/>
                </a:lnTo>
                <a:cubicBezTo>
                  <a:pt x="0" y="104114"/>
                  <a:pt x="104114" y="0"/>
                  <a:pt x="232545" y="0"/>
                </a:cubicBezTo>
                <a:close/>
              </a:path>
            </a:pathLst>
          </a:custGeom>
          <a:solidFill>
            <a:srgbClr val="B71C1C"/>
          </a:solidFill>
          <a:ln/>
        </p:spPr>
      </p:sp>
      <p:sp>
        <p:nvSpPr>
          <p:cNvPr id="26" name="Text 21"/>
          <p:cNvSpPr/>
          <p:nvPr/>
        </p:nvSpPr>
        <p:spPr>
          <a:xfrm>
            <a:off x="332207" y="5654167"/>
            <a:ext cx="3795466" cy="232545"/>
          </a:xfrm>
          <a:prstGeom prst="rect">
            <a:avLst/>
          </a:prstGeom>
          <a:noFill/>
          <a:ln/>
        </p:spPr>
        <p:txBody>
          <a:bodyPr wrap="square" lIns="0" tIns="0" rIns="0" bIns="0" rtlCol="0" anchor="ctr"/>
          <a:lstStyle/>
          <a:p>
            <a:pPr>
              <a:lnSpc>
                <a:spcPct val="120000"/>
              </a:lnSpc>
            </a:pPr>
            <a:r>
              <a:rPr lang="en-US" sz="1308" b="1" dirty="0">
                <a:solidFill>
                  <a:srgbClr val="1D1D1D"/>
                </a:solidFill>
                <a:latin typeface="Liter" pitchFamily="34" charset="0"/>
                <a:ea typeface="Liter" pitchFamily="34" charset="-122"/>
                <a:cs typeface="Liter" pitchFamily="34" charset="-120"/>
              </a:rPr>
              <a:t>LEDs tricolores</a:t>
            </a:r>
            <a:endParaRPr lang="en-US" sz="1600" dirty="0"/>
          </a:p>
        </p:txBody>
      </p:sp>
      <p:sp>
        <p:nvSpPr>
          <p:cNvPr id="27" name="Text 22"/>
          <p:cNvSpPr/>
          <p:nvPr/>
        </p:nvSpPr>
        <p:spPr>
          <a:xfrm>
            <a:off x="332207" y="5953153"/>
            <a:ext cx="3778856" cy="431869"/>
          </a:xfrm>
          <a:prstGeom prst="rect">
            <a:avLst/>
          </a:prstGeom>
          <a:noFill/>
          <a:ln/>
        </p:spPr>
        <p:txBody>
          <a:bodyPr wrap="square" lIns="0" tIns="0" rIns="0" bIns="0" rtlCol="0" anchor="ctr"/>
          <a:lstStyle/>
          <a:p>
            <a:pPr>
              <a:lnSpc>
                <a:spcPct val="140000"/>
              </a:lnSpc>
            </a:pPr>
            <a:r>
              <a:rPr lang="en-US" sz="1046" dirty="0">
                <a:solidFill>
                  <a:srgbClr val="86868B"/>
                </a:solidFill>
                <a:latin typeface="Liter" pitchFamily="34" charset="0"/>
                <a:ea typeface="Liter" pitchFamily="34" charset="-122"/>
                <a:cs typeface="Liter" pitchFamily="34" charset="-120"/>
              </a:rPr>
              <a:t>Vert (critique), Jaune (vigilance), Rouge (normal) pour indication visuelle immédiate</a:t>
            </a:r>
            <a:endParaRPr lang="en-US" sz="1600" dirty="0"/>
          </a:p>
        </p:txBody>
      </p:sp>
      <p:sp>
        <p:nvSpPr>
          <p:cNvPr id="28" name="Shape 23"/>
          <p:cNvSpPr/>
          <p:nvPr/>
        </p:nvSpPr>
        <p:spPr>
          <a:xfrm>
            <a:off x="332207" y="6521228"/>
            <a:ext cx="3712414" cy="6644"/>
          </a:xfrm>
          <a:custGeom>
            <a:avLst/>
            <a:gdLst/>
            <a:ahLst/>
            <a:cxnLst/>
            <a:rect l="l" t="t" r="r" b="b"/>
            <a:pathLst>
              <a:path w="3712414" h="6644">
                <a:moveTo>
                  <a:pt x="0" y="0"/>
                </a:moveTo>
                <a:lnTo>
                  <a:pt x="3712414" y="0"/>
                </a:lnTo>
                <a:lnTo>
                  <a:pt x="3712414" y="6644"/>
                </a:lnTo>
                <a:lnTo>
                  <a:pt x="0" y="6644"/>
                </a:lnTo>
                <a:lnTo>
                  <a:pt x="0" y="0"/>
                </a:lnTo>
                <a:close/>
              </a:path>
            </a:pathLst>
          </a:custGeom>
          <a:solidFill>
            <a:srgbClr val="E5E5E5"/>
          </a:solidFill>
          <a:ln/>
        </p:spPr>
      </p:sp>
      <p:sp>
        <p:nvSpPr>
          <p:cNvPr id="29" name="Text 24"/>
          <p:cNvSpPr/>
          <p:nvPr/>
        </p:nvSpPr>
        <p:spPr>
          <a:xfrm>
            <a:off x="332207" y="6677362"/>
            <a:ext cx="944610" cy="166104"/>
          </a:xfrm>
          <a:prstGeom prst="rect">
            <a:avLst/>
          </a:prstGeom>
          <a:noFill/>
          <a:ln/>
        </p:spPr>
        <p:txBody>
          <a:bodyPr wrap="square" lIns="0" tIns="0" rIns="0" bIns="0" rtlCol="0" anchor="ctr"/>
          <a:lstStyle/>
          <a:p>
            <a:pPr>
              <a:lnSpc>
                <a:spcPct val="120000"/>
              </a:lnSpc>
            </a:pPr>
            <a:r>
              <a:rPr lang="en-US" sz="916" b="1" dirty="0">
                <a:solidFill>
                  <a:srgbClr val="0071E3"/>
                </a:solidFill>
                <a:latin typeface="Liter" pitchFamily="34" charset="0"/>
                <a:ea typeface="Liter" pitchFamily="34" charset="-122"/>
                <a:cs typeface="Liter" pitchFamily="34" charset="-120"/>
              </a:rPr>
              <a:t>Indicateurs d'état</a:t>
            </a:r>
            <a:endParaRPr lang="en-US" sz="1600" dirty="0"/>
          </a:p>
        </p:txBody>
      </p:sp>
      <p:sp>
        <p:nvSpPr>
          <p:cNvPr id="30" name="Shape 25"/>
          <p:cNvSpPr/>
          <p:nvPr/>
        </p:nvSpPr>
        <p:spPr>
          <a:xfrm>
            <a:off x="4242388" y="4159235"/>
            <a:ext cx="3712414" cy="1328828"/>
          </a:xfrm>
          <a:custGeom>
            <a:avLst/>
            <a:gdLst/>
            <a:ahLst/>
            <a:cxnLst/>
            <a:rect l="l" t="t" r="r" b="b"/>
            <a:pathLst>
              <a:path w="3712414" h="1328828">
                <a:moveTo>
                  <a:pt x="132883" y="0"/>
                </a:moveTo>
                <a:lnTo>
                  <a:pt x="3579531" y="0"/>
                </a:lnTo>
                <a:cubicBezTo>
                  <a:pt x="3652920" y="0"/>
                  <a:pt x="3712414" y="59494"/>
                  <a:pt x="3712414" y="132883"/>
                </a:cubicBezTo>
                <a:lnTo>
                  <a:pt x="3712414" y="1195946"/>
                </a:lnTo>
                <a:cubicBezTo>
                  <a:pt x="3712414" y="1269335"/>
                  <a:pt x="3652920" y="1328828"/>
                  <a:pt x="3579531" y="1328828"/>
                </a:cubicBezTo>
                <a:lnTo>
                  <a:pt x="132883" y="1328828"/>
                </a:lnTo>
                <a:cubicBezTo>
                  <a:pt x="59543" y="1328828"/>
                  <a:pt x="0" y="1269286"/>
                  <a:pt x="0" y="1195946"/>
                </a:cubicBezTo>
                <a:lnTo>
                  <a:pt x="0" y="132883"/>
                </a:lnTo>
                <a:cubicBezTo>
                  <a:pt x="0" y="59543"/>
                  <a:pt x="59543" y="0"/>
                  <a:pt x="132883" y="0"/>
                </a:cubicBezTo>
                <a:close/>
              </a:path>
            </a:pathLst>
          </a:custGeom>
          <a:solidFill>
            <a:srgbClr val="F5F5F7"/>
          </a:solidFill>
          <a:ln/>
        </p:spPr>
        <p:txBody>
          <a:bodyPr/>
          <a:lstStyle/>
          <a:p>
            <a:endParaRPr lang="fr-FR" dirty="0"/>
          </a:p>
        </p:txBody>
      </p:sp>
      <p:sp>
        <p:nvSpPr>
          <p:cNvPr id="31" name="Shape 26"/>
          <p:cNvSpPr/>
          <p:nvPr/>
        </p:nvSpPr>
        <p:spPr>
          <a:xfrm>
            <a:off x="5879754" y="4574494"/>
            <a:ext cx="436022" cy="498311"/>
          </a:xfrm>
          <a:custGeom>
            <a:avLst/>
            <a:gdLst/>
            <a:ahLst/>
            <a:cxnLst/>
            <a:rect l="l" t="t" r="r" b="b"/>
            <a:pathLst>
              <a:path w="436022" h="498311">
                <a:moveTo>
                  <a:pt x="218011" y="0"/>
                </a:moveTo>
                <a:cubicBezTo>
                  <a:pt x="200784" y="0"/>
                  <a:pt x="186866" y="13918"/>
                  <a:pt x="186866" y="31144"/>
                </a:cubicBezTo>
                <a:lnTo>
                  <a:pt x="186866" y="34259"/>
                </a:lnTo>
                <a:cubicBezTo>
                  <a:pt x="115818" y="48663"/>
                  <a:pt x="62289" y="111536"/>
                  <a:pt x="62289" y="186866"/>
                </a:cubicBezTo>
                <a:lnTo>
                  <a:pt x="62289" y="207986"/>
                </a:lnTo>
                <a:cubicBezTo>
                  <a:pt x="62289" y="254800"/>
                  <a:pt x="46327" y="300252"/>
                  <a:pt x="17129" y="336846"/>
                </a:cubicBezTo>
                <a:lnTo>
                  <a:pt x="7591" y="348720"/>
                </a:lnTo>
                <a:cubicBezTo>
                  <a:pt x="2628" y="354852"/>
                  <a:pt x="0" y="362443"/>
                  <a:pt x="0" y="370327"/>
                </a:cubicBezTo>
                <a:cubicBezTo>
                  <a:pt x="0" y="389403"/>
                  <a:pt x="15475" y="404877"/>
                  <a:pt x="34551" y="404877"/>
                </a:cubicBezTo>
                <a:lnTo>
                  <a:pt x="401374" y="404877"/>
                </a:lnTo>
                <a:cubicBezTo>
                  <a:pt x="420450" y="404877"/>
                  <a:pt x="435924" y="389403"/>
                  <a:pt x="435924" y="370327"/>
                </a:cubicBezTo>
                <a:cubicBezTo>
                  <a:pt x="435924" y="362443"/>
                  <a:pt x="433297" y="354852"/>
                  <a:pt x="428333" y="348720"/>
                </a:cubicBezTo>
                <a:lnTo>
                  <a:pt x="418795" y="336846"/>
                </a:lnTo>
                <a:cubicBezTo>
                  <a:pt x="389694" y="300252"/>
                  <a:pt x="373733" y="254800"/>
                  <a:pt x="373733" y="207986"/>
                </a:cubicBezTo>
                <a:lnTo>
                  <a:pt x="373733" y="186866"/>
                </a:lnTo>
                <a:cubicBezTo>
                  <a:pt x="373733" y="111536"/>
                  <a:pt x="320204" y="48663"/>
                  <a:pt x="249155" y="34259"/>
                </a:cubicBezTo>
                <a:lnTo>
                  <a:pt x="249155" y="31144"/>
                </a:lnTo>
                <a:cubicBezTo>
                  <a:pt x="249155" y="13918"/>
                  <a:pt x="235238" y="0"/>
                  <a:pt x="218011" y="0"/>
                </a:cubicBezTo>
                <a:close/>
                <a:moveTo>
                  <a:pt x="157669" y="451594"/>
                </a:moveTo>
                <a:cubicBezTo>
                  <a:pt x="164579" y="478456"/>
                  <a:pt x="189008" y="498311"/>
                  <a:pt x="218011" y="498311"/>
                </a:cubicBezTo>
                <a:cubicBezTo>
                  <a:pt x="247014" y="498311"/>
                  <a:pt x="271443" y="478456"/>
                  <a:pt x="278353" y="451594"/>
                </a:cubicBezTo>
                <a:lnTo>
                  <a:pt x="157669" y="451594"/>
                </a:lnTo>
                <a:close/>
              </a:path>
            </a:pathLst>
          </a:custGeom>
          <a:solidFill>
            <a:srgbClr val="86868B"/>
          </a:solidFill>
          <a:ln/>
        </p:spPr>
      </p:sp>
      <p:sp>
        <p:nvSpPr>
          <p:cNvPr id="32" name="Text 27"/>
          <p:cNvSpPr/>
          <p:nvPr/>
        </p:nvSpPr>
        <p:spPr>
          <a:xfrm>
            <a:off x="4242388" y="5654167"/>
            <a:ext cx="3795466" cy="232545"/>
          </a:xfrm>
          <a:prstGeom prst="rect">
            <a:avLst/>
          </a:prstGeom>
          <a:noFill/>
          <a:ln/>
        </p:spPr>
        <p:txBody>
          <a:bodyPr wrap="square" lIns="0" tIns="0" rIns="0" bIns="0" rtlCol="0" anchor="ctr"/>
          <a:lstStyle/>
          <a:p>
            <a:pPr>
              <a:lnSpc>
                <a:spcPct val="120000"/>
              </a:lnSpc>
            </a:pPr>
            <a:r>
              <a:rPr lang="en-US" sz="1308" b="1" dirty="0">
                <a:solidFill>
                  <a:srgbClr val="1D1D1D"/>
                </a:solidFill>
                <a:latin typeface="Liter" pitchFamily="34" charset="0"/>
                <a:ea typeface="Liter" pitchFamily="34" charset="-122"/>
                <a:cs typeface="Liter" pitchFamily="34" charset="-120"/>
              </a:rPr>
              <a:t>Buzzer</a:t>
            </a:r>
            <a:endParaRPr lang="en-US" sz="1600" dirty="0"/>
          </a:p>
        </p:txBody>
      </p:sp>
      <p:sp>
        <p:nvSpPr>
          <p:cNvPr id="33" name="Text 28"/>
          <p:cNvSpPr/>
          <p:nvPr/>
        </p:nvSpPr>
        <p:spPr>
          <a:xfrm>
            <a:off x="4242388" y="5953153"/>
            <a:ext cx="3778856" cy="431869"/>
          </a:xfrm>
          <a:prstGeom prst="rect">
            <a:avLst/>
          </a:prstGeom>
          <a:noFill/>
          <a:ln/>
        </p:spPr>
        <p:txBody>
          <a:bodyPr wrap="square" lIns="0" tIns="0" rIns="0" bIns="0" rtlCol="0" anchor="ctr"/>
          <a:lstStyle/>
          <a:p>
            <a:pPr>
              <a:lnSpc>
                <a:spcPct val="140000"/>
              </a:lnSpc>
            </a:pPr>
            <a:r>
              <a:rPr lang="en-US" sz="1046" dirty="0">
                <a:solidFill>
                  <a:srgbClr val="86868B"/>
                </a:solidFill>
                <a:latin typeface="Liter" pitchFamily="34" charset="0"/>
                <a:ea typeface="Liter" pitchFamily="34" charset="-122"/>
                <a:cs typeface="Liter" pitchFamily="34" charset="-120"/>
              </a:rPr>
              <a:t>Buzzer piezoélectrique 5V pour alarme sonore intermittente en cas de niveau critique</a:t>
            </a:r>
            <a:endParaRPr lang="en-US" sz="1600" dirty="0"/>
          </a:p>
        </p:txBody>
      </p:sp>
      <p:sp>
        <p:nvSpPr>
          <p:cNvPr id="34" name="Shape 29"/>
          <p:cNvSpPr/>
          <p:nvPr/>
        </p:nvSpPr>
        <p:spPr>
          <a:xfrm>
            <a:off x="4242388" y="6521228"/>
            <a:ext cx="3712414" cy="6644"/>
          </a:xfrm>
          <a:custGeom>
            <a:avLst/>
            <a:gdLst/>
            <a:ahLst/>
            <a:cxnLst/>
            <a:rect l="l" t="t" r="r" b="b"/>
            <a:pathLst>
              <a:path w="3712414" h="6644">
                <a:moveTo>
                  <a:pt x="0" y="0"/>
                </a:moveTo>
                <a:lnTo>
                  <a:pt x="3712414" y="0"/>
                </a:lnTo>
                <a:lnTo>
                  <a:pt x="3712414" y="6644"/>
                </a:lnTo>
                <a:lnTo>
                  <a:pt x="0" y="6644"/>
                </a:lnTo>
                <a:lnTo>
                  <a:pt x="0" y="0"/>
                </a:lnTo>
                <a:close/>
              </a:path>
            </a:pathLst>
          </a:custGeom>
          <a:solidFill>
            <a:srgbClr val="E5E5E5"/>
          </a:solidFill>
          <a:ln/>
        </p:spPr>
      </p:sp>
      <p:sp>
        <p:nvSpPr>
          <p:cNvPr id="35" name="Text 30"/>
          <p:cNvSpPr/>
          <p:nvPr/>
        </p:nvSpPr>
        <p:spPr>
          <a:xfrm>
            <a:off x="4242388" y="6677362"/>
            <a:ext cx="742068" cy="166104"/>
          </a:xfrm>
          <a:prstGeom prst="rect">
            <a:avLst/>
          </a:prstGeom>
          <a:noFill/>
          <a:ln/>
        </p:spPr>
        <p:txBody>
          <a:bodyPr wrap="square" lIns="0" tIns="0" rIns="0" bIns="0" rtlCol="0" anchor="ctr"/>
          <a:lstStyle/>
          <a:p>
            <a:pPr>
              <a:lnSpc>
                <a:spcPct val="120000"/>
              </a:lnSpc>
            </a:pPr>
            <a:r>
              <a:rPr lang="en-US" sz="916" b="1" dirty="0">
                <a:solidFill>
                  <a:srgbClr val="0071E3"/>
                </a:solidFill>
                <a:latin typeface="Liter" pitchFamily="34" charset="0"/>
                <a:ea typeface="Liter" pitchFamily="34" charset="-122"/>
                <a:cs typeface="Liter" pitchFamily="34" charset="-120"/>
              </a:rPr>
              <a:t>Alerte sonore</a:t>
            </a:r>
            <a:endParaRPr lang="en-US" sz="1600" dirty="0"/>
          </a:p>
        </p:txBody>
      </p:sp>
      <p:sp>
        <p:nvSpPr>
          <p:cNvPr id="36" name="Shape 31"/>
          <p:cNvSpPr/>
          <p:nvPr/>
        </p:nvSpPr>
        <p:spPr>
          <a:xfrm>
            <a:off x="8152569" y="4159235"/>
            <a:ext cx="3712414" cy="1328828"/>
          </a:xfrm>
          <a:custGeom>
            <a:avLst/>
            <a:gdLst/>
            <a:ahLst/>
            <a:cxnLst/>
            <a:rect l="l" t="t" r="r" b="b"/>
            <a:pathLst>
              <a:path w="3712414" h="1328828">
                <a:moveTo>
                  <a:pt x="132883" y="0"/>
                </a:moveTo>
                <a:lnTo>
                  <a:pt x="3579531" y="0"/>
                </a:lnTo>
                <a:cubicBezTo>
                  <a:pt x="3652920" y="0"/>
                  <a:pt x="3712414" y="59494"/>
                  <a:pt x="3712414" y="132883"/>
                </a:cubicBezTo>
                <a:lnTo>
                  <a:pt x="3712414" y="1195946"/>
                </a:lnTo>
                <a:cubicBezTo>
                  <a:pt x="3712414" y="1269335"/>
                  <a:pt x="3652920" y="1328828"/>
                  <a:pt x="3579531" y="1328828"/>
                </a:cubicBezTo>
                <a:lnTo>
                  <a:pt x="132883" y="1328828"/>
                </a:lnTo>
                <a:cubicBezTo>
                  <a:pt x="59543" y="1328828"/>
                  <a:pt x="0" y="1269286"/>
                  <a:pt x="0" y="1195946"/>
                </a:cubicBezTo>
                <a:lnTo>
                  <a:pt x="0" y="132883"/>
                </a:lnTo>
                <a:cubicBezTo>
                  <a:pt x="0" y="59543"/>
                  <a:pt x="59543" y="0"/>
                  <a:pt x="132883" y="0"/>
                </a:cubicBezTo>
                <a:close/>
              </a:path>
            </a:pathLst>
          </a:custGeom>
          <a:solidFill>
            <a:srgbClr val="F5F5F7"/>
          </a:solidFill>
          <a:ln/>
        </p:spPr>
      </p:sp>
      <p:sp>
        <p:nvSpPr>
          <p:cNvPr id="37" name="Shape 32"/>
          <p:cNvSpPr/>
          <p:nvPr/>
        </p:nvSpPr>
        <p:spPr>
          <a:xfrm>
            <a:off x="9789935" y="4574494"/>
            <a:ext cx="436022" cy="498311"/>
          </a:xfrm>
          <a:custGeom>
            <a:avLst/>
            <a:gdLst/>
            <a:ahLst/>
            <a:cxnLst/>
            <a:rect l="l" t="t" r="r" b="b"/>
            <a:pathLst>
              <a:path w="436022" h="498311">
                <a:moveTo>
                  <a:pt x="124578" y="38931"/>
                </a:moveTo>
                <a:cubicBezTo>
                  <a:pt x="124578" y="17421"/>
                  <a:pt x="141999" y="0"/>
                  <a:pt x="163508" y="0"/>
                </a:cubicBezTo>
                <a:cubicBezTo>
                  <a:pt x="185017" y="0"/>
                  <a:pt x="202439" y="17421"/>
                  <a:pt x="202439" y="38931"/>
                </a:cubicBezTo>
                <a:lnTo>
                  <a:pt x="202439" y="183168"/>
                </a:lnTo>
                <a:cubicBezTo>
                  <a:pt x="210711" y="175771"/>
                  <a:pt x="221612" y="171294"/>
                  <a:pt x="233583" y="171294"/>
                </a:cubicBezTo>
                <a:cubicBezTo>
                  <a:pt x="253632" y="171294"/>
                  <a:pt x="270762" y="183947"/>
                  <a:pt x="277380" y="201660"/>
                </a:cubicBezTo>
                <a:cubicBezTo>
                  <a:pt x="285945" y="192609"/>
                  <a:pt x="298013" y="186866"/>
                  <a:pt x="311444" y="186866"/>
                </a:cubicBezTo>
                <a:cubicBezTo>
                  <a:pt x="336068" y="186866"/>
                  <a:pt x="356214" y="205845"/>
                  <a:pt x="358063" y="229982"/>
                </a:cubicBezTo>
                <a:cubicBezTo>
                  <a:pt x="366336" y="222488"/>
                  <a:pt x="377334" y="218011"/>
                  <a:pt x="389305" y="218011"/>
                </a:cubicBezTo>
                <a:cubicBezTo>
                  <a:pt x="415097" y="218011"/>
                  <a:pt x="436022" y="238936"/>
                  <a:pt x="436022" y="264728"/>
                </a:cubicBezTo>
                <a:lnTo>
                  <a:pt x="436022" y="373733"/>
                </a:lnTo>
                <a:cubicBezTo>
                  <a:pt x="436022" y="442543"/>
                  <a:pt x="380254" y="498311"/>
                  <a:pt x="311444" y="498311"/>
                </a:cubicBezTo>
                <a:lnTo>
                  <a:pt x="228425" y="498311"/>
                </a:lnTo>
                <a:cubicBezTo>
                  <a:pt x="223558" y="498311"/>
                  <a:pt x="218790" y="498019"/>
                  <a:pt x="214118" y="497337"/>
                </a:cubicBezTo>
                <a:cubicBezTo>
                  <a:pt x="160296" y="491887"/>
                  <a:pt x="110757" y="464246"/>
                  <a:pt x="77861" y="420450"/>
                </a:cubicBezTo>
                <a:lnTo>
                  <a:pt x="7786" y="327016"/>
                </a:lnTo>
                <a:cubicBezTo>
                  <a:pt x="-5158" y="309790"/>
                  <a:pt x="-1655" y="285458"/>
                  <a:pt x="15572" y="272514"/>
                </a:cubicBezTo>
                <a:cubicBezTo>
                  <a:pt x="32799" y="259569"/>
                  <a:pt x="57131" y="263073"/>
                  <a:pt x="70075" y="280300"/>
                </a:cubicBezTo>
                <a:lnTo>
                  <a:pt x="124578" y="353002"/>
                </a:lnTo>
                <a:lnTo>
                  <a:pt x="124578" y="38931"/>
                </a:lnTo>
                <a:close/>
                <a:moveTo>
                  <a:pt x="233583" y="295872"/>
                </a:moveTo>
                <a:cubicBezTo>
                  <a:pt x="233583" y="287307"/>
                  <a:pt x="226576" y="280300"/>
                  <a:pt x="218011" y="280300"/>
                </a:cubicBezTo>
                <a:cubicBezTo>
                  <a:pt x="209446" y="280300"/>
                  <a:pt x="202439" y="287307"/>
                  <a:pt x="202439" y="295872"/>
                </a:cubicBezTo>
                <a:lnTo>
                  <a:pt x="202439" y="389305"/>
                </a:lnTo>
                <a:cubicBezTo>
                  <a:pt x="202439" y="397870"/>
                  <a:pt x="209446" y="404877"/>
                  <a:pt x="218011" y="404877"/>
                </a:cubicBezTo>
                <a:cubicBezTo>
                  <a:pt x="226576" y="404877"/>
                  <a:pt x="233583" y="397870"/>
                  <a:pt x="233583" y="389305"/>
                </a:cubicBezTo>
                <a:lnTo>
                  <a:pt x="233583" y="295872"/>
                </a:lnTo>
                <a:close/>
                <a:moveTo>
                  <a:pt x="280300" y="280300"/>
                </a:moveTo>
                <a:cubicBezTo>
                  <a:pt x="271735" y="280300"/>
                  <a:pt x="264728" y="287307"/>
                  <a:pt x="264728" y="295872"/>
                </a:cubicBezTo>
                <a:lnTo>
                  <a:pt x="264728" y="389305"/>
                </a:lnTo>
                <a:cubicBezTo>
                  <a:pt x="264728" y="397870"/>
                  <a:pt x="271735" y="404877"/>
                  <a:pt x="280300" y="404877"/>
                </a:cubicBezTo>
                <a:cubicBezTo>
                  <a:pt x="288864" y="404877"/>
                  <a:pt x="295872" y="397870"/>
                  <a:pt x="295872" y="389305"/>
                </a:cubicBezTo>
                <a:lnTo>
                  <a:pt x="295872" y="295872"/>
                </a:lnTo>
                <a:cubicBezTo>
                  <a:pt x="295872" y="287307"/>
                  <a:pt x="288864" y="280300"/>
                  <a:pt x="280300" y="280300"/>
                </a:cubicBezTo>
                <a:close/>
                <a:moveTo>
                  <a:pt x="358161" y="295872"/>
                </a:moveTo>
                <a:cubicBezTo>
                  <a:pt x="358161" y="287307"/>
                  <a:pt x="351153" y="280300"/>
                  <a:pt x="342589" y="280300"/>
                </a:cubicBezTo>
                <a:cubicBezTo>
                  <a:pt x="334024" y="280300"/>
                  <a:pt x="327016" y="287307"/>
                  <a:pt x="327016" y="295872"/>
                </a:cubicBezTo>
                <a:lnTo>
                  <a:pt x="327016" y="389305"/>
                </a:lnTo>
                <a:cubicBezTo>
                  <a:pt x="327016" y="397870"/>
                  <a:pt x="334024" y="404877"/>
                  <a:pt x="342589" y="404877"/>
                </a:cubicBezTo>
                <a:cubicBezTo>
                  <a:pt x="351153" y="404877"/>
                  <a:pt x="358161" y="397870"/>
                  <a:pt x="358161" y="389305"/>
                </a:cubicBezTo>
                <a:lnTo>
                  <a:pt x="358161" y="295872"/>
                </a:lnTo>
                <a:close/>
              </a:path>
            </a:pathLst>
          </a:custGeom>
          <a:solidFill>
            <a:srgbClr val="86868B"/>
          </a:solidFill>
          <a:ln/>
        </p:spPr>
      </p:sp>
      <p:sp>
        <p:nvSpPr>
          <p:cNvPr id="38" name="Text 33"/>
          <p:cNvSpPr/>
          <p:nvPr/>
        </p:nvSpPr>
        <p:spPr>
          <a:xfrm>
            <a:off x="8152569" y="5654167"/>
            <a:ext cx="3795466" cy="232545"/>
          </a:xfrm>
          <a:prstGeom prst="rect">
            <a:avLst/>
          </a:prstGeom>
          <a:noFill/>
          <a:ln/>
        </p:spPr>
        <p:txBody>
          <a:bodyPr wrap="square" lIns="0" tIns="0" rIns="0" bIns="0" rtlCol="0" anchor="ctr"/>
          <a:lstStyle/>
          <a:p>
            <a:pPr>
              <a:lnSpc>
                <a:spcPct val="120000"/>
              </a:lnSpc>
            </a:pPr>
            <a:r>
              <a:rPr lang="en-US" sz="1308" b="1" dirty="0">
                <a:solidFill>
                  <a:srgbClr val="1D1D1D"/>
                </a:solidFill>
                <a:latin typeface="Liter" pitchFamily="34" charset="0"/>
                <a:ea typeface="Liter" pitchFamily="34" charset="-122"/>
                <a:cs typeface="Liter" pitchFamily="34" charset="-120"/>
              </a:rPr>
              <a:t>Bouton poussoir</a:t>
            </a:r>
            <a:endParaRPr lang="en-US" sz="1600" dirty="0"/>
          </a:p>
        </p:txBody>
      </p:sp>
      <p:sp>
        <p:nvSpPr>
          <p:cNvPr id="39" name="Text 34"/>
          <p:cNvSpPr/>
          <p:nvPr/>
        </p:nvSpPr>
        <p:spPr>
          <a:xfrm>
            <a:off x="8152569" y="5953153"/>
            <a:ext cx="3778856" cy="431869"/>
          </a:xfrm>
          <a:prstGeom prst="rect">
            <a:avLst/>
          </a:prstGeom>
          <a:noFill/>
          <a:ln/>
        </p:spPr>
        <p:txBody>
          <a:bodyPr wrap="square" lIns="0" tIns="0" rIns="0" bIns="0" rtlCol="0" anchor="ctr"/>
          <a:lstStyle/>
          <a:p>
            <a:pPr>
              <a:lnSpc>
                <a:spcPct val="140000"/>
              </a:lnSpc>
            </a:pPr>
            <a:r>
              <a:rPr lang="en-US" sz="1046" dirty="0">
                <a:solidFill>
                  <a:srgbClr val="86868B"/>
                </a:solidFill>
                <a:latin typeface="Liter" pitchFamily="34" charset="0"/>
                <a:ea typeface="Liter" pitchFamily="34" charset="-122"/>
                <a:cs typeface="Liter" pitchFamily="34" charset="-120"/>
              </a:rPr>
              <a:t>Bouton avec résistance pull-up pour déclencher la calibration du système</a:t>
            </a:r>
            <a:endParaRPr lang="en-US" sz="1600" dirty="0"/>
          </a:p>
        </p:txBody>
      </p:sp>
      <p:sp>
        <p:nvSpPr>
          <p:cNvPr id="40" name="Shape 35"/>
          <p:cNvSpPr/>
          <p:nvPr/>
        </p:nvSpPr>
        <p:spPr>
          <a:xfrm>
            <a:off x="8152569" y="6521228"/>
            <a:ext cx="3712414" cy="6644"/>
          </a:xfrm>
          <a:custGeom>
            <a:avLst/>
            <a:gdLst/>
            <a:ahLst/>
            <a:cxnLst/>
            <a:rect l="l" t="t" r="r" b="b"/>
            <a:pathLst>
              <a:path w="3712414" h="6644">
                <a:moveTo>
                  <a:pt x="0" y="0"/>
                </a:moveTo>
                <a:lnTo>
                  <a:pt x="3712414" y="0"/>
                </a:lnTo>
                <a:lnTo>
                  <a:pt x="3712414" y="6644"/>
                </a:lnTo>
                <a:lnTo>
                  <a:pt x="0" y="6644"/>
                </a:lnTo>
                <a:lnTo>
                  <a:pt x="0" y="0"/>
                </a:lnTo>
                <a:close/>
              </a:path>
            </a:pathLst>
          </a:custGeom>
          <a:solidFill>
            <a:srgbClr val="E5E5E5"/>
          </a:solidFill>
          <a:ln/>
        </p:spPr>
      </p:sp>
      <p:sp>
        <p:nvSpPr>
          <p:cNvPr id="41" name="Text 36"/>
          <p:cNvSpPr/>
          <p:nvPr/>
        </p:nvSpPr>
        <p:spPr>
          <a:xfrm>
            <a:off x="8152569" y="6677362"/>
            <a:ext cx="615517" cy="166104"/>
          </a:xfrm>
          <a:prstGeom prst="rect">
            <a:avLst/>
          </a:prstGeom>
          <a:noFill/>
          <a:ln/>
        </p:spPr>
        <p:txBody>
          <a:bodyPr wrap="square" lIns="0" tIns="0" rIns="0" bIns="0" rtlCol="0" anchor="ctr"/>
          <a:lstStyle/>
          <a:p>
            <a:pPr>
              <a:lnSpc>
                <a:spcPct val="120000"/>
              </a:lnSpc>
            </a:pPr>
            <a:r>
              <a:rPr lang="en-US" sz="916" b="1" dirty="0">
                <a:solidFill>
                  <a:srgbClr val="0071E3"/>
                </a:solidFill>
                <a:latin typeface="Liter" pitchFamily="34" charset="0"/>
                <a:ea typeface="Liter" pitchFamily="34" charset="-122"/>
                <a:cs typeface="Liter" pitchFamily="34" charset="-120"/>
              </a:rPr>
              <a:t>Calibration</a:t>
            </a:r>
            <a:endParaRPr lang="en-US" sz="1600" dirty="0"/>
          </a:p>
        </p:txBody>
      </p:sp>
      <p:pic>
        <p:nvPicPr>
          <p:cNvPr id="44" name="Image 43">
            <a:extLst>
              <a:ext uri="{FF2B5EF4-FFF2-40B4-BE49-F238E27FC236}">
                <a16:creationId xmlns:a16="http://schemas.microsoft.com/office/drawing/2014/main" id="{5410EEB6-16C7-B49C-EAEB-484E74A4152E}"/>
              </a:ext>
            </a:extLst>
          </p:cNvPr>
          <p:cNvPicPr>
            <a:picLocks noChangeAspect="1"/>
          </p:cNvPicPr>
          <p:nvPr/>
        </p:nvPicPr>
        <p:blipFill>
          <a:blip r:embed="rId5"/>
          <a:srcRect l="19622" t="444" r="5444" b="14197"/>
          <a:stretch>
            <a:fillRect/>
          </a:stretch>
        </p:blipFill>
        <p:spPr>
          <a:xfrm>
            <a:off x="5430380" y="4271930"/>
            <a:ext cx="1130288" cy="1181971"/>
          </a:xfrm>
          <a:prstGeom prst="rect">
            <a:avLst/>
          </a:prstGeom>
        </p:spPr>
      </p:pic>
      <p:pic>
        <p:nvPicPr>
          <p:cNvPr id="46" name="Image 45">
            <a:extLst>
              <a:ext uri="{FF2B5EF4-FFF2-40B4-BE49-F238E27FC236}">
                <a16:creationId xmlns:a16="http://schemas.microsoft.com/office/drawing/2014/main" id="{4702EEB8-F4FF-094B-815A-48D01C02DCE8}"/>
              </a:ext>
            </a:extLst>
          </p:cNvPr>
          <p:cNvPicPr>
            <a:picLocks noChangeAspect="1"/>
          </p:cNvPicPr>
          <p:nvPr/>
        </p:nvPicPr>
        <p:blipFill>
          <a:blip r:embed="rId6"/>
          <a:srcRect l="17894" t="9593" r="18999" b="14302"/>
          <a:stretch>
            <a:fillRect/>
          </a:stretch>
        </p:blipFill>
        <p:spPr>
          <a:xfrm>
            <a:off x="9423568" y="4244601"/>
            <a:ext cx="1253467" cy="1209300"/>
          </a:xfrm>
          <a:prstGeom prst="rect">
            <a:avLst/>
          </a:prstGeom>
        </p:spPr>
      </p:pic>
      <p:pic>
        <p:nvPicPr>
          <p:cNvPr id="48" name="Image 47">
            <a:extLst>
              <a:ext uri="{FF2B5EF4-FFF2-40B4-BE49-F238E27FC236}">
                <a16:creationId xmlns:a16="http://schemas.microsoft.com/office/drawing/2014/main" id="{889DD807-1FB2-DCE9-9524-AF2BA598A7F6}"/>
              </a:ext>
            </a:extLst>
          </p:cNvPr>
          <p:cNvPicPr>
            <a:picLocks noChangeAspect="1"/>
          </p:cNvPicPr>
          <p:nvPr/>
        </p:nvPicPr>
        <p:blipFill>
          <a:blip r:embed="rId7"/>
          <a:srcRect l="2651" t="12519" r="2215" b="10884"/>
          <a:stretch>
            <a:fillRect/>
          </a:stretch>
        </p:blipFill>
        <p:spPr>
          <a:xfrm>
            <a:off x="1296646" y="1267372"/>
            <a:ext cx="1650378" cy="1328828"/>
          </a:xfrm>
          <a:prstGeom prst="rect">
            <a:avLst/>
          </a:prstGeom>
        </p:spPr>
      </p:pic>
      <p:pic>
        <p:nvPicPr>
          <p:cNvPr id="50" name="Image 49">
            <a:extLst>
              <a:ext uri="{FF2B5EF4-FFF2-40B4-BE49-F238E27FC236}">
                <a16:creationId xmlns:a16="http://schemas.microsoft.com/office/drawing/2014/main" id="{52E6EDC8-C265-8A04-0ABF-9617BD233378}"/>
              </a:ext>
            </a:extLst>
          </p:cNvPr>
          <p:cNvPicPr>
            <a:picLocks noChangeAspect="1"/>
          </p:cNvPicPr>
          <p:nvPr/>
        </p:nvPicPr>
        <p:blipFill>
          <a:blip r:embed="rId8"/>
          <a:srcRect t="6561" r="50000" b="47975"/>
          <a:stretch>
            <a:fillRect/>
          </a:stretch>
        </p:blipFill>
        <p:spPr>
          <a:xfrm>
            <a:off x="1319403" y="4165879"/>
            <a:ext cx="1735037" cy="1366586"/>
          </a:xfrm>
          <a:prstGeom prst="rect">
            <a:avLst/>
          </a:prstGeom>
        </p:spPr>
      </p:pic>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369735" y="369735"/>
            <a:ext cx="11517234" cy="184867"/>
          </a:xfrm>
          <a:prstGeom prst="rect">
            <a:avLst/>
          </a:prstGeom>
          <a:noFill/>
          <a:ln/>
        </p:spPr>
        <p:txBody>
          <a:bodyPr wrap="square" lIns="0" tIns="0" rIns="0" bIns="0" rtlCol="0" anchor="ctr"/>
          <a:lstStyle/>
          <a:p>
            <a:pPr>
              <a:lnSpc>
                <a:spcPct val="120000"/>
              </a:lnSpc>
            </a:pPr>
            <a:r>
              <a:rPr lang="en-US" sz="1019" b="1" kern="0" spc="102" dirty="0">
                <a:solidFill>
                  <a:srgbClr val="86868B"/>
                </a:solidFill>
                <a:latin typeface="Liter" pitchFamily="34" charset="0"/>
                <a:ea typeface="Liter" pitchFamily="34" charset="-122"/>
                <a:cs typeface="Liter" pitchFamily="34" charset="-120"/>
              </a:rPr>
              <a:t>02 / LOGICIEL</a:t>
            </a:r>
            <a:endParaRPr lang="en-US" sz="1600" dirty="0"/>
          </a:p>
        </p:txBody>
      </p:sp>
      <p:sp>
        <p:nvSpPr>
          <p:cNvPr id="3" name="Text 1"/>
          <p:cNvSpPr/>
          <p:nvPr/>
        </p:nvSpPr>
        <p:spPr>
          <a:xfrm>
            <a:off x="369735" y="665522"/>
            <a:ext cx="11674371" cy="443682"/>
          </a:xfrm>
          <a:prstGeom prst="rect">
            <a:avLst/>
          </a:prstGeom>
          <a:noFill/>
          <a:ln/>
        </p:spPr>
        <p:txBody>
          <a:bodyPr wrap="square" lIns="0" tIns="0" rIns="0" bIns="0" rtlCol="0" anchor="ctr"/>
          <a:lstStyle/>
          <a:p>
            <a:pPr>
              <a:lnSpc>
                <a:spcPct val="80000"/>
              </a:lnSpc>
            </a:pPr>
            <a:r>
              <a:rPr lang="en-US" sz="3494" b="1" dirty="0">
                <a:solidFill>
                  <a:srgbClr val="1D1D1D"/>
                </a:solidFill>
                <a:latin typeface="Liter" pitchFamily="34" charset="0"/>
                <a:ea typeface="Liter" pitchFamily="34" charset="-122"/>
                <a:cs typeface="Liter" pitchFamily="34" charset="-120"/>
              </a:rPr>
              <a:t>Bibliothèques et dépendances</a:t>
            </a:r>
            <a:endParaRPr lang="en-US" sz="1600" dirty="0"/>
          </a:p>
        </p:txBody>
      </p:sp>
      <p:sp>
        <p:nvSpPr>
          <p:cNvPr id="4" name="Shape 2"/>
          <p:cNvSpPr/>
          <p:nvPr/>
        </p:nvSpPr>
        <p:spPr>
          <a:xfrm>
            <a:off x="373432" y="1408689"/>
            <a:ext cx="11450682" cy="1190546"/>
          </a:xfrm>
          <a:custGeom>
            <a:avLst/>
            <a:gdLst/>
            <a:ahLst/>
            <a:cxnLst/>
            <a:rect l="l" t="t" r="r" b="b"/>
            <a:pathLst>
              <a:path w="11450682" h="1190546">
                <a:moveTo>
                  <a:pt x="147890" y="0"/>
                </a:moveTo>
                <a:lnTo>
                  <a:pt x="11302792" y="0"/>
                </a:lnTo>
                <a:cubicBezTo>
                  <a:pt x="11384470" y="0"/>
                  <a:pt x="11450682" y="66212"/>
                  <a:pt x="11450682" y="147890"/>
                </a:cubicBezTo>
                <a:lnTo>
                  <a:pt x="11450682" y="1042656"/>
                </a:lnTo>
                <a:cubicBezTo>
                  <a:pt x="11450682" y="1124333"/>
                  <a:pt x="11384470" y="1190546"/>
                  <a:pt x="11302792" y="1190546"/>
                </a:cubicBezTo>
                <a:lnTo>
                  <a:pt x="147890" y="1190546"/>
                </a:lnTo>
                <a:cubicBezTo>
                  <a:pt x="66212" y="1190546"/>
                  <a:pt x="0" y="1124333"/>
                  <a:pt x="0" y="1042656"/>
                </a:cubicBezTo>
                <a:lnTo>
                  <a:pt x="0" y="147890"/>
                </a:lnTo>
                <a:cubicBezTo>
                  <a:pt x="0" y="66212"/>
                  <a:pt x="66212" y="0"/>
                  <a:pt x="147890" y="0"/>
                </a:cubicBezTo>
                <a:close/>
              </a:path>
            </a:pathLst>
          </a:custGeom>
          <a:solidFill>
            <a:srgbClr val="FFFFFF"/>
          </a:solidFill>
          <a:ln w="10160">
            <a:solidFill>
              <a:srgbClr val="E5E5E5"/>
            </a:solidFill>
            <a:prstDash val="solid"/>
          </a:ln>
        </p:spPr>
      </p:sp>
      <p:sp>
        <p:nvSpPr>
          <p:cNvPr id="5" name="Shape 3"/>
          <p:cNvSpPr/>
          <p:nvPr/>
        </p:nvSpPr>
        <p:spPr>
          <a:xfrm>
            <a:off x="598970" y="1634230"/>
            <a:ext cx="739469" cy="739469"/>
          </a:xfrm>
          <a:custGeom>
            <a:avLst/>
            <a:gdLst/>
            <a:ahLst/>
            <a:cxnLst/>
            <a:rect l="l" t="t" r="r" b="b"/>
            <a:pathLst>
              <a:path w="739469" h="739469">
                <a:moveTo>
                  <a:pt x="147894" y="0"/>
                </a:moveTo>
                <a:lnTo>
                  <a:pt x="591575" y="0"/>
                </a:lnTo>
                <a:cubicBezTo>
                  <a:pt x="673200" y="0"/>
                  <a:pt x="739469" y="66269"/>
                  <a:pt x="739469" y="147894"/>
                </a:cubicBezTo>
                <a:lnTo>
                  <a:pt x="739469" y="591575"/>
                </a:lnTo>
                <a:cubicBezTo>
                  <a:pt x="739469" y="673255"/>
                  <a:pt x="673255" y="739469"/>
                  <a:pt x="591575" y="739469"/>
                </a:cubicBezTo>
                <a:lnTo>
                  <a:pt x="147894" y="739469"/>
                </a:lnTo>
                <a:cubicBezTo>
                  <a:pt x="66269" y="739469"/>
                  <a:pt x="0" y="673200"/>
                  <a:pt x="0" y="591575"/>
                </a:cubicBezTo>
                <a:lnTo>
                  <a:pt x="0" y="147894"/>
                </a:lnTo>
                <a:cubicBezTo>
                  <a:pt x="0" y="66269"/>
                  <a:pt x="66269" y="0"/>
                  <a:pt x="147894" y="0"/>
                </a:cubicBezTo>
                <a:close/>
              </a:path>
            </a:pathLst>
          </a:custGeom>
          <a:solidFill>
            <a:srgbClr val="0071E3">
              <a:alpha val="10196"/>
            </a:srgbClr>
          </a:solidFill>
          <a:ln/>
        </p:spPr>
      </p:sp>
      <p:sp>
        <p:nvSpPr>
          <p:cNvPr id="6" name="Shape 4"/>
          <p:cNvSpPr/>
          <p:nvPr/>
        </p:nvSpPr>
        <p:spPr>
          <a:xfrm>
            <a:off x="815034" y="1865314"/>
            <a:ext cx="311964" cy="277301"/>
          </a:xfrm>
          <a:custGeom>
            <a:avLst/>
            <a:gdLst/>
            <a:ahLst/>
            <a:cxnLst/>
            <a:rect l="l" t="t" r="r" b="b"/>
            <a:pathLst>
              <a:path w="311964" h="277301">
                <a:moveTo>
                  <a:pt x="195411" y="650"/>
                </a:moveTo>
                <a:cubicBezTo>
                  <a:pt x="186203" y="-2004"/>
                  <a:pt x="176617" y="3358"/>
                  <a:pt x="173963" y="12565"/>
                </a:cubicBezTo>
                <a:lnTo>
                  <a:pt x="104638" y="255204"/>
                </a:lnTo>
                <a:cubicBezTo>
                  <a:pt x="101984" y="264411"/>
                  <a:pt x="107346" y="273997"/>
                  <a:pt x="116553" y="276651"/>
                </a:cubicBezTo>
                <a:cubicBezTo>
                  <a:pt x="125760" y="279305"/>
                  <a:pt x="135347" y="273943"/>
                  <a:pt x="138001" y="264736"/>
                </a:cubicBezTo>
                <a:lnTo>
                  <a:pt x="207326" y="22097"/>
                </a:lnTo>
                <a:cubicBezTo>
                  <a:pt x="209980" y="12890"/>
                  <a:pt x="204618" y="3304"/>
                  <a:pt x="195411" y="650"/>
                </a:cubicBezTo>
                <a:close/>
                <a:moveTo>
                  <a:pt x="230398" y="74362"/>
                </a:moveTo>
                <a:cubicBezTo>
                  <a:pt x="223628" y="81132"/>
                  <a:pt x="223628" y="92127"/>
                  <a:pt x="230398" y="98897"/>
                </a:cubicBezTo>
                <a:lnTo>
                  <a:pt x="270152" y="138650"/>
                </a:lnTo>
                <a:lnTo>
                  <a:pt x="230398" y="178404"/>
                </a:lnTo>
                <a:cubicBezTo>
                  <a:pt x="223628" y="185174"/>
                  <a:pt x="223628" y="196169"/>
                  <a:pt x="230398" y="202939"/>
                </a:cubicBezTo>
                <a:cubicBezTo>
                  <a:pt x="237168" y="209709"/>
                  <a:pt x="248163" y="209709"/>
                  <a:pt x="254933" y="202939"/>
                </a:cubicBezTo>
                <a:lnTo>
                  <a:pt x="306927" y="150945"/>
                </a:lnTo>
                <a:cubicBezTo>
                  <a:pt x="313697" y="144175"/>
                  <a:pt x="313697" y="133180"/>
                  <a:pt x="306927" y="126410"/>
                </a:cubicBezTo>
                <a:lnTo>
                  <a:pt x="254933" y="74416"/>
                </a:lnTo>
                <a:cubicBezTo>
                  <a:pt x="248163" y="67646"/>
                  <a:pt x="237168" y="67646"/>
                  <a:pt x="230398" y="74416"/>
                </a:cubicBezTo>
                <a:close/>
                <a:moveTo>
                  <a:pt x="81620" y="74362"/>
                </a:moveTo>
                <a:cubicBezTo>
                  <a:pt x="74850" y="67592"/>
                  <a:pt x="63855" y="67592"/>
                  <a:pt x="57085" y="74362"/>
                </a:cubicBezTo>
                <a:lnTo>
                  <a:pt x="5091" y="126356"/>
                </a:lnTo>
                <a:cubicBezTo>
                  <a:pt x="-1679" y="133126"/>
                  <a:pt x="-1679" y="144121"/>
                  <a:pt x="5091" y="150891"/>
                </a:cubicBezTo>
                <a:lnTo>
                  <a:pt x="57085" y="202885"/>
                </a:lnTo>
                <a:cubicBezTo>
                  <a:pt x="63855" y="209655"/>
                  <a:pt x="74850" y="209655"/>
                  <a:pt x="81620" y="202885"/>
                </a:cubicBezTo>
                <a:cubicBezTo>
                  <a:pt x="88390" y="196115"/>
                  <a:pt x="88390" y="185120"/>
                  <a:pt x="81620" y="178350"/>
                </a:cubicBezTo>
                <a:lnTo>
                  <a:pt x="41866" y="138650"/>
                </a:lnTo>
                <a:lnTo>
                  <a:pt x="81565" y="98897"/>
                </a:lnTo>
                <a:cubicBezTo>
                  <a:pt x="88336" y="92127"/>
                  <a:pt x="88336" y="81132"/>
                  <a:pt x="81565" y="74362"/>
                </a:cubicBezTo>
                <a:close/>
              </a:path>
            </a:pathLst>
          </a:custGeom>
          <a:solidFill>
            <a:srgbClr val="0071E3"/>
          </a:solidFill>
          <a:ln/>
        </p:spPr>
      </p:sp>
      <p:sp>
        <p:nvSpPr>
          <p:cNvPr id="7" name="Text 5"/>
          <p:cNvSpPr/>
          <p:nvPr/>
        </p:nvSpPr>
        <p:spPr>
          <a:xfrm>
            <a:off x="1634227" y="1683913"/>
            <a:ext cx="859633" cy="295788"/>
          </a:xfrm>
          <a:prstGeom prst="rect">
            <a:avLst/>
          </a:prstGeom>
          <a:noFill/>
          <a:ln/>
        </p:spPr>
        <p:txBody>
          <a:bodyPr wrap="square" lIns="0" tIns="0" rIns="0" bIns="0" rtlCol="0" anchor="ctr"/>
          <a:lstStyle/>
          <a:p>
            <a:pPr>
              <a:lnSpc>
                <a:spcPct val="110000"/>
              </a:lnSpc>
            </a:pPr>
            <a:r>
              <a:rPr lang="en-US" sz="1747" b="1" dirty="0">
                <a:solidFill>
                  <a:srgbClr val="1D1D1D"/>
                </a:solidFill>
                <a:latin typeface="Liter" pitchFamily="34" charset="0"/>
                <a:ea typeface="Liter" pitchFamily="34" charset="-122"/>
                <a:cs typeface="Liter" pitchFamily="34" charset="-120"/>
              </a:rPr>
              <a:t>SevSeg</a:t>
            </a:r>
            <a:endParaRPr lang="en-US" sz="1600" dirty="0"/>
          </a:p>
        </p:txBody>
      </p:sp>
      <p:sp>
        <p:nvSpPr>
          <p:cNvPr id="8" name="Text 6"/>
          <p:cNvSpPr/>
          <p:nvPr/>
        </p:nvSpPr>
        <p:spPr>
          <a:xfrm>
            <a:off x="2531989" y="1765253"/>
            <a:ext cx="397465" cy="184867"/>
          </a:xfrm>
          <a:prstGeom prst="rect">
            <a:avLst/>
          </a:prstGeom>
          <a:noFill/>
          <a:ln/>
        </p:spPr>
        <p:txBody>
          <a:bodyPr wrap="square" lIns="0" tIns="0" rIns="0" bIns="0" rtlCol="0" anchor="ctr"/>
          <a:lstStyle/>
          <a:p>
            <a:pPr>
              <a:lnSpc>
                <a:spcPct val="120000"/>
              </a:lnSpc>
            </a:pPr>
            <a:r>
              <a:rPr lang="en-US" sz="1019" dirty="0">
                <a:solidFill>
                  <a:srgbClr val="86868B"/>
                </a:solidFill>
                <a:latin typeface="Liter" pitchFamily="34" charset="0"/>
                <a:ea typeface="Liter" pitchFamily="34" charset="-122"/>
                <a:cs typeface="Liter" pitchFamily="34" charset="-120"/>
              </a:rPr>
              <a:t>v3.6.1</a:t>
            </a:r>
            <a:endParaRPr lang="en-US" sz="1600" dirty="0"/>
          </a:p>
        </p:txBody>
      </p:sp>
      <p:sp>
        <p:nvSpPr>
          <p:cNvPr id="9" name="Text 7"/>
          <p:cNvSpPr/>
          <p:nvPr/>
        </p:nvSpPr>
        <p:spPr>
          <a:xfrm>
            <a:off x="1634227" y="2053530"/>
            <a:ext cx="10047539" cy="268058"/>
          </a:xfrm>
          <a:prstGeom prst="rect">
            <a:avLst/>
          </a:prstGeom>
          <a:noFill/>
          <a:ln/>
        </p:spPr>
        <p:txBody>
          <a:bodyPr wrap="square" lIns="0" tIns="0" rIns="0" bIns="0" rtlCol="0" anchor="ctr"/>
          <a:lstStyle/>
          <a:p>
            <a:pPr>
              <a:lnSpc>
                <a:spcPct val="140000"/>
              </a:lnSpc>
            </a:pPr>
            <a:r>
              <a:rPr lang="en-US" sz="1310" dirty="0">
                <a:solidFill>
                  <a:srgbClr val="86868B"/>
                </a:solidFill>
                <a:latin typeface="Liter" pitchFamily="34" charset="0"/>
                <a:ea typeface="Liter" pitchFamily="34" charset="-122"/>
                <a:cs typeface="Liter" pitchFamily="34" charset="-120"/>
              </a:rPr>
              <a:t>Contrôle de l'afficheur 7 segments avec multiplexage temporel pour afficher plusieurs digits</a:t>
            </a:r>
            <a:endParaRPr lang="en-US" sz="1600" dirty="0"/>
          </a:p>
        </p:txBody>
      </p:sp>
      <p:sp>
        <p:nvSpPr>
          <p:cNvPr id="10" name="Shape 8"/>
          <p:cNvSpPr/>
          <p:nvPr/>
        </p:nvSpPr>
        <p:spPr>
          <a:xfrm>
            <a:off x="373432" y="2828471"/>
            <a:ext cx="11450682" cy="1190546"/>
          </a:xfrm>
          <a:custGeom>
            <a:avLst/>
            <a:gdLst/>
            <a:ahLst/>
            <a:cxnLst/>
            <a:rect l="l" t="t" r="r" b="b"/>
            <a:pathLst>
              <a:path w="11450682" h="1190546">
                <a:moveTo>
                  <a:pt x="147890" y="0"/>
                </a:moveTo>
                <a:lnTo>
                  <a:pt x="11302792" y="0"/>
                </a:lnTo>
                <a:cubicBezTo>
                  <a:pt x="11384470" y="0"/>
                  <a:pt x="11450682" y="66212"/>
                  <a:pt x="11450682" y="147890"/>
                </a:cubicBezTo>
                <a:lnTo>
                  <a:pt x="11450682" y="1042656"/>
                </a:lnTo>
                <a:cubicBezTo>
                  <a:pt x="11450682" y="1124333"/>
                  <a:pt x="11384470" y="1190546"/>
                  <a:pt x="11302792" y="1190546"/>
                </a:cubicBezTo>
                <a:lnTo>
                  <a:pt x="147890" y="1190546"/>
                </a:lnTo>
                <a:cubicBezTo>
                  <a:pt x="66212" y="1190546"/>
                  <a:pt x="0" y="1124333"/>
                  <a:pt x="0" y="1042656"/>
                </a:cubicBezTo>
                <a:lnTo>
                  <a:pt x="0" y="147890"/>
                </a:lnTo>
                <a:cubicBezTo>
                  <a:pt x="0" y="66212"/>
                  <a:pt x="66212" y="0"/>
                  <a:pt x="147890" y="0"/>
                </a:cubicBezTo>
                <a:close/>
              </a:path>
            </a:pathLst>
          </a:custGeom>
          <a:solidFill>
            <a:srgbClr val="FFFFFF"/>
          </a:solidFill>
          <a:ln w="10160">
            <a:solidFill>
              <a:srgbClr val="E5E5E5"/>
            </a:solidFill>
            <a:prstDash val="solid"/>
          </a:ln>
        </p:spPr>
      </p:sp>
      <p:sp>
        <p:nvSpPr>
          <p:cNvPr id="11" name="Shape 9"/>
          <p:cNvSpPr/>
          <p:nvPr/>
        </p:nvSpPr>
        <p:spPr>
          <a:xfrm>
            <a:off x="598970" y="3054007"/>
            <a:ext cx="739469" cy="739469"/>
          </a:xfrm>
          <a:custGeom>
            <a:avLst/>
            <a:gdLst/>
            <a:ahLst/>
            <a:cxnLst/>
            <a:rect l="l" t="t" r="r" b="b"/>
            <a:pathLst>
              <a:path w="739469" h="739469">
                <a:moveTo>
                  <a:pt x="147894" y="0"/>
                </a:moveTo>
                <a:lnTo>
                  <a:pt x="591575" y="0"/>
                </a:lnTo>
                <a:cubicBezTo>
                  <a:pt x="673200" y="0"/>
                  <a:pt x="739469" y="66269"/>
                  <a:pt x="739469" y="147894"/>
                </a:cubicBezTo>
                <a:lnTo>
                  <a:pt x="739469" y="591575"/>
                </a:lnTo>
                <a:cubicBezTo>
                  <a:pt x="739469" y="673255"/>
                  <a:pt x="673255" y="739469"/>
                  <a:pt x="591575" y="739469"/>
                </a:cubicBezTo>
                <a:lnTo>
                  <a:pt x="147894" y="739469"/>
                </a:lnTo>
                <a:cubicBezTo>
                  <a:pt x="66269" y="739469"/>
                  <a:pt x="0" y="673200"/>
                  <a:pt x="0" y="591575"/>
                </a:cubicBezTo>
                <a:lnTo>
                  <a:pt x="0" y="147894"/>
                </a:lnTo>
                <a:cubicBezTo>
                  <a:pt x="0" y="66269"/>
                  <a:pt x="66269" y="0"/>
                  <a:pt x="147894" y="0"/>
                </a:cubicBezTo>
                <a:close/>
              </a:path>
            </a:pathLst>
          </a:custGeom>
          <a:solidFill>
            <a:srgbClr val="0071E3">
              <a:alpha val="10196"/>
            </a:srgbClr>
          </a:solidFill>
          <a:ln/>
        </p:spPr>
      </p:sp>
      <p:sp>
        <p:nvSpPr>
          <p:cNvPr id="12" name="Shape 10"/>
          <p:cNvSpPr/>
          <p:nvPr/>
        </p:nvSpPr>
        <p:spPr>
          <a:xfrm>
            <a:off x="815034" y="3285091"/>
            <a:ext cx="311964" cy="277301"/>
          </a:xfrm>
          <a:custGeom>
            <a:avLst/>
            <a:gdLst/>
            <a:ahLst/>
            <a:cxnLst/>
            <a:rect l="l" t="t" r="r" b="b"/>
            <a:pathLst>
              <a:path w="311964" h="277301">
                <a:moveTo>
                  <a:pt x="155982" y="51994"/>
                </a:moveTo>
                <a:cubicBezTo>
                  <a:pt x="106750" y="51994"/>
                  <a:pt x="62176" y="71492"/>
                  <a:pt x="29409" y="103230"/>
                </a:cubicBezTo>
                <a:cubicBezTo>
                  <a:pt x="22531" y="109891"/>
                  <a:pt x="11536" y="109729"/>
                  <a:pt x="4929" y="102851"/>
                </a:cubicBezTo>
                <a:cubicBezTo>
                  <a:pt x="-1679" y="95972"/>
                  <a:pt x="-1571" y="84978"/>
                  <a:pt x="5308" y="78370"/>
                </a:cubicBezTo>
                <a:cubicBezTo>
                  <a:pt x="44249" y="40566"/>
                  <a:pt x="97434" y="17331"/>
                  <a:pt x="155982" y="17331"/>
                </a:cubicBezTo>
                <a:cubicBezTo>
                  <a:pt x="214529" y="17331"/>
                  <a:pt x="267715" y="40566"/>
                  <a:pt x="306710" y="78370"/>
                </a:cubicBezTo>
                <a:cubicBezTo>
                  <a:pt x="313588" y="85032"/>
                  <a:pt x="313751" y="96026"/>
                  <a:pt x="307089" y="102851"/>
                </a:cubicBezTo>
                <a:cubicBezTo>
                  <a:pt x="300427" y="109675"/>
                  <a:pt x="289433" y="109891"/>
                  <a:pt x="282609" y="103230"/>
                </a:cubicBezTo>
                <a:cubicBezTo>
                  <a:pt x="249788" y="71492"/>
                  <a:pt x="205214" y="51994"/>
                  <a:pt x="155982" y="51994"/>
                </a:cubicBezTo>
                <a:close/>
                <a:moveTo>
                  <a:pt x="129985" y="233973"/>
                </a:moveTo>
                <a:cubicBezTo>
                  <a:pt x="129985" y="219625"/>
                  <a:pt x="141634" y="207976"/>
                  <a:pt x="155982" y="207976"/>
                </a:cubicBezTo>
                <a:cubicBezTo>
                  <a:pt x="170330" y="207976"/>
                  <a:pt x="181979" y="219625"/>
                  <a:pt x="181979" y="233973"/>
                </a:cubicBezTo>
                <a:cubicBezTo>
                  <a:pt x="181979" y="248321"/>
                  <a:pt x="170330" y="259970"/>
                  <a:pt x="155982" y="259970"/>
                </a:cubicBezTo>
                <a:cubicBezTo>
                  <a:pt x="141634" y="259970"/>
                  <a:pt x="129985" y="248321"/>
                  <a:pt x="129985" y="233973"/>
                </a:cubicBezTo>
                <a:close/>
                <a:moveTo>
                  <a:pt x="90989" y="176671"/>
                </a:moveTo>
                <a:cubicBezTo>
                  <a:pt x="84653" y="183874"/>
                  <a:pt x="73712" y="184524"/>
                  <a:pt x="66509" y="178188"/>
                </a:cubicBezTo>
                <a:cubicBezTo>
                  <a:pt x="59306" y="171851"/>
                  <a:pt x="58656" y="160910"/>
                  <a:pt x="64992" y="153707"/>
                </a:cubicBezTo>
                <a:cubicBezTo>
                  <a:pt x="87198" y="128577"/>
                  <a:pt x="119749" y="112654"/>
                  <a:pt x="155982" y="112654"/>
                </a:cubicBezTo>
                <a:cubicBezTo>
                  <a:pt x="192215" y="112654"/>
                  <a:pt x="224765" y="128577"/>
                  <a:pt x="246971" y="153707"/>
                </a:cubicBezTo>
                <a:cubicBezTo>
                  <a:pt x="253308" y="160910"/>
                  <a:pt x="252604" y="171851"/>
                  <a:pt x="245455" y="178188"/>
                </a:cubicBezTo>
                <a:cubicBezTo>
                  <a:pt x="238306" y="184524"/>
                  <a:pt x="227311" y="183820"/>
                  <a:pt x="220974" y="176671"/>
                </a:cubicBezTo>
                <a:cubicBezTo>
                  <a:pt x="205051" y="158636"/>
                  <a:pt x="181870" y="147316"/>
                  <a:pt x="155982" y="147316"/>
                </a:cubicBezTo>
                <a:cubicBezTo>
                  <a:pt x="130093" y="147316"/>
                  <a:pt x="106913" y="158636"/>
                  <a:pt x="90989" y="176671"/>
                </a:cubicBezTo>
                <a:close/>
              </a:path>
            </a:pathLst>
          </a:custGeom>
          <a:solidFill>
            <a:srgbClr val="0071E3"/>
          </a:solidFill>
          <a:ln/>
        </p:spPr>
      </p:sp>
      <p:sp>
        <p:nvSpPr>
          <p:cNvPr id="13" name="Text 11"/>
          <p:cNvSpPr/>
          <p:nvPr/>
        </p:nvSpPr>
        <p:spPr>
          <a:xfrm>
            <a:off x="1634227" y="3103690"/>
            <a:ext cx="2523439" cy="295788"/>
          </a:xfrm>
          <a:prstGeom prst="rect">
            <a:avLst/>
          </a:prstGeom>
          <a:noFill/>
          <a:ln/>
        </p:spPr>
        <p:txBody>
          <a:bodyPr wrap="square" lIns="0" tIns="0" rIns="0" bIns="0" rtlCol="0" anchor="ctr"/>
          <a:lstStyle/>
          <a:p>
            <a:pPr>
              <a:lnSpc>
                <a:spcPct val="110000"/>
              </a:lnSpc>
            </a:pPr>
            <a:r>
              <a:rPr lang="en-US" sz="1747" b="1" dirty="0">
                <a:solidFill>
                  <a:srgbClr val="1D1D1D"/>
                </a:solidFill>
                <a:latin typeface="Liter" pitchFamily="34" charset="0"/>
                <a:ea typeface="Liter" pitchFamily="34" charset="-122"/>
                <a:cs typeface="Liter" pitchFamily="34" charset="-120"/>
              </a:rPr>
              <a:t>WiFi &amp; WiFiClientSecure</a:t>
            </a:r>
            <a:endParaRPr lang="en-US" sz="1600" dirty="0"/>
          </a:p>
        </p:txBody>
      </p:sp>
      <p:sp>
        <p:nvSpPr>
          <p:cNvPr id="14" name="Text 12"/>
          <p:cNvSpPr/>
          <p:nvPr/>
        </p:nvSpPr>
        <p:spPr>
          <a:xfrm>
            <a:off x="4197413" y="3185035"/>
            <a:ext cx="748713" cy="184867"/>
          </a:xfrm>
          <a:prstGeom prst="rect">
            <a:avLst/>
          </a:prstGeom>
          <a:noFill/>
          <a:ln/>
        </p:spPr>
        <p:txBody>
          <a:bodyPr wrap="square" lIns="0" tIns="0" rIns="0" bIns="0" rtlCol="0" anchor="ctr"/>
          <a:lstStyle/>
          <a:p>
            <a:pPr>
              <a:lnSpc>
                <a:spcPct val="120000"/>
              </a:lnSpc>
            </a:pPr>
            <a:r>
              <a:rPr lang="en-US" sz="1019" dirty="0">
                <a:solidFill>
                  <a:srgbClr val="86868B"/>
                </a:solidFill>
                <a:latin typeface="Liter" pitchFamily="34" charset="0"/>
                <a:ea typeface="Liter" pitchFamily="34" charset="-122"/>
                <a:cs typeface="Liter" pitchFamily="34" charset="-120"/>
              </a:rPr>
              <a:t>Core ESP32</a:t>
            </a:r>
            <a:endParaRPr lang="en-US" sz="1600" dirty="0"/>
          </a:p>
        </p:txBody>
      </p:sp>
      <p:sp>
        <p:nvSpPr>
          <p:cNvPr id="15" name="Text 13"/>
          <p:cNvSpPr/>
          <p:nvPr/>
        </p:nvSpPr>
        <p:spPr>
          <a:xfrm>
            <a:off x="1634227" y="3473312"/>
            <a:ext cx="10047539" cy="268058"/>
          </a:xfrm>
          <a:prstGeom prst="rect">
            <a:avLst/>
          </a:prstGeom>
          <a:noFill/>
          <a:ln/>
        </p:spPr>
        <p:txBody>
          <a:bodyPr wrap="square" lIns="0" tIns="0" rIns="0" bIns="0" rtlCol="0" anchor="ctr"/>
          <a:lstStyle/>
          <a:p>
            <a:pPr>
              <a:lnSpc>
                <a:spcPct val="140000"/>
              </a:lnSpc>
            </a:pPr>
            <a:r>
              <a:rPr lang="en-US" sz="1310" dirty="0">
                <a:solidFill>
                  <a:srgbClr val="86868B"/>
                </a:solidFill>
                <a:latin typeface="Liter" pitchFamily="34" charset="0"/>
                <a:ea typeface="Liter" pitchFamily="34" charset="-122"/>
                <a:cs typeface="Liter" pitchFamily="34" charset="-120"/>
              </a:rPr>
              <a:t>Connectivité réseau et communications sécurisées HTTPS pour Firebase et serveur web</a:t>
            </a:r>
            <a:endParaRPr lang="en-US" sz="1600" dirty="0"/>
          </a:p>
        </p:txBody>
      </p:sp>
      <p:sp>
        <p:nvSpPr>
          <p:cNvPr id="16" name="Shape 14"/>
          <p:cNvSpPr/>
          <p:nvPr/>
        </p:nvSpPr>
        <p:spPr>
          <a:xfrm>
            <a:off x="373432" y="4248253"/>
            <a:ext cx="11450682" cy="1190546"/>
          </a:xfrm>
          <a:custGeom>
            <a:avLst/>
            <a:gdLst/>
            <a:ahLst/>
            <a:cxnLst/>
            <a:rect l="l" t="t" r="r" b="b"/>
            <a:pathLst>
              <a:path w="11450682" h="1190546">
                <a:moveTo>
                  <a:pt x="147890" y="0"/>
                </a:moveTo>
                <a:lnTo>
                  <a:pt x="11302792" y="0"/>
                </a:lnTo>
                <a:cubicBezTo>
                  <a:pt x="11384470" y="0"/>
                  <a:pt x="11450682" y="66212"/>
                  <a:pt x="11450682" y="147890"/>
                </a:cubicBezTo>
                <a:lnTo>
                  <a:pt x="11450682" y="1042656"/>
                </a:lnTo>
                <a:cubicBezTo>
                  <a:pt x="11450682" y="1124333"/>
                  <a:pt x="11384470" y="1190546"/>
                  <a:pt x="11302792" y="1190546"/>
                </a:cubicBezTo>
                <a:lnTo>
                  <a:pt x="147890" y="1190546"/>
                </a:lnTo>
                <a:cubicBezTo>
                  <a:pt x="66212" y="1190546"/>
                  <a:pt x="0" y="1124333"/>
                  <a:pt x="0" y="1042656"/>
                </a:cubicBezTo>
                <a:lnTo>
                  <a:pt x="0" y="147890"/>
                </a:lnTo>
                <a:cubicBezTo>
                  <a:pt x="0" y="66212"/>
                  <a:pt x="66212" y="0"/>
                  <a:pt x="147890" y="0"/>
                </a:cubicBezTo>
                <a:close/>
              </a:path>
            </a:pathLst>
          </a:custGeom>
          <a:solidFill>
            <a:srgbClr val="FFFFFF"/>
          </a:solidFill>
          <a:ln w="10160">
            <a:solidFill>
              <a:srgbClr val="E5E5E5"/>
            </a:solidFill>
            <a:prstDash val="solid"/>
          </a:ln>
        </p:spPr>
      </p:sp>
      <p:sp>
        <p:nvSpPr>
          <p:cNvPr id="17" name="Shape 15"/>
          <p:cNvSpPr/>
          <p:nvPr/>
        </p:nvSpPr>
        <p:spPr>
          <a:xfrm>
            <a:off x="598970" y="4473789"/>
            <a:ext cx="739469" cy="739469"/>
          </a:xfrm>
          <a:custGeom>
            <a:avLst/>
            <a:gdLst/>
            <a:ahLst/>
            <a:cxnLst/>
            <a:rect l="l" t="t" r="r" b="b"/>
            <a:pathLst>
              <a:path w="739469" h="739469">
                <a:moveTo>
                  <a:pt x="147894" y="0"/>
                </a:moveTo>
                <a:lnTo>
                  <a:pt x="591575" y="0"/>
                </a:lnTo>
                <a:cubicBezTo>
                  <a:pt x="673200" y="0"/>
                  <a:pt x="739469" y="66269"/>
                  <a:pt x="739469" y="147894"/>
                </a:cubicBezTo>
                <a:lnTo>
                  <a:pt x="739469" y="591575"/>
                </a:lnTo>
                <a:cubicBezTo>
                  <a:pt x="739469" y="673255"/>
                  <a:pt x="673255" y="739469"/>
                  <a:pt x="591575" y="739469"/>
                </a:cubicBezTo>
                <a:lnTo>
                  <a:pt x="147894" y="739469"/>
                </a:lnTo>
                <a:cubicBezTo>
                  <a:pt x="66269" y="739469"/>
                  <a:pt x="0" y="673200"/>
                  <a:pt x="0" y="591575"/>
                </a:cubicBezTo>
                <a:lnTo>
                  <a:pt x="0" y="147894"/>
                </a:lnTo>
                <a:cubicBezTo>
                  <a:pt x="0" y="66269"/>
                  <a:pt x="66269" y="0"/>
                  <a:pt x="147894" y="0"/>
                </a:cubicBezTo>
                <a:close/>
              </a:path>
            </a:pathLst>
          </a:custGeom>
          <a:solidFill>
            <a:srgbClr val="0071E3">
              <a:alpha val="10196"/>
            </a:srgbClr>
          </a:solidFill>
          <a:ln/>
        </p:spPr>
      </p:sp>
      <p:sp>
        <p:nvSpPr>
          <p:cNvPr id="18" name="Shape 16"/>
          <p:cNvSpPr/>
          <p:nvPr/>
        </p:nvSpPr>
        <p:spPr>
          <a:xfrm>
            <a:off x="815034" y="4704873"/>
            <a:ext cx="311964" cy="277301"/>
          </a:xfrm>
          <a:custGeom>
            <a:avLst/>
            <a:gdLst/>
            <a:ahLst/>
            <a:cxnLst/>
            <a:rect l="l" t="t" r="r" b="b"/>
            <a:pathLst>
              <a:path w="311964" h="277301">
                <a:moveTo>
                  <a:pt x="0" y="181979"/>
                </a:moveTo>
                <a:cubicBezTo>
                  <a:pt x="0" y="225036"/>
                  <a:pt x="34933" y="259970"/>
                  <a:pt x="77991" y="259970"/>
                </a:cubicBezTo>
                <a:lnTo>
                  <a:pt x="242638" y="259970"/>
                </a:lnTo>
                <a:cubicBezTo>
                  <a:pt x="280930" y="259970"/>
                  <a:pt x="311964" y="228936"/>
                  <a:pt x="311964" y="190644"/>
                </a:cubicBezTo>
                <a:cubicBezTo>
                  <a:pt x="311964" y="162698"/>
                  <a:pt x="295445" y="138596"/>
                  <a:pt x="271614" y="127656"/>
                </a:cubicBezTo>
                <a:cubicBezTo>
                  <a:pt x="275243" y="120561"/>
                  <a:pt x="277301" y="112491"/>
                  <a:pt x="277301" y="103988"/>
                </a:cubicBezTo>
                <a:cubicBezTo>
                  <a:pt x="277301" y="75283"/>
                  <a:pt x="254012" y="51994"/>
                  <a:pt x="225307" y="51994"/>
                </a:cubicBezTo>
                <a:cubicBezTo>
                  <a:pt x="215721" y="51994"/>
                  <a:pt x="206784" y="54594"/>
                  <a:pt x="199093" y="59089"/>
                </a:cubicBezTo>
                <a:cubicBezTo>
                  <a:pt x="186041" y="34284"/>
                  <a:pt x="159990" y="17331"/>
                  <a:pt x="129985" y="17331"/>
                </a:cubicBezTo>
                <a:cubicBezTo>
                  <a:pt x="86927" y="17331"/>
                  <a:pt x="51994" y="52265"/>
                  <a:pt x="51994" y="95322"/>
                </a:cubicBezTo>
                <a:cubicBezTo>
                  <a:pt x="51994" y="99655"/>
                  <a:pt x="52373" y="103934"/>
                  <a:pt x="53023" y="108050"/>
                </a:cubicBezTo>
                <a:cubicBezTo>
                  <a:pt x="22206" y="118449"/>
                  <a:pt x="0" y="147641"/>
                  <a:pt x="0" y="181979"/>
                </a:cubicBezTo>
                <a:close/>
              </a:path>
            </a:pathLst>
          </a:custGeom>
          <a:solidFill>
            <a:srgbClr val="0071E3"/>
          </a:solidFill>
          <a:ln/>
        </p:spPr>
      </p:sp>
      <p:sp>
        <p:nvSpPr>
          <p:cNvPr id="19" name="Text 17"/>
          <p:cNvSpPr/>
          <p:nvPr/>
        </p:nvSpPr>
        <p:spPr>
          <a:xfrm>
            <a:off x="1634227" y="4523472"/>
            <a:ext cx="3087284" cy="295788"/>
          </a:xfrm>
          <a:prstGeom prst="rect">
            <a:avLst/>
          </a:prstGeom>
          <a:noFill/>
          <a:ln/>
        </p:spPr>
        <p:txBody>
          <a:bodyPr wrap="square" lIns="0" tIns="0" rIns="0" bIns="0" rtlCol="0" anchor="ctr"/>
          <a:lstStyle/>
          <a:p>
            <a:pPr>
              <a:lnSpc>
                <a:spcPct val="110000"/>
              </a:lnSpc>
            </a:pPr>
            <a:r>
              <a:rPr lang="en-US" sz="1747" b="1" dirty="0">
                <a:solidFill>
                  <a:srgbClr val="1D1D1D"/>
                </a:solidFill>
                <a:latin typeface="Liter" pitchFamily="34" charset="0"/>
                <a:ea typeface="Liter" pitchFamily="34" charset="-122"/>
                <a:cs typeface="Liter" pitchFamily="34" charset="-120"/>
              </a:rPr>
              <a:t>FirebaseJson &amp; FirebaseClient</a:t>
            </a:r>
            <a:endParaRPr lang="en-US" sz="1600" dirty="0"/>
          </a:p>
        </p:txBody>
      </p:sp>
      <p:sp>
        <p:nvSpPr>
          <p:cNvPr id="20" name="Text 18"/>
          <p:cNvSpPr/>
          <p:nvPr/>
        </p:nvSpPr>
        <p:spPr>
          <a:xfrm>
            <a:off x="4762876" y="4604817"/>
            <a:ext cx="471412" cy="184867"/>
          </a:xfrm>
          <a:prstGeom prst="rect">
            <a:avLst/>
          </a:prstGeom>
          <a:noFill/>
          <a:ln/>
        </p:spPr>
        <p:txBody>
          <a:bodyPr wrap="square" lIns="0" tIns="0" rIns="0" bIns="0" rtlCol="0" anchor="ctr"/>
          <a:lstStyle/>
          <a:p>
            <a:pPr>
              <a:lnSpc>
                <a:spcPct val="120000"/>
              </a:lnSpc>
            </a:pPr>
            <a:r>
              <a:rPr lang="en-US" sz="1019" dirty="0">
                <a:solidFill>
                  <a:srgbClr val="86868B"/>
                </a:solidFill>
                <a:latin typeface="Liter" pitchFamily="34" charset="0"/>
                <a:ea typeface="Liter" pitchFamily="34" charset="-122"/>
                <a:cs typeface="Liter" pitchFamily="34" charset="-120"/>
              </a:rPr>
              <a:t>v1.0.5+</a:t>
            </a:r>
            <a:endParaRPr lang="en-US" sz="1600" dirty="0"/>
          </a:p>
        </p:txBody>
      </p:sp>
      <p:sp>
        <p:nvSpPr>
          <p:cNvPr id="21" name="Text 19"/>
          <p:cNvSpPr/>
          <p:nvPr/>
        </p:nvSpPr>
        <p:spPr>
          <a:xfrm>
            <a:off x="1634227" y="4893094"/>
            <a:ext cx="10047539" cy="268058"/>
          </a:xfrm>
          <a:prstGeom prst="rect">
            <a:avLst/>
          </a:prstGeom>
          <a:noFill/>
          <a:ln/>
        </p:spPr>
        <p:txBody>
          <a:bodyPr wrap="square" lIns="0" tIns="0" rIns="0" bIns="0" rtlCol="0" anchor="ctr"/>
          <a:lstStyle/>
          <a:p>
            <a:pPr>
              <a:lnSpc>
                <a:spcPct val="140000"/>
              </a:lnSpc>
            </a:pPr>
            <a:r>
              <a:rPr lang="en-US" sz="1310" dirty="0">
                <a:solidFill>
                  <a:srgbClr val="86868B"/>
                </a:solidFill>
                <a:latin typeface="Liter" pitchFamily="34" charset="0"/>
                <a:ea typeface="Liter" pitchFamily="34" charset="-122"/>
                <a:cs typeface="Liter" pitchFamily="34" charset="-120"/>
              </a:rPr>
              <a:t>Intégration Firebase pour authentification et synchronisation temps réel avec Realtime Database</a:t>
            </a:r>
            <a:endParaRPr lang="en-US" sz="1600" dirty="0"/>
          </a:p>
        </p:txBody>
      </p:sp>
      <p:sp>
        <p:nvSpPr>
          <p:cNvPr id="22" name="Shape 20"/>
          <p:cNvSpPr/>
          <p:nvPr/>
        </p:nvSpPr>
        <p:spPr>
          <a:xfrm>
            <a:off x="373432" y="5668035"/>
            <a:ext cx="11450682" cy="1190546"/>
          </a:xfrm>
          <a:custGeom>
            <a:avLst/>
            <a:gdLst/>
            <a:ahLst/>
            <a:cxnLst/>
            <a:rect l="l" t="t" r="r" b="b"/>
            <a:pathLst>
              <a:path w="11450682" h="1190546">
                <a:moveTo>
                  <a:pt x="147890" y="0"/>
                </a:moveTo>
                <a:lnTo>
                  <a:pt x="11302792" y="0"/>
                </a:lnTo>
                <a:cubicBezTo>
                  <a:pt x="11384470" y="0"/>
                  <a:pt x="11450682" y="66212"/>
                  <a:pt x="11450682" y="147890"/>
                </a:cubicBezTo>
                <a:lnTo>
                  <a:pt x="11450682" y="1042656"/>
                </a:lnTo>
                <a:cubicBezTo>
                  <a:pt x="11450682" y="1124333"/>
                  <a:pt x="11384470" y="1190546"/>
                  <a:pt x="11302792" y="1190546"/>
                </a:cubicBezTo>
                <a:lnTo>
                  <a:pt x="147890" y="1190546"/>
                </a:lnTo>
                <a:cubicBezTo>
                  <a:pt x="66212" y="1190546"/>
                  <a:pt x="0" y="1124333"/>
                  <a:pt x="0" y="1042656"/>
                </a:cubicBezTo>
                <a:lnTo>
                  <a:pt x="0" y="147890"/>
                </a:lnTo>
                <a:cubicBezTo>
                  <a:pt x="0" y="66212"/>
                  <a:pt x="66212" y="0"/>
                  <a:pt x="147890" y="0"/>
                </a:cubicBezTo>
                <a:close/>
              </a:path>
            </a:pathLst>
          </a:custGeom>
          <a:solidFill>
            <a:srgbClr val="FFFFFF"/>
          </a:solidFill>
          <a:ln w="10160">
            <a:solidFill>
              <a:srgbClr val="E5E5E5"/>
            </a:solidFill>
            <a:prstDash val="solid"/>
          </a:ln>
        </p:spPr>
      </p:sp>
      <p:sp>
        <p:nvSpPr>
          <p:cNvPr id="23" name="Shape 21"/>
          <p:cNvSpPr/>
          <p:nvPr/>
        </p:nvSpPr>
        <p:spPr>
          <a:xfrm>
            <a:off x="598970" y="5893571"/>
            <a:ext cx="739469" cy="739469"/>
          </a:xfrm>
          <a:custGeom>
            <a:avLst/>
            <a:gdLst/>
            <a:ahLst/>
            <a:cxnLst/>
            <a:rect l="l" t="t" r="r" b="b"/>
            <a:pathLst>
              <a:path w="739469" h="739469">
                <a:moveTo>
                  <a:pt x="147894" y="0"/>
                </a:moveTo>
                <a:lnTo>
                  <a:pt x="591575" y="0"/>
                </a:lnTo>
                <a:cubicBezTo>
                  <a:pt x="673200" y="0"/>
                  <a:pt x="739469" y="66269"/>
                  <a:pt x="739469" y="147894"/>
                </a:cubicBezTo>
                <a:lnTo>
                  <a:pt x="739469" y="591575"/>
                </a:lnTo>
                <a:cubicBezTo>
                  <a:pt x="739469" y="673255"/>
                  <a:pt x="673255" y="739469"/>
                  <a:pt x="591575" y="739469"/>
                </a:cubicBezTo>
                <a:lnTo>
                  <a:pt x="147894" y="739469"/>
                </a:lnTo>
                <a:cubicBezTo>
                  <a:pt x="66269" y="739469"/>
                  <a:pt x="0" y="673200"/>
                  <a:pt x="0" y="591575"/>
                </a:cubicBezTo>
                <a:lnTo>
                  <a:pt x="0" y="147894"/>
                </a:lnTo>
                <a:cubicBezTo>
                  <a:pt x="0" y="66269"/>
                  <a:pt x="66269" y="0"/>
                  <a:pt x="147894" y="0"/>
                </a:cubicBezTo>
                <a:close/>
              </a:path>
            </a:pathLst>
          </a:custGeom>
          <a:solidFill>
            <a:srgbClr val="0071E3">
              <a:alpha val="10196"/>
            </a:srgbClr>
          </a:solidFill>
          <a:ln/>
        </p:spPr>
      </p:sp>
      <p:sp>
        <p:nvSpPr>
          <p:cNvPr id="24" name="Shape 22"/>
          <p:cNvSpPr/>
          <p:nvPr/>
        </p:nvSpPr>
        <p:spPr>
          <a:xfrm>
            <a:off x="832365" y="6124655"/>
            <a:ext cx="277301" cy="277301"/>
          </a:xfrm>
          <a:custGeom>
            <a:avLst/>
            <a:gdLst/>
            <a:ahLst/>
            <a:cxnLst/>
            <a:rect l="l" t="t" r="r" b="b"/>
            <a:pathLst>
              <a:path w="277301" h="277301">
                <a:moveTo>
                  <a:pt x="95322" y="12998"/>
                </a:moveTo>
                <a:cubicBezTo>
                  <a:pt x="95322" y="5795"/>
                  <a:pt x="89527" y="0"/>
                  <a:pt x="82324" y="0"/>
                </a:cubicBezTo>
                <a:cubicBezTo>
                  <a:pt x="75120" y="0"/>
                  <a:pt x="69325" y="5795"/>
                  <a:pt x="69325" y="12998"/>
                </a:cubicBezTo>
                <a:lnTo>
                  <a:pt x="69325" y="34663"/>
                </a:lnTo>
                <a:cubicBezTo>
                  <a:pt x="50207" y="34663"/>
                  <a:pt x="34663" y="50207"/>
                  <a:pt x="34663" y="69325"/>
                </a:cubicBezTo>
                <a:lnTo>
                  <a:pt x="12998" y="69325"/>
                </a:lnTo>
                <a:cubicBezTo>
                  <a:pt x="5795" y="69325"/>
                  <a:pt x="0" y="75120"/>
                  <a:pt x="0" y="82324"/>
                </a:cubicBezTo>
                <a:cubicBezTo>
                  <a:pt x="0" y="89527"/>
                  <a:pt x="5795" y="95322"/>
                  <a:pt x="12998" y="95322"/>
                </a:cubicBezTo>
                <a:lnTo>
                  <a:pt x="34663" y="95322"/>
                </a:lnTo>
                <a:lnTo>
                  <a:pt x="34663" y="125652"/>
                </a:lnTo>
                <a:lnTo>
                  <a:pt x="12998" y="125652"/>
                </a:lnTo>
                <a:cubicBezTo>
                  <a:pt x="5795" y="125652"/>
                  <a:pt x="0" y="131447"/>
                  <a:pt x="0" y="138650"/>
                </a:cubicBezTo>
                <a:cubicBezTo>
                  <a:pt x="0" y="145854"/>
                  <a:pt x="5795" y="151649"/>
                  <a:pt x="12998" y="151649"/>
                </a:cubicBezTo>
                <a:lnTo>
                  <a:pt x="34663" y="151649"/>
                </a:lnTo>
                <a:lnTo>
                  <a:pt x="34663" y="181979"/>
                </a:lnTo>
                <a:lnTo>
                  <a:pt x="12998" y="181979"/>
                </a:lnTo>
                <a:cubicBezTo>
                  <a:pt x="5795" y="181979"/>
                  <a:pt x="0" y="187774"/>
                  <a:pt x="0" y="194977"/>
                </a:cubicBezTo>
                <a:cubicBezTo>
                  <a:pt x="0" y="202181"/>
                  <a:pt x="5795" y="207976"/>
                  <a:pt x="12998" y="207976"/>
                </a:cubicBezTo>
                <a:lnTo>
                  <a:pt x="34663" y="207976"/>
                </a:lnTo>
                <a:cubicBezTo>
                  <a:pt x="34663" y="227094"/>
                  <a:pt x="50207" y="242638"/>
                  <a:pt x="69325" y="242638"/>
                </a:cubicBezTo>
                <a:lnTo>
                  <a:pt x="69325" y="264303"/>
                </a:lnTo>
                <a:cubicBezTo>
                  <a:pt x="69325" y="271506"/>
                  <a:pt x="75120" y="277301"/>
                  <a:pt x="82324" y="277301"/>
                </a:cubicBezTo>
                <a:cubicBezTo>
                  <a:pt x="89527" y="277301"/>
                  <a:pt x="95322" y="271506"/>
                  <a:pt x="95322" y="264303"/>
                </a:cubicBezTo>
                <a:lnTo>
                  <a:pt x="95322" y="242638"/>
                </a:lnTo>
                <a:lnTo>
                  <a:pt x="125652" y="242638"/>
                </a:lnTo>
                <a:lnTo>
                  <a:pt x="125652" y="264303"/>
                </a:lnTo>
                <a:cubicBezTo>
                  <a:pt x="125652" y="271506"/>
                  <a:pt x="131447" y="277301"/>
                  <a:pt x="138650" y="277301"/>
                </a:cubicBezTo>
                <a:cubicBezTo>
                  <a:pt x="145854" y="277301"/>
                  <a:pt x="151649" y="271506"/>
                  <a:pt x="151649" y="264303"/>
                </a:cubicBezTo>
                <a:lnTo>
                  <a:pt x="151649" y="242638"/>
                </a:lnTo>
                <a:lnTo>
                  <a:pt x="181979" y="242638"/>
                </a:lnTo>
                <a:lnTo>
                  <a:pt x="181979" y="264303"/>
                </a:lnTo>
                <a:cubicBezTo>
                  <a:pt x="181979" y="271506"/>
                  <a:pt x="187774" y="277301"/>
                  <a:pt x="194977" y="277301"/>
                </a:cubicBezTo>
                <a:cubicBezTo>
                  <a:pt x="202181" y="277301"/>
                  <a:pt x="207976" y="271506"/>
                  <a:pt x="207976" y="264303"/>
                </a:cubicBezTo>
                <a:lnTo>
                  <a:pt x="207976" y="242638"/>
                </a:lnTo>
                <a:cubicBezTo>
                  <a:pt x="227094" y="242638"/>
                  <a:pt x="242638" y="227094"/>
                  <a:pt x="242638" y="207976"/>
                </a:cubicBezTo>
                <a:lnTo>
                  <a:pt x="264303" y="207976"/>
                </a:lnTo>
                <a:cubicBezTo>
                  <a:pt x="271506" y="207976"/>
                  <a:pt x="277301" y="202181"/>
                  <a:pt x="277301" y="194977"/>
                </a:cubicBezTo>
                <a:cubicBezTo>
                  <a:pt x="277301" y="187774"/>
                  <a:pt x="271506" y="181979"/>
                  <a:pt x="264303" y="181979"/>
                </a:cubicBezTo>
                <a:lnTo>
                  <a:pt x="242638" y="181979"/>
                </a:lnTo>
                <a:lnTo>
                  <a:pt x="242638" y="151649"/>
                </a:lnTo>
                <a:lnTo>
                  <a:pt x="264303" y="151649"/>
                </a:lnTo>
                <a:cubicBezTo>
                  <a:pt x="271506" y="151649"/>
                  <a:pt x="277301" y="145854"/>
                  <a:pt x="277301" y="138650"/>
                </a:cubicBezTo>
                <a:cubicBezTo>
                  <a:pt x="277301" y="131447"/>
                  <a:pt x="271506" y="125652"/>
                  <a:pt x="264303" y="125652"/>
                </a:cubicBezTo>
                <a:lnTo>
                  <a:pt x="242638" y="125652"/>
                </a:lnTo>
                <a:lnTo>
                  <a:pt x="242638" y="95322"/>
                </a:lnTo>
                <a:lnTo>
                  <a:pt x="264303" y="95322"/>
                </a:lnTo>
                <a:cubicBezTo>
                  <a:pt x="271506" y="95322"/>
                  <a:pt x="277301" y="89527"/>
                  <a:pt x="277301" y="82324"/>
                </a:cubicBezTo>
                <a:cubicBezTo>
                  <a:pt x="277301" y="75120"/>
                  <a:pt x="271506" y="69325"/>
                  <a:pt x="264303" y="69325"/>
                </a:cubicBezTo>
                <a:lnTo>
                  <a:pt x="242638" y="69325"/>
                </a:lnTo>
                <a:cubicBezTo>
                  <a:pt x="242638" y="50207"/>
                  <a:pt x="227094" y="34663"/>
                  <a:pt x="207976" y="34663"/>
                </a:cubicBezTo>
                <a:lnTo>
                  <a:pt x="207976" y="12998"/>
                </a:lnTo>
                <a:cubicBezTo>
                  <a:pt x="207976" y="5795"/>
                  <a:pt x="202181" y="0"/>
                  <a:pt x="194977" y="0"/>
                </a:cubicBezTo>
                <a:cubicBezTo>
                  <a:pt x="187774" y="0"/>
                  <a:pt x="181979" y="5795"/>
                  <a:pt x="181979" y="12998"/>
                </a:cubicBezTo>
                <a:lnTo>
                  <a:pt x="181979" y="34663"/>
                </a:lnTo>
                <a:lnTo>
                  <a:pt x="151649" y="34663"/>
                </a:lnTo>
                <a:lnTo>
                  <a:pt x="151649" y="12998"/>
                </a:lnTo>
                <a:cubicBezTo>
                  <a:pt x="151649" y="5795"/>
                  <a:pt x="145854" y="0"/>
                  <a:pt x="138650" y="0"/>
                </a:cubicBezTo>
                <a:cubicBezTo>
                  <a:pt x="131447" y="0"/>
                  <a:pt x="125652" y="5795"/>
                  <a:pt x="125652" y="12998"/>
                </a:cubicBezTo>
                <a:lnTo>
                  <a:pt x="125652" y="34663"/>
                </a:lnTo>
                <a:lnTo>
                  <a:pt x="95322" y="34663"/>
                </a:lnTo>
                <a:lnTo>
                  <a:pt x="95322" y="12998"/>
                </a:lnTo>
                <a:close/>
                <a:moveTo>
                  <a:pt x="86657" y="69325"/>
                </a:moveTo>
                <a:lnTo>
                  <a:pt x="190644" y="69325"/>
                </a:lnTo>
                <a:cubicBezTo>
                  <a:pt x="200231" y="69325"/>
                  <a:pt x="207976" y="77070"/>
                  <a:pt x="207976" y="86657"/>
                </a:cubicBezTo>
                <a:lnTo>
                  <a:pt x="207976" y="190644"/>
                </a:lnTo>
                <a:cubicBezTo>
                  <a:pt x="207976" y="200231"/>
                  <a:pt x="200231" y="207976"/>
                  <a:pt x="190644" y="207976"/>
                </a:cubicBezTo>
                <a:lnTo>
                  <a:pt x="86657" y="207976"/>
                </a:lnTo>
                <a:cubicBezTo>
                  <a:pt x="77070" y="207976"/>
                  <a:pt x="69325" y="200231"/>
                  <a:pt x="69325" y="190644"/>
                </a:cubicBezTo>
                <a:lnTo>
                  <a:pt x="69325" y="86657"/>
                </a:lnTo>
                <a:cubicBezTo>
                  <a:pt x="69325" y="77070"/>
                  <a:pt x="77070" y="69325"/>
                  <a:pt x="86657" y="69325"/>
                </a:cubicBezTo>
                <a:close/>
                <a:moveTo>
                  <a:pt x="95322" y="95322"/>
                </a:moveTo>
                <a:lnTo>
                  <a:pt x="95322" y="181979"/>
                </a:lnTo>
                <a:lnTo>
                  <a:pt x="181979" y="181979"/>
                </a:lnTo>
                <a:lnTo>
                  <a:pt x="181979" y="95322"/>
                </a:lnTo>
                <a:lnTo>
                  <a:pt x="95322" y="95322"/>
                </a:lnTo>
                <a:close/>
              </a:path>
            </a:pathLst>
          </a:custGeom>
          <a:solidFill>
            <a:srgbClr val="0071E3"/>
          </a:solidFill>
          <a:ln/>
        </p:spPr>
      </p:sp>
      <p:sp>
        <p:nvSpPr>
          <p:cNvPr id="25" name="Text 23"/>
          <p:cNvSpPr/>
          <p:nvPr/>
        </p:nvSpPr>
        <p:spPr>
          <a:xfrm>
            <a:off x="1634227" y="5943254"/>
            <a:ext cx="2107487" cy="295788"/>
          </a:xfrm>
          <a:prstGeom prst="rect">
            <a:avLst/>
          </a:prstGeom>
          <a:noFill/>
          <a:ln/>
        </p:spPr>
        <p:txBody>
          <a:bodyPr wrap="square" lIns="0" tIns="0" rIns="0" bIns="0" rtlCol="0" anchor="ctr"/>
          <a:lstStyle/>
          <a:p>
            <a:pPr>
              <a:lnSpc>
                <a:spcPct val="110000"/>
              </a:lnSpc>
            </a:pPr>
            <a:r>
              <a:rPr lang="en-US" sz="1747" b="1" dirty="0">
                <a:solidFill>
                  <a:srgbClr val="1D1D1D"/>
                </a:solidFill>
                <a:latin typeface="Liter" pitchFamily="34" charset="0"/>
                <a:ea typeface="Liter" pitchFamily="34" charset="-122"/>
                <a:cs typeface="Liter" pitchFamily="34" charset="-120"/>
              </a:rPr>
              <a:t>Arduino Core ESP32</a:t>
            </a:r>
            <a:endParaRPr lang="en-US" sz="1600" dirty="0"/>
          </a:p>
        </p:txBody>
      </p:sp>
      <p:sp>
        <p:nvSpPr>
          <p:cNvPr id="26" name="Text 24"/>
          <p:cNvSpPr/>
          <p:nvPr/>
        </p:nvSpPr>
        <p:spPr>
          <a:xfrm>
            <a:off x="3776724" y="6024594"/>
            <a:ext cx="545359" cy="184867"/>
          </a:xfrm>
          <a:prstGeom prst="rect">
            <a:avLst/>
          </a:prstGeom>
          <a:noFill/>
          <a:ln/>
        </p:spPr>
        <p:txBody>
          <a:bodyPr wrap="square" lIns="0" tIns="0" rIns="0" bIns="0" rtlCol="0" anchor="ctr"/>
          <a:lstStyle/>
          <a:p>
            <a:pPr>
              <a:lnSpc>
                <a:spcPct val="120000"/>
              </a:lnSpc>
            </a:pPr>
            <a:r>
              <a:rPr lang="en-US" sz="1019" dirty="0">
                <a:solidFill>
                  <a:srgbClr val="86868B"/>
                </a:solidFill>
                <a:latin typeface="Liter" pitchFamily="34" charset="0"/>
                <a:ea typeface="Liter" pitchFamily="34" charset="-122"/>
                <a:cs typeface="Liter" pitchFamily="34" charset="-120"/>
              </a:rPr>
              <a:t>v2.0.14+</a:t>
            </a:r>
            <a:endParaRPr lang="en-US" sz="1600" dirty="0"/>
          </a:p>
        </p:txBody>
      </p:sp>
      <p:sp>
        <p:nvSpPr>
          <p:cNvPr id="27" name="Text 25"/>
          <p:cNvSpPr/>
          <p:nvPr/>
        </p:nvSpPr>
        <p:spPr>
          <a:xfrm>
            <a:off x="1634227" y="6312872"/>
            <a:ext cx="10047539" cy="268058"/>
          </a:xfrm>
          <a:prstGeom prst="rect">
            <a:avLst/>
          </a:prstGeom>
          <a:noFill/>
          <a:ln/>
        </p:spPr>
        <p:txBody>
          <a:bodyPr wrap="square" lIns="0" tIns="0" rIns="0" bIns="0" rtlCol="0" anchor="ctr"/>
          <a:lstStyle/>
          <a:p>
            <a:pPr>
              <a:lnSpc>
                <a:spcPct val="140000"/>
              </a:lnSpc>
            </a:pPr>
            <a:r>
              <a:rPr lang="en-US" sz="1310" dirty="0">
                <a:solidFill>
                  <a:srgbClr val="86868B"/>
                </a:solidFill>
                <a:latin typeface="Liter" pitchFamily="34" charset="0"/>
                <a:ea typeface="Liter" pitchFamily="34" charset="-122"/>
                <a:cs typeface="Liter" pitchFamily="34" charset="-120"/>
              </a:rPr>
              <a:t>Framework Arduino pour ESP32 avec support GPIO, timers, et interruptions matérielles</a:t>
            </a:r>
            <a:endParaRPr lang="en-US" sz="160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381000" y="1079185"/>
            <a:ext cx="2106811" cy="1737360"/>
          </a:xfrm>
          <a:prstGeom prst="rect">
            <a:avLst/>
          </a:prstGeom>
          <a:noFill/>
          <a:ln/>
        </p:spPr>
        <p:txBody>
          <a:bodyPr wrap="square" lIns="0" tIns="0" rIns="0" bIns="0" rtlCol="0" anchor="ctr"/>
          <a:lstStyle/>
          <a:p>
            <a:pPr>
              <a:lnSpc>
                <a:spcPct val="80000"/>
              </a:lnSpc>
            </a:pPr>
            <a:r>
              <a:rPr lang="en-US" sz="9600" b="1" dirty="0">
                <a:solidFill>
                  <a:srgbClr val="0071E3"/>
                </a:solidFill>
                <a:latin typeface="Liter" pitchFamily="34" charset="0"/>
                <a:ea typeface="Liter" pitchFamily="34" charset="-122"/>
                <a:cs typeface="Liter" pitchFamily="34" charset="-120"/>
              </a:rPr>
              <a:t>03</a:t>
            </a:r>
            <a:endParaRPr lang="en-US" sz="1600" dirty="0"/>
          </a:p>
        </p:txBody>
      </p:sp>
      <p:sp>
        <p:nvSpPr>
          <p:cNvPr id="3" name="Text 1"/>
          <p:cNvSpPr/>
          <p:nvPr/>
        </p:nvSpPr>
        <p:spPr>
          <a:xfrm>
            <a:off x="381000" y="2862263"/>
            <a:ext cx="11772900" cy="1714500"/>
          </a:xfrm>
          <a:prstGeom prst="rect">
            <a:avLst/>
          </a:prstGeom>
          <a:noFill/>
          <a:ln/>
        </p:spPr>
        <p:txBody>
          <a:bodyPr wrap="square" lIns="0" tIns="0" rIns="0" bIns="0" rtlCol="0" anchor="ctr"/>
          <a:lstStyle/>
          <a:p>
            <a:pPr>
              <a:lnSpc>
                <a:spcPct val="100000"/>
              </a:lnSpc>
            </a:pPr>
            <a:r>
              <a:rPr lang="en-US" sz="5400" b="1" dirty="0">
                <a:solidFill>
                  <a:srgbClr val="1D1D1D"/>
                </a:solidFill>
                <a:latin typeface="Liter" pitchFamily="34" charset="0"/>
                <a:ea typeface="Liter" pitchFamily="34" charset="-122"/>
                <a:cs typeface="Liter" pitchFamily="34" charset="-120"/>
              </a:rPr>
              <a:t>Architecture</a:t>
            </a:r>
            <a:endParaRPr lang="en-US" sz="1600" dirty="0"/>
          </a:p>
          <a:p>
            <a:pPr>
              <a:lnSpc>
                <a:spcPct val="100000"/>
              </a:lnSpc>
            </a:pPr>
            <a:r>
              <a:rPr lang="en-US" sz="5400" b="1" dirty="0">
                <a:solidFill>
                  <a:srgbClr val="1D1D1D"/>
                </a:solidFill>
                <a:latin typeface="Liter" pitchFamily="34" charset="0"/>
                <a:ea typeface="Liter" pitchFamily="34" charset="-122"/>
                <a:cs typeface="Liter" pitchFamily="34" charset="-120"/>
              </a:rPr>
              <a:t>électronique</a:t>
            </a:r>
            <a:endParaRPr lang="en-US" sz="1600" dirty="0"/>
          </a:p>
        </p:txBody>
      </p:sp>
      <p:sp>
        <p:nvSpPr>
          <p:cNvPr id="4" name="Shape 2"/>
          <p:cNvSpPr/>
          <p:nvPr/>
        </p:nvSpPr>
        <p:spPr>
          <a:xfrm>
            <a:off x="381000" y="4805363"/>
            <a:ext cx="1219200" cy="38100"/>
          </a:xfrm>
          <a:custGeom>
            <a:avLst/>
            <a:gdLst/>
            <a:ahLst/>
            <a:cxnLst/>
            <a:rect l="l" t="t" r="r" b="b"/>
            <a:pathLst>
              <a:path w="1219200" h="38100">
                <a:moveTo>
                  <a:pt x="0" y="0"/>
                </a:moveTo>
                <a:lnTo>
                  <a:pt x="1219200" y="0"/>
                </a:lnTo>
                <a:lnTo>
                  <a:pt x="1219200" y="38100"/>
                </a:lnTo>
                <a:lnTo>
                  <a:pt x="0" y="38100"/>
                </a:lnTo>
                <a:lnTo>
                  <a:pt x="0" y="0"/>
                </a:lnTo>
                <a:close/>
              </a:path>
            </a:pathLst>
          </a:custGeom>
          <a:solidFill>
            <a:srgbClr val="0071E3"/>
          </a:solidFill>
          <a:ln/>
        </p:spPr>
      </p:sp>
      <p:sp>
        <p:nvSpPr>
          <p:cNvPr id="5" name="Text 3"/>
          <p:cNvSpPr/>
          <p:nvPr/>
        </p:nvSpPr>
        <p:spPr>
          <a:xfrm>
            <a:off x="381000" y="5148263"/>
            <a:ext cx="7429500" cy="371475"/>
          </a:xfrm>
          <a:prstGeom prst="rect">
            <a:avLst/>
          </a:prstGeom>
          <a:noFill/>
          <a:ln/>
        </p:spPr>
        <p:txBody>
          <a:bodyPr wrap="square" lIns="0" tIns="0" rIns="0" bIns="0" rtlCol="0" anchor="ctr"/>
          <a:lstStyle/>
          <a:p>
            <a:pPr>
              <a:lnSpc>
                <a:spcPct val="140000"/>
              </a:lnSpc>
            </a:pPr>
            <a:r>
              <a:rPr lang="en-US" sz="1800" dirty="0">
                <a:solidFill>
                  <a:srgbClr val="86868B"/>
                </a:solidFill>
                <a:latin typeface="Liter" pitchFamily="34" charset="0"/>
                <a:ea typeface="Liter" pitchFamily="34" charset="-122"/>
                <a:cs typeface="Liter" pitchFamily="34" charset="-120"/>
              </a:rPr>
              <a:t>Schéma complet des connexions et brochage GPIO</a:t>
            </a:r>
            <a:endParaRPr lang="en-US" sz="1600"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kern="0" spc="105" dirty="0">
                <a:solidFill>
                  <a:srgbClr val="86868B"/>
                </a:solidFill>
                <a:latin typeface="Liter" pitchFamily="34" charset="0"/>
                <a:ea typeface="Liter" pitchFamily="34" charset="-122"/>
                <a:cs typeface="Liter" pitchFamily="34" charset="-120"/>
              </a:rPr>
              <a:t>03 / ARCHITECTURE</a:t>
            </a:r>
            <a:endParaRPr lang="en-US" sz="1600" dirty="0"/>
          </a:p>
        </p:txBody>
      </p:sp>
      <p:sp>
        <p:nvSpPr>
          <p:cNvPr id="3" name="Text 1"/>
          <p:cNvSpPr/>
          <p:nvPr/>
        </p:nvSpPr>
        <p:spPr>
          <a:xfrm>
            <a:off x="381000" y="685800"/>
            <a:ext cx="11658600" cy="457200"/>
          </a:xfrm>
          <a:prstGeom prst="rect">
            <a:avLst/>
          </a:prstGeom>
          <a:noFill/>
          <a:ln/>
        </p:spPr>
        <p:txBody>
          <a:bodyPr wrap="square" lIns="0" tIns="0" rIns="0" bIns="0" rtlCol="0" anchor="ctr"/>
          <a:lstStyle/>
          <a:p>
            <a:pPr>
              <a:lnSpc>
                <a:spcPct val="80000"/>
              </a:lnSpc>
            </a:pPr>
            <a:r>
              <a:rPr lang="en-US" sz="3600" b="1" dirty="0">
                <a:solidFill>
                  <a:srgbClr val="1D1D1D"/>
                </a:solidFill>
                <a:latin typeface="Liter" pitchFamily="34" charset="0"/>
                <a:ea typeface="Liter" pitchFamily="34" charset="-122"/>
                <a:cs typeface="Liter" pitchFamily="34" charset="-120"/>
              </a:rPr>
              <a:t>Brochage et connexions GPIO</a:t>
            </a:r>
            <a:endParaRPr lang="en-US" sz="1600" dirty="0"/>
          </a:p>
        </p:txBody>
      </p:sp>
      <p:sp>
        <p:nvSpPr>
          <p:cNvPr id="47" name="Shape 45"/>
          <p:cNvSpPr/>
          <p:nvPr/>
        </p:nvSpPr>
        <p:spPr>
          <a:xfrm>
            <a:off x="381000" y="5943600"/>
            <a:ext cx="11430000" cy="533400"/>
          </a:xfrm>
          <a:custGeom>
            <a:avLst/>
            <a:gdLst/>
            <a:ahLst/>
            <a:cxnLst/>
            <a:rect l="l" t="t" r="r" b="b"/>
            <a:pathLst>
              <a:path w="11430000" h="533400">
                <a:moveTo>
                  <a:pt x="114302" y="0"/>
                </a:moveTo>
                <a:lnTo>
                  <a:pt x="11315698" y="0"/>
                </a:lnTo>
                <a:cubicBezTo>
                  <a:pt x="11378783" y="0"/>
                  <a:pt x="11430000" y="51217"/>
                  <a:pt x="11430000" y="114302"/>
                </a:cubicBezTo>
                <a:lnTo>
                  <a:pt x="11430000" y="419098"/>
                </a:lnTo>
                <a:cubicBezTo>
                  <a:pt x="11430000" y="482183"/>
                  <a:pt x="11378783" y="533400"/>
                  <a:pt x="11315698" y="533400"/>
                </a:cubicBezTo>
                <a:lnTo>
                  <a:pt x="114302" y="533400"/>
                </a:lnTo>
                <a:cubicBezTo>
                  <a:pt x="51217" y="533400"/>
                  <a:pt x="0" y="482183"/>
                  <a:pt x="0" y="419098"/>
                </a:cubicBezTo>
                <a:lnTo>
                  <a:pt x="0" y="114302"/>
                </a:lnTo>
                <a:cubicBezTo>
                  <a:pt x="0" y="51217"/>
                  <a:pt x="51217" y="0"/>
                  <a:pt x="114302" y="0"/>
                </a:cubicBezTo>
                <a:close/>
              </a:path>
            </a:pathLst>
          </a:custGeom>
          <a:solidFill>
            <a:srgbClr val="F5F5F7"/>
          </a:solidFill>
          <a:ln/>
        </p:spPr>
      </p:sp>
      <p:pic>
        <p:nvPicPr>
          <p:cNvPr id="52" name="Image 51">
            <a:extLst>
              <a:ext uri="{FF2B5EF4-FFF2-40B4-BE49-F238E27FC236}">
                <a16:creationId xmlns:a16="http://schemas.microsoft.com/office/drawing/2014/main" id="{50180073-E363-2493-EBDE-ACF57C953858}"/>
              </a:ext>
            </a:extLst>
          </p:cNvPr>
          <p:cNvPicPr>
            <a:picLocks noChangeAspect="1"/>
          </p:cNvPicPr>
          <p:nvPr/>
        </p:nvPicPr>
        <p:blipFill>
          <a:blip r:embed="rId3"/>
          <a:srcRect b="8609"/>
          <a:stretch>
            <a:fillRect/>
          </a:stretch>
        </p:blipFill>
        <p:spPr>
          <a:xfrm>
            <a:off x="2077374" y="1257300"/>
            <a:ext cx="7895948" cy="5412174"/>
          </a:xfrm>
          <a:prstGeom prst="rect">
            <a:avLst/>
          </a:prstGeom>
        </p:spPr>
      </p:pic>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a:extLst>
            <a:ext uri="{FF2B5EF4-FFF2-40B4-BE49-F238E27FC236}">
              <a16:creationId xmlns:a16="http://schemas.microsoft.com/office/drawing/2014/main" id="{9340C7C8-1509-6E60-CE63-368ED5112D0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9C91912-9064-A950-10E2-F1B98B621FB8}"/>
              </a:ext>
            </a:extLst>
          </p:cNvPr>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kern="0" spc="105" dirty="0">
                <a:solidFill>
                  <a:srgbClr val="86868B"/>
                </a:solidFill>
                <a:latin typeface="Liter" pitchFamily="34" charset="0"/>
                <a:ea typeface="Liter" pitchFamily="34" charset="-122"/>
                <a:cs typeface="Liter" pitchFamily="34" charset="-120"/>
              </a:rPr>
              <a:t>03 / ARCHITECTURE</a:t>
            </a:r>
            <a:endParaRPr lang="en-US" sz="1600" dirty="0"/>
          </a:p>
        </p:txBody>
      </p:sp>
      <p:sp>
        <p:nvSpPr>
          <p:cNvPr id="3" name="Text 1">
            <a:extLst>
              <a:ext uri="{FF2B5EF4-FFF2-40B4-BE49-F238E27FC236}">
                <a16:creationId xmlns:a16="http://schemas.microsoft.com/office/drawing/2014/main" id="{E128C6B4-A063-1CCE-26D2-45A4247F1616}"/>
              </a:ext>
            </a:extLst>
          </p:cNvPr>
          <p:cNvSpPr/>
          <p:nvPr/>
        </p:nvSpPr>
        <p:spPr>
          <a:xfrm>
            <a:off x="381000" y="685800"/>
            <a:ext cx="11658600" cy="457200"/>
          </a:xfrm>
          <a:prstGeom prst="rect">
            <a:avLst/>
          </a:prstGeom>
          <a:noFill/>
          <a:ln/>
        </p:spPr>
        <p:txBody>
          <a:bodyPr wrap="square" lIns="0" tIns="0" rIns="0" bIns="0" rtlCol="0" anchor="ctr"/>
          <a:lstStyle/>
          <a:p>
            <a:pPr>
              <a:lnSpc>
                <a:spcPct val="80000"/>
              </a:lnSpc>
            </a:pPr>
            <a:r>
              <a:rPr lang="en-US" sz="3600" b="1" dirty="0">
                <a:solidFill>
                  <a:srgbClr val="1D1D1D"/>
                </a:solidFill>
                <a:latin typeface="Liter" pitchFamily="34" charset="0"/>
                <a:ea typeface="Liter" pitchFamily="34" charset="-122"/>
                <a:cs typeface="Liter" pitchFamily="34" charset="-120"/>
              </a:rPr>
              <a:t>Brochage et connexions GPIO</a:t>
            </a:r>
            <a:endParaRPr lang="en-US" sz="1600" dirty="0"/>
          </a:p>
        </p:txBody>
      </p:sp>
      <p:sp>
        <p:nvSpPr>
          <p:cNvPr id="4" name="Shape 2">
            <a:extLst>
              <a:ext uri="{FF2B5EF4-FFF2-40B4-BE49-F238E27FC236}">
                <a16:creationId xmlns:a16="http://schemas.microsoft.com/office/drawing/2014/main" id="{FF83E786-3FD1-716D-43A0-F3ADB8E39B39}"/>
              </a:ext>
            </a:extLst>
          </p:cNvPr>
          <p:cNvSpPr/>
          <p:nvPr/>
        </p:nvSpPr>
        <p:spPr>
          <a:xfrm>
            <a:off x="395288" y="1485784"/>
            <a:ext cx="257175" cy="228600"/>
          </a:xfrm>
          <a:custGeom>
            <a:avLst/>
            <a:gdLst/>
            <a:ahLst/>
            <a:cxnLst/>
            <a:rect l="l" t="t" r="r" b="b"/>
            <a:pathLst>
              <a:path w="257175" h="228600">
                <a:moveTo>
                  <a:pt x="0" y="57150"/>
                </a:moveTo>
                <a:cubicBezTo>
                  <a:pt x="0" y="41389"/>
                  <a:pt x="12814" y="28575"/>
                  <a:pt x="28575" y="28575"/>
                </a:cubicBezTo>
                <a:lnTo>
                  <a:pt x="228600" y="28575"/>
                </a:lnTo>
                <a:cubicBezTo>
                  <a:pt x="244361" y="28575"/>
                  <a:pt x="257175" y="41389"/>
                  <a:pt x="257175" y="57150"/>
                </a:cubicBezTo>
                <a:lnTo>
                  <a:pt x="257175" y="171450"/>
                </a:lnTo>
                <a:cubicBezTo>
                  <a:pt x="257175" y="187211"/>
                  <a:pt x="244361" y="200025"/>
                  <a:pt x="228600" y="200025"/>
                </a:cubicBezTo>
                <a:lnTo>
                  <a:pt x="28575" y="200025"/>
                </a:lnTo>
                <a:cubicBezTo>
                  <a:pt x="12814" y="200025"/>
                  <a:pt x="0" y="187211"/>
                  <a:pt x="0" y="171450"/>
                </a:cubicBezTo>
                <a:lnTo>
                  <a:pt x="0" y="57150"/>
                </a:lnTo>
                <a:close/>
                <a:moveTo>
                  <a:pt x="28575" y="71438"/>
                </a:moveTo>
                <a:lnTo>
                  <a:pt x="28575" y="85725"/>
                </a:lnTo>
                <a:cubicBezTo>
                  <a:pt x="28575" y="93628"/>
                  <a:pt x="34960" y="100013"/>
                  <a:pt x="42863" y="100013"/>
                </a:cubicBezTo>
                <a:lnTo>
                  <a:pt x="114300" y="100013"/>
                </a:lnTo>
                <a:cubicBezTo>
                  <a:pt x="122203" y="100013"/>
                  <a:pt x="128588" y="93628"/>
                  <a:pt x="128588" y="85725"/>
                </a:cubicBezTo>
                <a:lnTo>
                  <a:pt x="128588" y="71438"/>
                </a:lnTo>
                <a:cubicBezTo>
                  <a:pt x="128588" y="63535"/>
                  <a:pt x="122203" y="57150"/>
                  <a:pt x="114300" y="57150"/>
                </a:cubicBezTo>
                <a:lnTo>
                  <a:pt x="42863" y="57150"/>
                </a:lnTo>
                <a:cubicBezTo>
                  <a:pt x="34960" y="57150"/>
                  <a:pt x="28575" y="63535"/>
                  <a:pt x="28575" y="71438"/>
                </a:cubicBezTo>
                <a:close/>
                <a:moveTo>
                  <a:pt x="39291" y="157163"/>
                </a:moveTo>
                <a:cubicBezTo>
                  <a:pt x="33352" y="157163"/>
                  <a:pt x="28575" y="161940"/>
                  <a:pt x="28575" y="167878"/>
                </a:cubicBezTo>
                <a:cubicBezTo>
                  <a:pt x="28575" y="173816"/>
                  <a:pt x="33352" y="178594"/>
                  <a:pt x="39291" y="178594"/>
                </a:cubicBezTo>
                <a:lnTo>
                  <a:pt x="100013" y="178594"/>
                </a:lnTo>
                <a:cubicBezTo>
                  <a:pt x="105951" y="178594"/>
                  <a:pt x="110728" y="173816"/>
                  <a:pt x="110728" y="167878"/>
                </a:cubicBezTo>
                <a:cubicBezTo>
                  <a:pt x="110728" y="161940"/>
                  <a:pt x="105951" y="157163"/>
                  <a:pt x="100013" y="157163"/>
                </a:cubicBezTo>
                <a:lnTo>
                  <a:pt x="39291" y="157163"/>
                </a:lnTo>
                <a:close/>
                <a:moveTo>
                  <a:pt x="153591" y="157163"/>
                </a:moveTo>
                <a:cubicBezTo>
                  <a:pt x="147652" y="157163"/>
                  <a:pt x="142875" y="161940"/>
                  <a:pt x="142875" y="167878"/>
                </a:cubicBezTo>
                <a:cubicBezTo>
                  <a:pt x="142875" y="173816"/>
                  <a:pt x="147652" y="178594"/>
                  <a:pt x="153591" y="178594"/>
                </a:cubicBezTo>
                <a:lnTo>
                  <a:pt x="217884" y="178594"/>
                </a:lnTo>
                <a:cubicBezTo>
                  <a:pt x="223823" y="178594"/>
                  <a:pt x="228600" y="173816"/>
                  <a:pt x="228600" y="167878"/>
                </a:cubicBezTo>
                <a:cubicBezTo>
                  <a:pt x="228600" y="161940"/>
                  <a:pt x="223823" y="157163"/>
                  <a:pt x="217884" y="157163"/>
                </a:cubicBezTo>
                <a:lnTo>
                  <a:pt x="153591" y="157163"/>
                </a:lnTo>
                <a:close/>
                <a:moveTo>
                  <a:pt x="221456" y="85725"/>
                </a:moveTo>
                <a:cubicBezTo>
                  <a:pt x="221456" y="69954"/>
                  <a:pt x="208652" y="57150"/>
                  <a:pt x="192881" y="57150"/>
                </a:cubicBezTo>
                <a:cubicBezTo>
                  <a:pt x="177110" y="57150"/>
                  <a:pt x="164306" y="69954"/>
                  <a:pt x="164306" y="85725"/>
                </a:cubicBezTo>
                <a:cubicBezTo>
                  <a:pt x="164306" y="101496"/>
                  <a:pt x="177110" y="114300"/>
                  <a:pt x="192881" y="114300"/>
                </a:cubicBezTo>
                <a:cubicBezTo>
                  <a:pt x="208652" y="114300"/>
                  <a:pt x="221456" y="101496"/>
                  <a:pt x="221456" y="85725"/>
                </a:cubicBezTo>
                <a:close/>
                <a:moveTo>
                  <a:pt x="39291" y="139303"/>
                </a:moveTo>
                <a:cubicBezTo>
                  <a:pt x="45205" y="139303"/>
                  <a:pt x="50006" y="134502"/>
                  <a:pt x="50006" y="128588"/>
                </a:cubicBezTo>
                <a:cubicBezTo>
                  <a:pt x="50006" y="122673"/>
                  <a:pt x="45205" y="117872"/>
                  <a:pt x="39291" y="117872"/>
                </a:cubicBezTo>
                <a:cubicBezTo>
                  <a:pt x="33377" y="117872"/>
                  <a:pt x="28575" y="122673"/>
                  <a:pt x="28575" y="128588"/>
                </a:cubicBezTo>
                <a:cubicBezTo>
                  <a:pt x="28575" y="134502"/>
                  <a:pt x="33377" y="139303"/>
                  <a:pt x="39291" y="139303"/>
                </a:cubicBezTo>
                <a:close/>
                <a:moveTo>
                  <a:pt x="85725" y="128588"/>
                </a:moveTo>
                <a:cubicBezTo>
                  <a:pt x="85725" y="122673"/>
                  <a:pt x="80923" y="117872"/>
                  <a:pt x="75009" y="117872"/>
                </a:cubicBezTo>
                <a:cubicBezTo>
                  <a:pt x="69095" y="117872"/>
                  <a:pt x="64294" y="122673"/>
                  <a:pt x="64294" y="128588"/>
                </a:cubicBezTo>
                <a:cubicBezTo>
                  <a:pt x="64294" y="134502"/>
                  <a:pt x="69095" y="139303"/>
                  <a:pt x="75009" y="139303"/>
                </a:cubicBezTo>
                <a:cubicBezTo>
                  <a:pt x="80923" y="139303"/>
                  <a:pt x="85725" y="134502"/>
                  <a:pt x="85725" y="128588"/>
                </a:cubicBezTo>
                <a:close/>
                <a:moveTo>
                  <a:pt x="110728" y="139303"/>
                </a:moveTo>
                <a:cubicBezTo>
                  <a:pt x="116642" y="139303"/>
                  <a:pt x="121444" y="134502"/>
                  <a:pt x="121444" y="128588"/>
                </a:cubicBezTo>
                <a:cubicBezTo>
                  <a:pt x="121444" y="122673"/>
                  <a:pt x="116642" y="117872"/>
                  <a:pt x="110728" y="117872"/>
                </a:cubicBezTo>
                <a:cubicBezTo>
                  <a:pt x="104814" y="117872"/>
                  <a:pt x="100013" y="122673"/>
                  <a:pt x="100013" y="128588"/>
                </a:cubicBezTo>
                <a:cubicBezTo>
                  <a:pt x="100013" y="134502"/>
                  <a:pt x="104814" y="139303"/>
                  <a:pt x="110728" y="139303"/>
                </a:cubicBezTo>
                <a:close/>
              </a:path>
            </a:pathLst>
          </a:custGeom>
          <a:solidFill>
            <a:srgbClr val="0071E3"/>
          </a:solidFill>
          <a:ln/>
        </p:spPr>
      </p:sp>
      <p:sp>
        <p:nvSpPr>
          <p:cNvPr id="5" name="Text 3">
            <a:extLst>
              <a:ext uri="{FF2B5EF4-FFF2-40B4-BE49-F238E27FC236}">
                <a16:creationId xmlns:a16="http://schemas.microsoft.com/office/drawing/2014/main" id="{18BFD875-3B80-6AA9-2A45-6DF65FCB59C3}"/>
              </a:ext>
            </a:extLst>
          </p:cNvPr>
          <p:cNvSpPr/>
          <p:nvPr/>
        </p:nvSpPr>
        <p:spPr>
          <a:xfrm>
            <a:off x="666750" y="1447800"/>
            <a:ext cx="5391150" cy="304800"/>
          </a:xfrm>
          <a:prstGeom prst="rect">
            <a:avLst/>
          </a:prstGeom>
          <a:noFill/>
          <a:ln/>
        </p:spPr>
        <p:txBody>
          <a:bodyPr wrap="square" lIns="0" tIns="0" rIns="0" bIns="0" rtlCol="0" anchor="ctr"/>
          <a:lstStyle/>
          <a:p>
            <a:pPr>
              <a:lnSpc>
                <a:spcPct val="110000"/>
              </a:lnSpc>
            </a:pPr>
            <a:r>
              <a:rPr lang="en-US" sz="1800" b="1" dirty="0">
                <a:solidFill>
                  <a:srgbClr val="1D1D1D"/>
                </a:solidFill>
                <a:latin typeface="Liter" pitchFamily="34" charset="0"/>
                <a:ea typeface="Liter" pitchFamily="34" charset="-122"/>
                <a:cs typeface="Liter" pitchFamily="34" charset="-120"/>
              </a:rPr>
              <a:t>Afficheur 7 segments</a:t>
            </a:r>
            <a:endParaRPr lang="en-US" sz="1600" dirty="0"/>
          </a:p>
        </p:txBody>
      </p:sp>
      <p:sp>
        <p:nvSpPr>
          <p:cNvPr id="6" name="Shape 4">
            <a:extLst>
              <a:ext uri="{FF2B5EF4-FFF2-40B4-BE49-F238E27FC236}">
                <a16:creationId xmlns:a16="http://schemas.microsoft.com/office/drawing/2014/main" id="{43246531-76AA-AF02-0E0A-5A1A34C01E57}"/>
              </a:ext>
            </a:extLst>
          </p:cNvPr>
          <p:cNvSpPr/>
          <p:nvPr/>
        </p:nvSpPr>
        <p:spPr>
          <a:xfrm>
            <a:off x="381000" y="2289694"/>
            <a:ext cx="5562600" cy="7620"/>
          </a:xfrm>
          <a:custGeom>
            <a:avLst/>
            <a:gdLst/>
            <a:ahLst/>
            <a:cxnLst/>
            <a:rect l="l" t="t" r="r" b="b"/>
            <a:pathLst>
              <a:path w="5562600" h="7620">
                <a:moveTo>
                  <a:pt x="0" y="0"/>
                </a:moveTo>
                <a:lnTo>
                  <a:pt x="5562600" y="0"/>
                </a:lnTo>
                <a:lnTo>
                  <a:pt x="5562600" y="7620"/>
                </a:lnTo>
                <a:lnTo>
                  <a:pt x="0" y="7620"/>
                </a:lnTo>
                <a:lnTo>
                  <a:pt x="0" y="0"/>
                </a:lnTo>
                <a:close/>
              </a:path>
            </a:pathLst>
          </a:custGeom>
          <a:solidFill>
            <a:srgbClr val="E5E5E5"/>
          </a:solidFill>
          <a:ln/>
        </p:spPr>
      </p:sp>
      <p:sp>
        <p:nvSpPr>
          <p:cNvPr id="7" name="Text 5">
            <a:extLst>
              <a:ext uri="{FF2B5EF4-FFF2-40B4-BE49-F238E27FC236}">
                <a16:creationId xmlns:a16="http://schemas.microsoft.com/office/drawing/2014/main" id="{FCB7D2DC-2B37-34D1-CF9A-56AAABAEB054}"/>
              </a:ext>
            </a:extLst>
          </p:cNvPr>
          <p:cNvSpPr/>
          <p:nvPr/>
        </p:nvSpPr>
        <p:spPr>
          <a:xfrm>
            <a:off x="381000" y="1981084"/>
            <a:ext cx="1400175" cy="228600"/>
          </a:xfrm>
          <a:prstGeom prst="rect">
            <a:avLst/>
          </a:prstGeom>
          <a:noFill/>
          <a:ln/>
        </p:spPr>
        <p:txBody>
          <a:bodyPr wrap="square" lIns="0" tIns="0" rIns="0" bIns="0" rtlCol="0" anchor="ctr"/>
          <a:lstStyle/>
          <a:p>
            <a:pPr>
              <a:lnSpc>
                <a:spcPct val="130000"/>
              </a:lnSpc>
            </a:pPr>
            <a:r>
              <a:rPr lang="en-US" sz="1200" dirty="0">
                <a:solidFill>
                  <a:srgbClr val="86868B"/>
                </a:solidFill>
                <a:latin typeface="Liter" pitchFamily="34" charset="0"/>
                <a:ea typeface="Liter" pitchFamily="34" charset="-122"/>
                <a:cs typeface="Liter" pitchFamily="34" charset="-120"/>
              </a:rPr>
              <a:t>Segments A-G + DP</a:t>
            </a:r>
            <a:endParaRPr lang="en-US" sz="1600" dirty="0"/>
          </a:p>
        </p:txBody>
      </p:sp>
      <p:sp>
        <p:nvSpPr>
          <p:cNvPr id="8" name="Text 6">
            <a:extLst>
              <a:ext uri="{FF2B5EF4-FFF2-40B4-BE49-F238E27FC236}">
                <a16:creationId xmlns:a16="http://schemas.microsoft.com/office/drawing/2014/main" id="{32852600-E7BB-B65D-E4CA-E5C010C5FA1E}"/>
              </a:ext>
            </a:extLst>
          </p:cNvPr>
          <p:cNvSpPr/>
          <p:nvPr/>
        </p:nvSpPr>
        <p:spPr>
          <a:xfrm>
            <a:off x="3169861" y="1981084"/>
            <a:ext cx="2762250" cy="228600"/>
          </a:xfrm>
          <a:prstGeom prst="rect">
            <a:avLst/>
          </a:prstGeom>
          <a:noFill/>
          <a:ln/>
        </p:spPr>
        <p:txBody>
          <a:bodyPr wrap="square" lIns="0" tIns="0" rIns="0" bIns="0" rtlCol="0" anchor="ctr"/>
          <a:lstStyle/>
          <a:p>
            <a:pPr algn="r">
              <a:lnSpc>
                <a:spcPct val="130000"/>
              </a:lnSpc>
            </a:pPr>
            <a:r>
              <a:rPr lang="en-US" sz="1200" dirty="0">
                <a:solidFill>
                  <a:srgbClr val="1D1D1D"/>
                </a:solidFill>
                <a:latin typeface="MiSans" pitchFamily="34" charset="0"/>
                <a:ea typeface="MiSans" pitchFamily="34" charset="-122"/>
                <a:cs typeface="MiSans" pitchFamily="34" charset="-120"/>
              </a:rPr>
              <a:t>GPIO 15, 2, 4, 16, 17, 5, 12, 13</a:t>
            </a:r>
            <a:endParaRPr lang="en-US" sz="1600" dirty="0"/>
          </a:p>
        </p:txBody>
      </p:sp>
      <p:sp>
        <p:nvSpPr>
          <p:cNvPr id="9" name="Shape 7">
            <a:extLst>
              <a:ext uri="{FF2B5EF4-FFF2-40B4-BE49-F238E27FC236}">
                <a16:creationId xmlns:a16="http://schemas.microsoft.com/office/drawing/2014/main" id="{2C9E61F5-A681-CFA3-10EB-C2CC2171A223}"/>
              </a:ext>
            </a:extLst>
          </p:cNvPr>
          <p:cNvSpPr/>
          <p:nvPr/>
        </p:nvSpPr>
        <p:spPr>
          <a:xfrm>
            <a:off x="381000" y="2754512"/>
            <a:ext cx="5562600" cy="7620"/>
          </a:xfrm>
          <a:custGeom>
            <a:avLst/>
            <a:gdLst/>
            <a:ahLst/>
            <a:cxnLst/>
            <a:rect l="l" t="t" r="r" b="b"/>
            <a:pathLst>
              <a:path w="5562600" h="7620">
                <a:moveTo>
                  <a:pt x="0" y="0"/>
                </a:moveTo>
                <a:lnTo>
                  <a:pt x="5562600" y="0"/>
                </a:lnTo>
                <a:lnTo>
                  <a:pt x="5562600" y="7620"/>
                </a:lnTo>
                <a:lnTo>
                  <a:pt x="0" y="7620"/>
                </a:lnTo>
                <a:lnTo>
                  <a:pt x="0" y="0"/>
                </a:lnTo>
                <a:close/>
              </a:path>
            </a:pathLst>
          </a:custGeom>
          <a:solidFill>
            <a:srgbClr val="E5E5E5"/>
          </a:solidFill>
          <a:ln/>
        </p:spPr>
      </p:sp>
      <p:sp>
        <p:nvSpPr>
          <p:cNvPr id="10" name="Text 8">
            <a:extLst>
              <a:ext uri="{FF2B5EF4-FFF2-40B4-BE49-F238E27FC236}">
                <a16:creationId xmlns:a16="http://schemas.microsoft.com/office/drawing/2014/main" id="{243CDDBB-98B9-F923-1092-9951F3723407}"/>
              </a:ext>
            </a:extLst>
          </p:cNvPr>
          <p:cNvSpPr/>
          <p:nvPr/>
        </p:nvSpPr>
        <p:spPr>
          <a:xfrm>
            <a:off x="381000" y="2445902"/>
            <a:ext cx="1514475" cy="228600"/>
          </a:xfrm>
          <a:prstGeom prst="rect">
            <a:avLst/>
          </a:prstGeom>
          <a:noFill/>
          <a:ln/>
        </p:spPr>
        <p:txBody>
          <a:bodyPr wrap="square" lIns="0" tIns="0" rIns="0" bIns="0" rtlCol="0" anchor="ctr"/>
          <a:lstStyle/>
          <a:p>
            <a:pPr>
              <a:lnSpc>
                <a:spcPct val="130000"/>
              </a:lnSpc>
            </a:pPr>
            <a:r>
              <a:rPr lang="en-US" sz="1200" dirty="0">
                <a:solidFill>
                  <a:srgbClr val="86868B"/>
                </a:solidFill>
                <a:latin typeface="Liter" pitchFamily="34" charset="0"/>
                <a:ea typeface="Liter" pitchFamily="34" charset="-122"/>
                <a:cs typeface="Liter" pitchFamily="34" charset="-120"/>
              </a:rPr>
              <a:t>Contrôle digits D1-D4</a:t>
            </a:r>
            <a:endParaRPr lang="en-US" sz="1600" dirty="0"/>
          </a:p>
        </p:txBody>
      </p:sp>
      <p:sp>
        <p:nvSpPr>
          <p:cNvPr id="11" name="Text 9">
            <a:extLst>
              <a:ext uri="{FF2B5EF4-FFF2-40B4-BE49-F238E27FC236}">
                <a16:creationId xmlns:a16="http://schemas.microsoft.com/office/drawing/2014/main" id="{DA11284F-2511-1E76-C4CD-E1FBA35BEE30}"/>
              </a:ext>
            </a:extLst>
          </p:cNvPr>
          <p:cNvSpPr/>
          <p:nvPr/>
        </p:nvSpPr>
        <p:spPr>
          <a:xfrm>
            <a:off x="4313991" y="2465010"/>
            <a:ext cx="1666875" cy="228600"/>
          </a:xfrm>
          <a:prstGeom prst="rect">
            <a:avLst/>
          </a:prstGeom>
          <a:noFill/>
          <a:ln/>
        </p:spPr>
        <p:txBody>
          <a:bodyPr wrap="square" lIns="0" tIns="0" rIns="0" bIns="0" rtlCol="0" anchor="ctr"/>
          <a:lstStyle/>
          <a:p>
            <a:pPr algn="r">
              <a:lnSpc>
                <a:spcPct val="130000"/>
              </a:lnSpc>
            </a:pPr>
            <a:r>
              <a:rPr lang="en-US" sz="1200" dirty="0">
                <a:solidFill>
                  <a:srgbClr val="1D1D1D"/>
                </a:solidFill>
                <a:latin typeface="MiSans" pitchFamily="34" charset="0"/>
                <a:ea typeface="MiSans" pitchFamily="34" charset="-122"/>
                <a:cs typeface="MiSans" pitchFamily="34" charset="-120"/>
              </a:rPr>
              <a:t>GPIO 23, 22, 33, 18</a:t>
            </a:r>
            <a:endParaRPr lang="en-US" sz="1600" dirty="0"/>
          </a:p>
        </p:txBody>
      </p:sp>
      <p:sp>
        <p:nvSpPr>
          <p:cNvPr id="12" name="Text 10">
            <a:extLst>
              <a:ext uri="{FF2B5EF4-FFF2-40B4-BE49-F238E27FC236}">
                <a16:creationId xmlns:a16="http://schemas.microsoft.com/office/drawing/2014/main" id="{84334753-D7BA-BB19-CADC-DC3E0B6C8DA9}"/>
              </a:ext>
            </a:extLst>
          </p:cNvPr>
          <p:cNvSpPr/>
          <p:nvPr/>
        </p:nvSpPr>
        <p:spPr>
          <a:xfrm>
            <a:off x="381000" y="2910720"/>
            <a:ext cx="419100" cy="228600"/>
          </a:xfrm>
          <a:prstGeom prst="rect">
            <a:avLst/>
          </a:prstGeom>
          <a:noFill/>
          <a:ln/>
        </p:spPr>
        <p:txBody>
          <a:bodyPr wrap="square" lIns="0" tIns="0" rIns="0" bIns="0" rtlCol="0" anchor="ctr"/>
          <a:lstStyle/>
          <a:p>
            <a:pPr>
              <a:lnSpc>
                <a:spcPct val="130000"/>
              </a:lnSpc>
            </a:pPr>
            <a:r>
              <a:rPr lang="en-US" sz="1200" dirty="0">
                <a:solidFill>
                  <a:srgbClr val="86868B"/>
                </a:solidFill>
                <a:latin typeface="Liter" pitchFamily="34" charset="0"/>
                <a:ea typeface="Liter" pitchFamily="34" charset="-122"/>
                <a:cs typeface="Liter" pitchFamily="34" charset="-120"/>
              </a:rPr>
              <a:t>Type</a:t>
            </a:r>
            <a:endParaRPr lang="en-US" sz="1600" dirty="0"/>
          </a:p>
        </p:txBody>
      </p:sp>
      <p:sp>
        <p:nvSpPr>
          <p:cNvPr id="13" name="Text 11">
            <a:extLst>
              <a:ext uri="{FF2B5EF4-FFF2-40B4-BE49-F238E27FC236}">
                <a16:creationId xmlns:a16="http://schemas.microsoft.com/office/drawing/2014/main" id="{A32A598C-6A8A-E5F7-D29A-7763A30CC3D0}"/>
              </a:ext>
            </a:extLst>
          </p:cNvPr>
          <p:cNvSpPr/>
          <p:nvPr/>
        </p:nvSpPr>
        <p:spPr>
          <a:xfrm>
            <a:off x="4667012" y="2910720"/>
            <a:ext cx="1352550" cy="228600"/>
          </a:xfrm>
          <a:prstGeom prst="rect">
            <a:avLst/>
          </a:prstGeom>
          <a:noFill/>
          <a:ln/>
        </p:spPr>
        <p:txBody>
          <a:bodyPr wrap="square" lIns="0" tIns="0" rIns="0" bIns="0" rtlCol="0" anchor="ctr"/>
          <a:lstStyle/>
          <a:p>
            <a:pPr>
              <a:lnSpc>
                <a:spcPct val="130000"/>
              </a:lnSpc>
            </a:pPr>
            <a:r>
              <a:rPr lang="en-US" sz="1200" dirty="0">
                <a:solidFill>
                  <a:srgbClr val="1D1D1D"/>
                </a:solidFill>
                <a:latin typeface="Liter" pitchFamily="34" charset="0"/>
                <a:ea typeface="Liter" pitchFamily="34" charset="-122"/>
                <a:cs typeface="Liter" pitchFamily="34" charset="-120"/>
              </a:rPr>
              <a:t>Cathode commune</a:t>
            </a:r>
            <a:endParaRPr lang="en-US" sz="1600" dirty="0"/>
          </a:p>
        </p:txBody>
      </p:sp>
      <p:sp>
        <p:nvSpPr>
          <p:cNvPr id="14" name="Shape 12">
            <a:extLst>
              <a:ext uri="{FF2B5EF4-FFF2-40B4-BE49-F238E27FC236}">
                <a16:creationId xmlns:a16="http://schemas.microsoft.com/office/drawing/2014/main" id="{5AA738B4-2021-1AF2-AC04-F249A3AC8AAF}"/>
              </a:ext>
            </a:extLst>
          </p:cNvPr>
          <p:cNvSpPr/>
          <p:nvPr/>
        </p:nvSpPr>
        <p:spPr>
          <a:xfrm>
            <a:off x="395288" y="3444004"/>
            <a:ext cx="257175" cy="228600"/>
          </a:xfrm>
          <a:custGeom>
            <a:avLst/>
            <a:gdLst/>
            <a:ahLst/>
            <a:cxnLst/>
            <a:rect l="l" t="t" r="r" b="b"/>
            <a:pathLst>
              <a:path w="257175" h="228600">
                <a:moveTo>
                  <a:pt x="93360" y="230475"/>
                </a:moveTo>
                <a:cubicBezTo>
                  <a:pt x="85011" y="238824"/>
                  <a:pt x="71438" y="238824"/>
                  <a:pt x="63044" y="230475"/>
                </a:cubicBezTo>
                <a:lnTo>
                  <a:pt x="12546" y="179978"/>
                </a:lnTo>
                <a:cubicBezTo>
                  <a:pt x="4197" y="171629"/>
                  <a:pt x="4197" y="158055"/>
                  <a:pt x="12546" y="149662"/>
                </a:cubicBezTo>
                <a:lnTo>
                  <a:pt x="20136" y="142071"/>
                </a:lnTo>
                <a:lnTo>
                  <a:pt x="52953" y="174888"/>
                </a:lnTo>
                <a:cubicBezTo>
                  <a:pt x="57150" y="179085"/>
                  <a:pt x="63937" y="179085"/>
                  <a:pt x="68089" y="174888"/>
                </a:cubicBezTo>
                <a:cubicBezTo>
                  <a:pt x="72241" y="170691"/>
                  <a:pt x="72286" y="163904"/>
                  <a:pt x="68089" y="159752"/>
                </a:cubicBezTo>
                <a:lnTo>
                  <a:pt x="35272" y="126936"/>
                </a:lnTo>
                <a:lnTo>
                  <a:pt x="50408" y="111800"/>
                </a:lnTo>
                <a:lnTo>
                  <a:pt x="73134" y="134526"/>
                </a:lnTo>
                <a:cubicBezTo>
                  <a:pt x="77331" y="138723"/>
                  <a:pt x="84118" y="138723"/>
                  <a:pt x="88270" y="134526"/>
                </a:cubicBezTo>
                <a:cubicBezTo>
                  <a:pt x="92422" y="130329"/>
                  <a:pt x="92467" y="123542"/>
                  <a:pt x="88270" y="119390"/>
                </a:cubicBezTo>
                <a:lnTo>
                  <a:pt x="65544" y="96664"/>
                </a:lnTo>
                <a:lnTo>
                  <a:pt x="80680" y="81528"/>
                </a:lnTo>
                <a:lnTo>
                  <a:pt x="113496" y="114345"/>
                </a:lnTo>
                <a:cubicBezTo>
                  <a:pt x="117693" y="118542"/>
                  <a:pt x="124480" y="118542"/>
                  <a:pt x="128632" y="114345"/>
                </a:cubicBezTo>
                <a:cubicBezTo>
                  <a:pt x="132784" y="110148"/>
                  <a:pt x="132829" y="103361"/>
                  <a:pt x="128632" y="99209"/>
                </a:cubicBezTo>
                <a:lnTo>
                  <a:pt x="95816" y="66392"/>
                </a:lnTo>
                <a:lnTo>
                  <a:pt x="110951" y="51256"/>
                </a:lnTo>
                <a:lnTo>
                  <a:pt x="133677" y="73982"/>
                </a:lnTo>
                <a:cubicBezTo>
                  <a:pt x="137874" y="78179"/>
                  <a:pt x="144661" y="78179"/>
                  <a:pt x="148813" y="73982"/>
                </a:cubicBezTo>
                <a:cubicBezTo>
                  <a:pt x="152966" y="69786"/>
                  <a:pt x="153010" y="62999"/>
                  <a:pt x="148813" y="58847"/>
                </a:cubicBezTo>
                <a:lnTo>
                  <a:pt x="126087" y="36121"/>
                </a:lnTo>
                <a:lnTo>
                  <a:pt x="141223" y="20985"/>
                </a:lnTo>
                <a:lnTo>
                  <a:pt x="174040" y="53801"/>
                </a:lnTo>
                <a:cubicBezTo>
                  <a:pt x="178237" y="57998"/>
                  <a:pt x="185023" y="57998"/>
                  <a:pt x="189175" y="53801"/>
                </a:cubicBezTo>
                <a:cubicBezTo>
                  <a:pt x="193328" y="49604"/>
                  <a:pt x="193372" y="42818"/>
                  <a:pt x="189175" y="38666"/>
                </a:cubicBezTo>
                <a:lnTo>
                  <a:pt x="156359" y="5849"/>
                </a:lnTo>
                <a:lnTo>
                  <a:pt x="163949" y="-1741"/>
                </a:lnTo>
                <a:cubicBezTo>
                  <a:pt x="172298" y="-10091"/>
                  <a:pt x="185871" y="-10091"/>
                  <a:pt x="194265" y="-1741"/>
                </a:cubicBezTo>
                <a:lnTo>
                  <a:pt x="244897" y="48622"/>
                </a:lnTo>
                <a:cubicBezTo>
                  <a:pt x="253246" y="56971"/>
                  <a:pt x="253246" y="70545"/>
                  <a:pt x="244897" y="78938"/>
                </a:cubicBezTo>
                <a:lnTo>
                  <a:pt x="93360" y="230475"/>
                </a:lnTo>
                <a:close/>
              </a:path>
            </a:pathLst>
          </a:custGeom>
          <a:solidFill>
            <a:srgbClr val="0071E3"/>
          </a:solidFill>
          <a:ln/>
        </p:spPr>
      </p:sp>
      <p:sp>
        <p:nvSpPr>
          <p:cNvPr id="15" name="Text 13">
            <a:extLst>
              <a:ext uri="{FF2B5EF4-FFF2-40B4-BE49-F238E27FC236}">
                <a16:creationId xmlns:a16="http://schemas.microsoft.com/office/drawing/2014/main" id="{4D460CE3-1256-CF9E-4877-7CFA20C46169}"/>
              </a:ext>
            </a:extLst>
          </p:cNvPr>
          <p:cNvSpPr/>
          <p:nvPr/>
        </p:nvSpPr>
        <p:spPr>
          <a:xfrm>
            <a:off x="666750" y="3406020"/>
            <a:ext cx="5391150" cy="304800"/>
          </a:xfrm>
          <a:prstGeom prst="rect">
            <a:avLst/>
          </a:prstGeom>
          <a:noFill/>
          <a:ln/>
        </p:spPr>
        <p:txBody>
          <a:bodyPr wrap="square" lIns="0" tIns="0" rIns="0" bIns="0" rtlCol="0" anchor="ctr"/>
          <a:lstStyle/>
          <a:p>
            <a:pPr>
              <a:lnSpc>
                <a:spcPct val="110000"/>
              </a:lnSpc>
            </a:pPr>
            <a:r>
              <a:rPr lang="en-US" sz="1800" b="1" dirty="0">
                <a:solidFill>
                  <a:srgbClr val="1D1D1D"/>
                </a:solidFill>
                <a:latin typeface="Liter" pitchFamily="34" charset="0"/>
                <a:ea typeface="Liter" pitchFamily="34" charset="-122"/>
                <a:cs typeface="Liter" pitchFamily="34" charset="-120"/>
              </a:rPr>
              <a:t>Capteur ultrasonique HC-SR04</a:t>
            </a:r>
            <a:endParaRPr lang="en-US" sz="1600" dirty="0"/>
          </a:p>
        </p:txBody>
      </p:sp>
      <p:sp>
        <p:nvSpPr>
          <p:cNvPr id="16" name="Shape 14">
            <a:extLst>
              <a:ext uri="{FF2B5EF4-FFF2-40B4-BE49-F238E27FC236}">
                <a16:creationId xmlns:a16="http://schemas.microsoft.com/office/drawing/2014/main" id="{2707A4F7-EDD3-C1AE-5DB2-030B7E330998}"/>
              </a:ext>
            </a:extLst>
          </p:cNvPr>
          <p:cNvSpPr/>
          <p:nvPr/>
        </p:nvSpPr>
        <p:spPr>
          <a:xfrm>
            <a:off x="381000" y="4247914"/>
            <a:ext cx="5562600" cy="7620"/>
          </a:xfrm>
          <a:custGeom>
            <a:avLst/>
            <a:gdLst/>
            <a:ahLst/>
            <a:cxnLst/>
            <a:rect l="l" t="t" r="r" b="b"/>
            <a:pathLst>
              <a:path w="5562600" h="7620">
                <a:moveTo>
                  <a:pt x="0" y="0"/>
                </a:moveTo>
                <a:lnTo>
                  <a:pt x="5562600" y="0"/>
                </a:lnTo>
                <a:lnTo>
                  <a:pt x="5562600" y="7620"/>
                </a:lnTo>
                <a:lnTo>
                  <a:pt x="0" y="7620"/>
                </a:lnTo>
                <a:lnTo>
                  <a:pt x="0" y="0"/>
                </a:lnTo>
                <a:close/>
              </a:path>
            </a:pathLst>
          </a:custGeom>
          <a:solidFill>
            <a:srgbClr val="E5E5E5"/>
          </a:solidFill>
          <a:ln/>
        </p:spPr>
      </p:sp>
      <p:sp>
        <p:nvSpPr>
          <p:cNvPr id="17" name="Text 15">
            <a:extLst>
              <a:ext uri="{FF2B5EF4-FFF2-40B4-BE49-F238E27FC236}">
                <a16:creationId xmlns:a16="http://schemas.microsoft.com/office/drawing/2014/main" id="{F6B52D42-0913-8EA1-B1AE-1807EF580E99}"/>
              </a:ext>
            </a:extLst>
          </p:cNvPr>
          <p:cNvSpPr/>
          <p:nvPr/>
        </p:nvSpPr>
        <p:spPr>
          <a:xfrm>
            <a:off x="381000" y="3939304"/>
            <a:ext cx="1600200" cy="228600"/>
          </a:xfrm>
          <a:prstGeom prst="rect">
            <a:avLst/>
          </a:prstGeom>
          <a:noFill/>
          <a:ln/>
        </p:spPr>
        <p:txBody>
          <a:bodyPr wrap="square" lIns="0" tIns="0" rIns="0" bIns="0" rtlCol="0" anchor="ctr"/>
          <a:lstStyle/>
          <a:p>
            <a:pPr>
              <a:lnSpc>
                <a:spcPct val="130000"/>
              </a:lnSpc>
            </a:pPr>
            <a:r>
              <a:rPr lang="en-US" sz="1200" dirty="0">
                <a:solidFill>
                  <a:srgbClr val="86868B"/>
                </a:solidFill>
                <a:latin typeface="Liter" pitchFamily="34" charset="0"/>
                <a:ea typeface="Liter" pitchFamily="34" charset="-122"/>
                <a:cs typeface="Liter" pitchFamily="34" charset="-120"/>
              </a:rPr>
              <a:t>TRIG (déclenchement)</a:t>
            </a:r>
            <a:endParaRPr lang="en-US" sz="1600" dirty="0"/>
          </a:p>
        </p:txBody>
      </p:sp>
      <p:sp>
        <p:nvSpPr>
          <p:cNvPr id="18" name="Text 16">
            <a:extLst>
              <a:ext uri="{FF2B5EF4-FFF2-40B4-BE49-F238E27FC236}">
                <a16:creationId xmlns:a16="http://schemas.microsoft.com/office/drawing/2014/main" id="{4799760E-B72D-4013-6D0A-92499E283250}"/>
              </a:ext>
            </a:extLst>
          </p:cNvPr>
          <p:cNvSpPr/>
          <p:nvPr/>
        </p:nvSpPr>
        <p:spPr>
          <a:xfrm>
            <a:off x="5356979" y="3939304"/>
            <a:ext cx="666750" cy="228600"/>
          </a:xfrm>
          <a:prstGeom prst="rect">
            <a:avLst/>
          </a:prstGeom>
          <a:noFill/>
          <a:ln/>
        </p:spPr>
        <p:txBody>
          <a:bodyPr wrap="square" lIns="0" tIns="0" rIns="0" bIns="0" rtlCol="0" anchor="ctr"/>
          <a:lstStyle/>
          <a:p>
            <a:pPr>
              <a:lnSpc>
                <a:spcPct val="130000"/>
              </a:lnSpc>
            </a:pPr>
            <a:r>
              <a:rPr lang="en-US" sz="1200" dirty="0">
                <a:solidFill>
                  <a:srgbClr val="1D1D1D"/>
                </a:solidFill>
                <a:latin typeface="MiSans" pitchFamily="34" charset="0"/>
                <a:ea typeface="MiSans" pitchFamily="34" charset="-122"/>
                <a:cs typeface="MiSans" pitchFamily="34" charset="-120"/>
              </a:rPr>
              <a:t>GPIO 32</a:t>
            </a:r>
            <a:endParaRPr lang="en-US" sz="1600" dirty="0"/>
          </a:p>
        </p:txBody>
      </p:sp>
      <p:sp>
        <p:nvSpPr>
          <p:cNvPr id="19" name="Shape 17">
            <a:extLst>
              <a:ext uri="{FF2B5EF4-FFF2-40B4-BE49-F238E27FC236}">
                <a16:creationId xmlns:a16="http://schemas.microsoft.com/office/drawing/2014/main" id="{59AA2608-742F-476F-8FE3-5FF0E1093A66}"/>
              </a:ext>
            </a:extLst>
          </p:cNvPr>
          <p:cNvSpPr/>
          <p:nvPr/>
        </p:nvSpPr>
        <p:spPr>
          <a:xfrm>
            <a:off x="381000" y="4712732"/>
            <a:ext cx="5562600" cy="7620"/>
          </a:xfrm>
          <a:custGeom>
            <a:avLst/>
            <a:gdLst/>
            <a:ahLst/>
            <a:cxnLst/>
            <a:rect l="l" t="t" r="r" b="b"/>
            <a:pathLst>
              <a:path w="5562600" h="7620">
                <a:moveTo>
                  <a:pt x="0" y="0"/>
                </a:moveTo>
                <a:lnTo>
                  <a:pt x="5562600" y="0"/>
                </a:lnTo>
                <a:lnTo>
                  <a:pt x="5562600" y="7620"/>
                </a:lnTo>
                <a:lnTo>
                  <a:pt x="0" y="7620"/>
                </a:lnTo>
                <a:lnTo>
                  <a:pt x="0" y="0"/>
                </a:lnTo>
                <a:close/>
              </a:path>
            </a:pathLst>
          </a:custGeom>
          <a:solidFill>
            <a:srgbClr val="E5E5E5"/>
          </a:solidFill>
          <a:ln/>
        </p:spPr>
      </p:sp>
      <p:sp>
        <p:nvSpPr>
          <p:cNvPr id="20" name="Text 18">
            <a:extLst>
              <a:ext uri="{FF2B5EF4-FFF2-40B4-BE49-F238E27FC236}">
                <a16:creationId xmlns:a16="http://schemas.microsoft.com/office/drawing/2014/main" id="{3CC5E71A-11F9-FA9F-6B4C-84A08A5387FC}"/>
              </a:ext>
            </a:extLst>
          </p:cNvPr>
          <p:cNvSpPr/>
          <p:nvPr/>
        </p:nvSpPr>
        <p:spPr>
          <a:xfrm>
            <a:off x="381000" y="4404122"/>
            <a:ext cx="1285875" cy="228600"/>
          </a:xfrm>
          <a:prstGeom prst="rect">
            <a:avLst/>
          </a:prstGeom>
          <a:noFill/>
          <a:ln/>
        </p:spPr>
        <p:txBody>
          <a:bodyPr wrap="square" lIns="0" tIns="0" rIns="0" bIns="0" rtlCol="0" anchor="ctr"/>
          <a:lstStyle/>
          <a:p>
            <a:pPr>
              <a:lnSpc>
                <a:spcPct val="130000"/>
              </a:lnSpc>
            </a:pPr>
            <a:r>
              <a:rPr lang="en-US" sz="1200" dirty="0">
                <a:solidFill>
                  <a:srgbClr val="86868B"/>
                </a:solidFill>
                <a:latin typeface="Liter" pitchFamily="34" charset="0"/>
                <a:ea typeface="Liter" pitchFamily="34" charset="-122"/>
                <a:cs typeface="Liter" pitchFamily="34" charset="-120"/>
              </a:rPr>
              <a:t>ECHO (réception)</a:t>
            </a:r>
            <a:endParaRPr lang="en-US" sz="1600" dirty="0"/>
          </a:p>
        </p:txBody>
      </p:sp>
      <p:sp>
        <p:nvSpPr>
          <p:cNvPr id="21" name="Text 19">
            <a:extLst>
              <a:ext uri="{FF2B5EF4-FFF2-40B4-BE49-F238E27FC236}">
                <a16:creationId xmlns:a16="http://schemas.microsoft.com/office/drawing/2014/main" id="{EB3A105C-5848-9D00-DF1C-8971D4493E8C}"/>
              </a:ext>
            </a:extLst>
          </p:cNvPr>
          <p:cNvSpPr/>
          <p:nvPr/>
        </p:nvSpPr>
        <p:spPr>
          <a:xfrm>
            <a:off x="5356979" y="4404122"/>
            <a:ext cx="666750" cy="228600"/>
          </a:xfrm>
          <a:prstGeom prst="rect">
            <a:avLst/>
          </a:prstGeom>
          <a:noFill/>
          <a:ln/>
        </p:spPr>
        <p:txBody>
          <a:bodyPr wrap="square" lIns="0" tIns="0" rIns="0" bIns="0" rtlCol="0" anchor="ctr"/>
          <a:lstStyle/>
          <a:p>
            <a:pPr>
              <a:lnSpc>
                <a:spcPct val="130000"/>
              </a:lnSpc>
            </a:pPr>
            <a:r>
              <a:rPr lang="en-US" sz="1200" dirty="0">
                <a:solidFill>
                  <a:srgbClr val="1D1D1D"/>
                </a:solidFill>
                <a:latin typeface="MiSans" pitchFamily="34" charset="0"/>
                <a:ea typeface="MiSans" pitchFamily="34" charset="-122"/>
                <a:cs typeface="MiSans" pitchFamily="34" charset="-120"/>
              </a:rPr>
              <a:t>GPIO 35</a:t>
            </a:r>
            <a:endParaRPr lang="en-US" sz="1600" dirty="0"/>
          </a:p>
        </p:txBody>
      </p:sp>
      <p:sp>
        <p:nvSpPr>
          <p:cNvPr id="22" name="Text 20">
            <a:extLst>
              <a:ext uri="{FF2B5EF4-FFF2-40B4-BE49-F238E27FC236}">
                <a16:creationId xmlns:a16="http://schemas.microsoft.com/office/drawing/2014/main" id="{CEB35C66-E228-B859-9DF8-3DE54861C983}"/>
              </a:ext>
            </a:extLst>
          </p:cNvPr>
          <p:cNvSpPr/>
          <p:nvPr/>
        </p:nvSpPr>
        <p:spPr>
          <a:xfrm>
            <a:off x="381000" y="4868945"/>
            <a:ext cx="933450" cy="228600"/>
          </a:xfrm>
          <a:prstGeom prst="rect">
            <a:avLst/>
          </a:prstGeom>
          <a:noFill/>
          <a:ln/>
        </p:spPr>
        <p:txBody>
          <a:bodyPr wrap="square" lIns="0" tIns="0" rIns="0" bIns="0" rtlCol="0" anchor="ctr"/>
          <a:lstStyle/>
          <a:p>
            <a:pPr>
              <a:lnSpc>
                <a:spcPct val="130000"/>
              </a:lnSpc>
            </a:pPr>
            <a:r>
              <a:rPr lang="en-US" sz="1200" dirty="0">
                <a:solidFill>
                  <a:srgbClr val="86868B"/>
                </a:solidFill>
                <a:latin typeface="Liter" pitchFamily="34" charset="0"/>
                <a:ea typeface="Liter" pitchFamily="34" charset="-122"/>
                <a:cs typeface="Liter" pitchFamily="34" charset="-120"/>
              </a:rPr>
              <a:t>Alimentation</a:t>
            </a:r>
            <a:endParaRPr lang="en-US" sz="1600" dirty="0"/>
          </a:p>
        </p:txBody>
      </p:sp>
      <p:sp>
        <p:nvSpPr>
          <p:cNvPr id="23" name="Text 21">
            <a:extLst>
              <a:ext uri="{FF2B5EF4-FFF2-40B4-BE49-F238E27FC236}">
                <a16:creationId xmlns:a16="http://schemas.microsoft.com/office/drawing/2014/main" id="{88650A72-F0FD-B27F-2C7E-76774A9D07FD}"/>
              </a:ext>
            </a:extLst>
          </p:cNvPr>
          <p:cNvSpPr/>
          <p:nvPr/>
        </p:nvSpPr>
        <p:spPr>
          <a:xfrm>
            <a:off x="5314474" y="4868945"/>
            <a:ext cx="704850" cy="228600"/>
          </a:xfrm>
          <a:prstGeom prst="rect">
            <a:avLst/>
          </a:prstGeom>
          <a:noFill/>
          <a:ln/>
        </p:spPr>
        <p:txBody>
          <a:bodyPr wrap="square" lIns="0" tIns="0" rIns="0" bIns="0" rtlCol="0" anchor="ctr"/>
          <a:lstStyle/>
          <a:p>
            <a:pPr>
              <a:lnSpc>
                <a:spcPct val="130000"/>
              </a:lnSpc>
            </a:pPr>
            <a:r>
              <a:rPr lang="en-US" sz="1200" dirty="0">
                <a:solidFill>
                  <a:srgbClr val="1D1D1D"/>
                </a:solidFill>
                <a:latin typeface="Liter" pitchFamily="34" charset="0"/>
                <a:ea typeface="Liter" pitchFamily="34" charset="-122"/>
                <a:cs typeface="Liter" pitchFamily="34" charset="-120"/>
              </a:rPr>
              <a:t>5V / GND</a:t>
            </a:r>
            <a:endParaRPr lang="en-US" sz="1600" dirty="0"/>
          </a:p>
        </p:txBody>
      </p:sp>
      <p:sp>
        <p:nvSpPr>
          <p:cNvPr id="24" name="Shape 22">
            <a:extLst>
              <a:ext uri="{FF2B5EF4-FFF2-40B4-BE49-F238E27FC236}">
                <a16:creationId xmlns:a16="http://schemas.microsoft.com/office/drawing/2014/main" id="{EB4D6D78-5AFF-8790-072C-353629F1FDBA}"/>
              </a:ext>
            </a:extLst>
          </p:cNvPr>
          <p:cNvSpPr/>
          <p:nvPr/>
        </p:nvSpPr>
        <p:spPr>
          <a:xfrm>
            <a:off x="6305550" y="1485784"/>
            <a:ext cx="171450" cy="228600"/>
          </a:xfrm>
          <a:custGeom>
            <a:avLst/>
            <a:gdLst/>
            <a:ahLst/>
            <a:cxnLst/>
            <a:rect l="l" t="t" r="r" b="b"/>
            <a:pathLst>
              <a:path w="171450" h="228600">
                <a:moveTo>
                  <a:pt x="130775" y="171450"/>
                </a:moveTo>
                <a:cubicBezTo>
                  <a:pt x="134035" y="161493"/>
                  <a:pt x="140553" y="152474"/>
                  <a:pt x="147920" y="144706"/>
                </a:cubicBezTo>
                <a:cubicBezTo>
                  <a:pt x="162520" y="129347"/>
                  <a:pt x="171450" y="108585"/>
                  <a:pt x="171450" y="85725"/>
                </a:cubicBezTo>
                <a:cubicBezTo>
                  <a:pt x="171450" y="38398"/>
                  <a:pt x="133052" y="0"/>
                  <a:pt x="85725" y="0"/>
                </a:cubicBezTo>
                <a:cubicBezTo>
                  <a:pt x="38398" y="0"/>
                  <a:pt x="0" y="38398"/>
                  <a:pt x="0" y="85725"/>
                </a:cubicBezTo>
                <a:cubicBezTo>
                  <a:pt x="0" y="108585"/>
                  <a:pt x="8930" y="129347"/>
                  <a:pt x="23530" y="144706"/>
                </a:cubicBezTo>
                <a:cubicBezTo>
                  <a:pt x="30897" y="152474"/>
                  <a:pt x="37460" y="161493"/>
                  <a:pt x="40675" y="171450"/>
                </a:cubicBezTo>
                <a:lnTo>
                  <a:pt x="130731" y="171450"/>
                </a:lnTo>
                <a:close/>
                <a:moveTo>
                  <a:pt x="128588" y="192881"/>
                </a:moveTo>
                <a:lnTo>
                  <a:pt x="42863" y="192881"/>
                </a:lnTo>
                <a:lnTo>
                  <a:pt x="42863" y="200025"/>
                </a:lnTo>
                <a:cubicBezTo>
                  <a:pt x="42863" y="219760"/>
                  <a:pt x="58847" y="235744"/>
                  <a:pt x="78581" y="235744"/>
                </a:cubicBezTo>
                <a:lnTo>
                  <a:pt x="92869" y="235744"/>
                </a:lnTo>
                <a:cubicBezTo>
                  <a:pt x="112603" y="235744"/>
                  <a:pt x="128588" y="219760"/>
                  <a:pt x="128588" y="200025"/>
                </a:cubicBezTo>
                <a:lnTo>
                  <a:pt x="128588" y="192881"/>
                </a:lnTo>
                <a:close/>
                <a:moveTo>
                  <a:pt x="82153" y="50006"/>
                </a:moveTo>
                <a:cubicBezTo>
                  <a:pt x="64383" y="50006"/>
                  <a:pt x="50006" y="64383"/>
                  <a:pt x="50006" y="82153"/>
                </a:cubicBezTo>
                <a:cubicBezTo>
                  <a:pt x="50006" y="88091"/>
                  <a:pt x="45229" y="92869"/>
                  <a:pt x="39291" y="92869"/>
                </a:cubicBezTo>
                <a:cubicBezTo>
                  <a:pt x="33352" y="92869"/>
                  <a:pt x="28575" y="88091"/>
                  <a:pt x="28575" y="82153"/>
                </a:cubicBezTo>
                <a:cubicBezTo>
                  <a:pt x="28575" y="52551"/>
                  <a:pt x="52551" y="28575"/>
                  <a:pt x="82153" y="28575"/>
                </a:cubicBezTo>
                <a:cubicBezTo>
                  <a:pt x="88091" y="28575"/>
                  <a:pt x="92869" y="33352"/>
                  <a:pt x="92869" y="39291"/>
                </a:cubicBezTo>
                <a:cubicBezTo>
                  <a:pt x="92869" y="45229"/>
                  <a:pt x="88091" y="50006"/>
                  <a:pt x="82153" y="50006"/>
                </a:cubicBezTo>
                <a:close/>
              </a:path>
            </a:pathLst>
          </a:custGeom>
          <a:solidFill>
            <a:srgbClr val="0071E3"/>
          </a:solidFill>
          <a:ln/>
        </p:spPr>
      </p:sp>
      <p:sp>
        <p:nvSpPr>
          <p:cNvPr id="25" name="Text 23">
            <a:extLst>
              <a:ext uri="{FF2B5EF4-FFF2-40B4-BE49-F238E27FC236}">
                <a16:creationId xmlns:a16="http://schemas.microsoft.com/office/drawing/2014/main" id="{4E847935-8CB0-AB12-2075-FCB021DB3BA5}"/>
              </a:ext>
            </a:extLst>
          </p:cNvPr>
          <p:cNvSpPr/>
          <p:nvPr/>
        </p:nvSpPr>
        <p:spPr>
          <a:xfrm>
            <a:off x="6534150" y="1447800"/>
            <a:ext cx="5391150" cy="304800"/>
          </a:xfrm>
          <a:prstGeom prst="rect">
            <a:avLst/>
          </a:prstGeom>
          <a:noFill/>
          <a:ln/>
        </p:spPr>
        <p:txBody>
          <a:bodyPr wrap="square" lIns="0" tIns="0" rIns="0" bIns="0" rtlCol="0" anchor="ctr"/>
          <a:lstStyle/>
          <a:p>
            <a:pPr>
              <a:lnSpc>
                <a:spcPct val="110000"/>
              </a:lnSpc>
            </a:pPr>
            <a:r>
              <a:rPr lang="en-US" sz="1800" b="1" dirty="0">
                <a:solidFill>
                  <a:srgbClr val="1D1D1D"/>
                </a:solidFill>
                <a:latin typeface="Liter" pitchFamily="34" charset="0"/>
                <a:ea typeface="Liter" pitchFamily="34" charset="-122"/>
                <a:cs typeface="Liter" pitchFamily="34" charset="-120"/>
              </a:rPr>
              <a:t>LEDs indicatrices</a:t>
            </a:r>
            <a:endParaRPr lang="en-US" sz="1600" dirty="0"/>
          </a:p>
        </p:txBody>
      </p:sp>
      <p:sp>
        <p:nvSpPr>
          <p:cNvPr id="26" name="Shape 24">
            <a:extLst>
              <a:ext uri="{FF2B5EF4-FFF2-40B4-BE49-F238E27FC236}">
                <a16:creationId xmlns:a16="http://schemas.microsoft.com/office/drawing/2014/main" id="{81066BB0-3505-A507-2A88-5CBE8A849045}"/>
              </a:ext>
            </a:extLst>
          </p:cNvPr>
          <p:cNvSpPr/>
          <p:nvPr/>
        </p:nvSpPr>
        <p:spPr>
          <a:xfrm>
            <a:off x="6248400" y="2289694"/>
            <a:ext cx="5562600" cy="7620"/>
          </a:xfrm>
          <a:custGeom>
            <a:avLst/>
            <a:gdLst/>
            <a:ahLst/>
            <a:cxnLst/>
            <a:rect l="l" t="t" r="r" b="b"/>
            <a:pathLst>
              <a:path w="5562600" h="7620">
                <a:moveTo>
                  <a:pt x="0" y="0"/>
                </a:moveTo>
                <a:lnTo>
                  <a:pt x="5562600" y="0"/>
                </a:lnTo>
                <a:lnTo>
                  <a:pt x="5562600" y="7620"/>
                </a:lnTo>
                <a:lnTo>
                  <a:pt x="0" y="7620"/>
                </a:lnTo>
                <a:lnTo>
                  <a:pt x="0" y="0"/>
                </a:lnTo>
                <a:close/>
              </a:path>
            </a:pathLst>
          </a:custGeom>
          <a:solidFill>
            <a:srgbClr val="E5E5E5"/>
          </a:solidFill>
          <a:ln/>
        </p:spPr>
      </p:sp>
      <p:sp>
        <p:nvSpPr>
          <p:cNvPr id="27" name="Text 25">
            <a:extLst>
              <a:ext uri="{FF2B5EF4-FFF2-40B4-BE49-F238E27FC236}">
                <a16:creationId xmlns:a16="http://schemas.microsoft.com/office/drawing/2014/main" id="{AB5CBBA6-7AA0-252A-DEBB-27EF1D22AEC8}"/>
              </a:ext>
            </a:extLst>
          </p:cNvPr>
          <p:cNvSpPr/>
          <p:nvPr/>
        </p:nvSpPr>
        <p:spPr>
          <a:xfrm>
            <a:off x="6248400" y="1981084"/>
            <a:ext cx="1581150" cy="228600"/>
          </a:xfrm>
          <a:prstGeom prst="rect">
            <a:avLst/>
          </a:prstGeom>
          <a:noFill/>
          <a:ln/>
        </p:spPr>
        <p:txBody>
          <a:bodyPr wrap="square" lIns="0" tIns="0" rIns="0" bIns="0" rtlCol="0" anchor="ctr"/>
          <a:lstStyle/>
          <a:p>
            <a:pPr>
              <a:lnSpc>
                <a:spcPct val="130000"/>
              </a:lnSpc>
            </a:pPr>
            <a:r>
              <a:rPr lang="en-US" sz="1200" dirty="0">
                <a:solidFill>
                  <a:srgbClr val="86868B"/>
                </a:solidFill>
                <a:latin typeface="Liter" pitchFamily="34" charset="0"/>
                <a:ea typeface="Liter" pitchFamily="34" charset="-122"/>
                <a:cs typeface="Liter" pitchFamily="34" charset="-120"/>
              </a:rPr>
              <a:t>LED Verte (CRITIQUE)</a:t>
            </a:r>
            <a:endParaRPr lang="en-US" sz="1600" dirty="0"/>
          </a:p>
        </p:txBody>
      </p:sp>
      <p:sp>
        <p:nvSpPr>
          <p:cNvPr id="28" name="Text 26">
            <a:extLst>
              <a:ext uri="{FF2B5EF4-FFF2-40B4-BE49-F238E27FC236}">
                <a16:creationId xmlns:a16="http://schemas.microsoft.com/office/drawing/2014/main" id="{00161E11-4B09-BE32-27A9-CDBCC90CF2BD}"/>
              </a:ext>
            </a:extLst>
          </p:cNvPr>
          <p:cNvSpPr/>
          <p:nvPr/>
        </p:nvSpPr>
        <p:spPr>
          <a:xfrm>
            <a:off x="11224379" y="1981084"/>
            <a:ext cx="666750" cy="228600"/>
          </a:xfrm>
          <a:prstGeom prst="rect">
            <a:avLst/>
          </a:prstGeom>
          <a:noFill/>
          <a:ln/>
        </p:spPr>
        <p:txBody>
          <a:bodyPr wrap="square" lIns="0" tIns="0" rIns="0" bIns="0" rtlCol="0" anchor="ctr"/>
          <a:lstStyle/>
          <a:p>
            <a:pPr>
              <a:lnSpc>
                <a:spcPct val="130000"/>
              </a:lnSpc>
            </a:pPr>
            <a:r>
              <a:rPr lang="en-US" sz="1200" dirty="0">
                <a:solidFill>
                  <a:srgbClr val="1D1D1D"/>
                </a:solidFill>
                <a:latin typeface="MiSans" pitchFamily="34" charset="0"/>
                <a:ea typeface="MiSans" pitchFamily="34" charset="-122"/>
                <a:cs typeface="MiSans" pitchFamily="34" charset="-120"/>
              </a:rPr>
              <a:t>GPIO 26</a:t>
            </a:r>
            <a:endParaRPr lang="en-US" sz="1600" dirty="0"/>
          </a:p>
        </p:txBody>
      </p:sp>
      <p:sp>
        <p:nvSpPr>
          <p:cNvPr id="29" name="Shape 27">
            <a:extLst>
              <a:ext uri="{FF2B5EF4-FFF2-40B4-BE49-F238E27FC236}">
                <a16:creationId xmlns:a16="http://schemas.microsoft.com/office/drawing/2014/main" id="{7C5281EC-3421-F20C-8E47-2253F899B787}"/>
              </a:ext>
            </a:extLst>
          </p:cNvPr>
          <p:cNvSpPr/>
          <p:nvPr/>
        </p:nvSpPr>
        <p:spPr>
          <a:xfrm>
            <a:off x="6248400" y="2754512"/>
            <a:ext cx="5562600" cy="7620"/>
          </a:xfrm>
          <a:custGeom>
            <a:avLst/>
            <a:gdLst/>
            <a:ahLst/>
            <a:cxnLst/>
            <a:rect l="l" t="t" r="r" b="b"/>
            <a:pathLst>
              <a:path w="5562600" h="7620">
                <a:moveTo>
                  <a:pt x="0" y="0"/>
                </a:moveTo>
                <a:lnTo>
                  <a:pt x="5562600" y="0"/>
                </a:lnTo>
                <a:lnTo>
                  <a:pt x="5562600" y="7620"/>
                </a:lnTo>
                <a:lnTo>
                  <a:pt x="0" y="7620"/>
                </a:lnTo>
                <a:lnTo>
                  <a:pt x="0" y="0"/>
                </a:lnTo>
                <a:close/>
              </a:path>
            </a:pathLst>
          </a:custGeom>
          <a:solidFill>
            <a:srgbClr val="E5E5E5"/>
          </a:solidFill>
          <a:ln/>
        </p:spPr>
      </p:sp>
      <p:sp>
        <p:nvSpPr>
          <p:cNvPr id="30" name="Text 28">
            <a:extLst>
              <a:ext uri="{FF2B5EF4-FFF2-40B4-BE49-F238E27FC236}">
                <a16:creationId xmlns:a16="http://schemas.microsoft.com/office/drawing/2014/main" id="{27A7E9C0-BD07-1D04-D837-429965CBDF8D}"/>
              </a:ext>
            </a:extLst>
          </p:cNvPr>
          <p:cNvSpPr/>
          <p:nvPr/>
        </p:nvSpPr>
        <p:spPr>
          <a:xfrm>
            <a:off x="6248400" y="2445902"/>
            <a:ext cx="1724025" cy="228600"/>
          </a:xfrm>
          <a:prstGeom prst="rect">
            <a:avLst/>
          </a:prstGeom>
          <a:noFill/>
          <a:ln/>
        </p:spPr>
        <p:txBody>
          <a:bodyPr wrap="square" lIns="0" tIns="0" rIns="0" bIns="0" rtlCol="0" anchor="ctr"/>
          <a:lstStyle/>
          <a:p>
            <a:pPr>
              <a:lnSpc>
                <a:spcPct val="130000"/>
              </a:lnSpc>
            </a:pPr>
            <a:r>
              <a:rPr lang="en-US" sz="1200" dirty="0">
                <a:solidFill>
                  <a:srgbClr val="86868B"/>
                </a:solidFill>
                <a:latin typeface="Liter" pitchFamily="34" charset="0"/>
                <a:ea typeface="Liter" pitchFamily="34" charset="-122"/>
                <a:cs typeface="Liter" pitchFamily="34" charset="-120"/>
              </a:rPr>
              <a:t>LED Jaune (VIGILANCE)</a:t>
            </a:r>
            <a:endParaRPr lang="en-US" sz="1600" dirty="0"/>
          </a:p>
        </p:txBody>
      </p:sp>
      <p:sp>
        <p:nvSpPr>
          <p:cNvPr id="31" name="Text 29">
            <a:extLst>
              <a:ext uri="{FF2B5EF4-FFF2-40B4-BE49-F238E27FC236}">
                <a16:creationId xmlns:a16="http://schemas.microsoft.com/office/drawing/2014/main" id="{6E6F98DD-F75C-C9CC-272D-ED6ABBE6333F}"/>
              </a:ext>
            </a:extLst>
          </p:cNvPr>
          <p:cNvSpPr/>
          <p:nvPr/>
        </p:nvSpPr>
        <p:spPr>
          <a:xfrm>
            <a:off x="11224379" y="2445902"/>
            <a:ext cx="666750" cy="228600"/>
          </a:xfrm>
          <a:prstGeom prst="rect">
            <a:avLst/>
          </a:prstGeom>
          <a:noFill/>
          <a:ln/>
        </p:spPr>
        <p:txBody>
          <a:bodyPr wrap="square" lIns="0" tIns="0" rIns="0" bIns="0" rtlCol="0" anchor="ctr"/>
          <a:lstStyle/>
          <a:p>
            <a:pPr>
              <a:lnSpc>
                <a:spcPct val="130000"/>
              </a:lnSpc>
            </a:pPr>
            <a:r>
              <a:rPr lang="en-US" sz="1200" dirty="0">
                <a:solidFill>
                  <a:srgbClr val="1D1D1D"/>
                </a:solidFill>
                <a:latin typeface="MiSans" pitchFamily="34" charset="0"/>
                <a:ea typeface="MiSans" pitchFamily="34" charset="-122"/>
                <a:cs typeface="MiSans" pitchFamily="34" charset="-120"/>
              </a:rPr>
              <a:t>GPIO 14</a:t>
            </a:r>
            <a:endParaRPr lang="en-US" sz="1600" dirty="0"/>
          </a:p>
        </p:txBody>
      </p:sp>
      <p:sp>
        <p:nvSpPr>
          <p:cNvPr id="32" name="Shape 30">
            <a:extLst>
              <a:ext uri="{FF2B5EF4-FFF2-40B4-BE49-F238E27FC236}">
                <a16:creationId xmlns:a16="http://schemas.microsoft.com/office/drawing/2014/main" id="{589240C8-9D30-E36B-6198-74ED88D16EF1}"/>
              </a:ext>
            </a:extLst>
          </p:cNvPr>
          <p:cNvSpPr/>
          <p:nvPr/>
        </p:nvSpPr>
        <p:spPr>
          <a:xfrm>
            <a:off x="6248400" y="3219330"/>
            <a:ext cx="5562600" cy="7620"/>
          </a:xfrm>
          <a:custGeom>
            <a:avLst/>
            <a:gdLst/>
            <a:ahLst/>
            <a:cxnLst/>
            <a:rect l="l" t="t" r="r" b="b"/>
            <a:pathLst>
              <a:path w="5562600" h="7620">
                <a:moveTo>
                  <a:pt x="0" y="0"/>
                </a:moveTo>
                <a:lnTo>
                  <a:pt x="5562600" y="0"/>
                </a:lnTo>
                <a:lnTo>
                  <a:pt x="5562600" y="7620"/>
                </a:lnTo>
                <a:lnTo>
                  <a:pt x="0" y="7620"/>
                </a:lnTo>
                <a:lnTo>
                  <a:pt x="0" y="0"/>
                </a:lnTo>
                <a:close/>
              </a:path>
            </a:pathLst>
          </a:custGeom>
          <a:solidFill>
            <a:srgbClr val="E5E5E5"/>
          </a:solidFill>
          <a:ln/>
        </p:spPr>
      </p:sp>
      <p:sp>
        <p:nvSpPr>
          <p:cNvPr id="33" name="Text 31">
            <a:extLst>
              <a:ext uri="{FF2B5EF4-FFF2-40B4-BE49-F238E27FC236}">
                <a16:creationId xmlns:a16="http://schemas.microsoft.com/office/drawing/2014/main" id="{BA20E6CB-42D1-CD61-A343-1F8778226418}"/>
              </a:ext>
            </a:extLst>
          </p:cNvPr>
          <p:cNvSpPr/>
          <p:nvPr/>
        </p:nvSpPr>
        <p:spPr>
          <a:xfrm>
            <a:off x="6248400" y="2910720"/>
            <a:ext cx="1609725" cy="228600"/>
          </a:xfrm>
          <a:prstGeom prst="rect">
            <a:avLst/>
          </a:prstGeom>
          <a:noFill/>
          <a:ln/>
        </p:spPr>
        <p:txBody>
          <a:bodyPr wrap="square" lIns="0" tIns="0" rIns="0" bIns="0" rtlCol="0" anchor="ctr"/>
          <a:lstStyle/>
          <a:p>
            <a:pPr>
              <a:lnSpc>
                <a:spcPct val="130000"/>
              </a:lnSpc>
            </a:pPr>
            <a:r>
              <a:rPr lang="en-US" sz="1200" dirty="0">
                <a:solidFill>
                  <a:srgbClr val="86868B"/>
                </a:solidFill>
                <a:latin typeface="Liter" pitchFamily="34" charset="0"/>
                <a:ea typeface="Liter" pitchFamily="34" charset="-122"/>
                <a:cs typeface="Liter" pitchFamily="34" charset="-120"/>
              </a:rPr>
              <a:t>LED Rouge (NORMAL)</a:t>
            </a:r>
            <a:endParaRPr lang="en-US" sz="1600" dirty="0"/>
          </a:p>
        </p:txBody>
      </p:sp>
      <p:sp>
        <p:nvSpPr>
          <p:cNvPr id="34" name="Text 32">
            <a:extLst>
              <a:ext uri="{FF2B5EF4-FFF2-40B4-BE49-F238E27FC236}">
                <a16:creationId xmlns:a16="http://schemas.microsoft.com/office/drawing/2014/main" id="{3344A161-3104-3075-146D-FC9900E3A868}"/>
              </a:ext>
            </a:extLst>
          </p:cNvPr>
          <p:cNvSpPr/>
          <p:nvPr/>
        </p:nvSpPr>
        <p:spPr>
          <a:xfrm>
            <a:off x="11224379" y="2910720"/>
            <a:ext cx="666750" cy="228600"/>
          </a:xfrm>
          <a:prstGeom prst="rect">
            <a:avLst/>
          </a:prstGeom>
          <a:noFill/>
          <a:ln/>
        </p:spPr>
        <p:txBody>
          <a:bodyPr wrap="square" lIns="0" tIns="0" rIns="0" bIns="0" rtlCol="0" anchor="ctr"/>
          <a:lstStyle/>
          <a:p>
            <a:pPr>
              <a:lnSpc>
                <a:spcPct val="130000"/>
              </a:lnSpc>
            </a:pPr>
            <a:r>
              <a:rPr lang="en-US" sz="1200" dirty="0">
                <a:solidFill>
                  <a:srgbClr val="1D1D1D"/>
                </a:solidFill>
                <a:latin typeface="MiSans" pitchFamily="34" charset="0"/>
                <a:ea typeface="MiSans" pitchFamily="34" charset="-122"/>
                <a:cs typeface="MiSans" pitchFamily="34" charset="-120"/>
              </a:rPr>
              <a:t>GPIO 27</a:t>
            </a:r>
            <a:endParaRPr lang="en-US" sz="1600" dirty="0"/>
          </a:p>
        </p:txBody>
      </p:sp>
      <p:sp>
        <p:nvSpPr>
          <p:cNvPr id="35" name="Text 33">
            <a:extLst>
              <a:ext uri="{FF2B5EF4-FFF2-40B4-BE49-F238E27FC236}">
                <a16:creationId xmlns:a16="http://schemas.microsoft.com/office/drawing/2014/main" id="{60DFC31B-36C7-7F49-B77A-DCC2B7E948C8}"/>
              </a:ext>
            </a:extLst>
          </p:cNvPr>
          <p:cNvSpPr/>
          <p:nvPr/>
        </p:nvSpPr>
        <p:spPr>
          <a:xfrm>
            <a:off x="6248400" y="3375543"/>
            <a:ext cx="885825" cy="228600"/>
          </a:xfrm>
          <a:prstGeom prst="rect">
            <a:avLst/>
          </a:prstGeom>
          <a:noFill/>
          <a:ln/>
        </p:spPr>
        <p:txBody>
          <a:bodyPr wrap="square" lIns="0" tIns="0" rIns="0" bIns="0" rtlCol="0" anchor="ctr"/>
          <a:lstStyle/>
          <a:p>
            <a:pPr>
              <a:lnSpc>
                <a:spcPct val="130000"/>
              </a:lnSpc>
            </a:pPr>
            <a:r>
              <a:rPr lang="en-US" sz="1200" dirty="0">
                <a:solidFill>
                  <a:srgbClr val="86868B"/>
                </a:solidFill>
                <a:latin typeface="Liter" pitchFamily="34" charset="0"/>
                <a:ea typeface="Liter" pitchFamily="34" charset="-122"/>
                <a:cs typeface="Liter" pitchFamily="34" charset="-120"/>
              </a:rPr>
              <a:t>Résistances</a:t>
            </a:r>
            <a:endParaRPr lang="en-US" sz="1600" dirty="0"/>
          </a:p>
        </p:txBody>
      </p:sp>
      <p:sp>
        <p:nvSpPr>
          <p:cNvPr id="36" name="Text 34">
            <a:extLst>
              <a:ext uri="{FF2B5EF4-FFF2-40B4-BE49-F238E27FC236}">
                <a16:creationId xmlns:a16="http://schemas.microsoft.com/office/drawing/2014/main" id="{399EF479-6AAD-39B9-7E85-31679F147A6E}"/>
              </a:ext>
            </a:extLst>
          </p:cNvPr>
          <p:cNvSpPr/>
          <p:nvPr/>
        </p:nvSpPr>
        <p:spPr>
          <a:xfrm>
            <a:off x="10865882" y="3375543"/>
            <a:ext cx="1019175" cy="228600"/>
          </a:xfrm>
          <a:prstGeom prst="rect">
            <a:avLst/>
          </a:prstGeom>
          <a:noFill/>
          <a:ln/>
        </p:spPr>
        <p:txBody>
          <a:bodyPr wrap="square" lIns="0" tIns="0" rIns="0" bIns="0" rtlCol="0" anchor="ctr"/>
          <a:lstStyle/>
          <a:p>
            <a:pPr>
              <a:lnSpc>
                <a:spcPct val="130000"/>
              </a:lnSpc>
            </a:pPr>
            <a:r>
              <a:rPr lang="en-US" sz="1200" dirty="0">
                <a:solidFill>
                  <a:srgbClr val="1D1D1D"/>
                </a:solidFill>
                <a:latin typeface="Liter" pitchFamily="34" charset="0"/>
                <a:ea typeface="Liter" pitchFamily="34" charset="-122"/>
                <a:cs typeface="Liter" pitchFamily="34" charset="-120"/>
              </a:rPr>
              <a:t>220Ω en série</a:t>
            </a:r>
            <a:endParaRPr lang="en-US" sz="1600" dirty="0"/>
          </a:p>
        </p:txBody>
      </p:sp>
      <p:sp>
        <p:nvSpPr>
          <p:cNvPr id="37" name="Shape 35">
            <a:extLst>
              <a:ext uri="{FF2B5EF4-FFF2-40B4-BE49-F238E27FC236}">
                <a16:creationId xmlns:a16="http://schemas.microsoft.com/office/drawing/2014/main" id="{B9E17C39-71E0-2F61-5636-9AE87C344B64}"/>
              </a:ext>
            </a:extLst>
          </p:cNvPr>
          <p:cNvSpPr/>
          <p:nvPr/>
        </p:nvSpPr>
        <p:spPr>
          <a:xfrm>
            <a:off x="6276975" y="3908822"/>
            <a:ext cx="228600" cy="228600"/>
          </a:xfrm>
          <a:custGeom>
            <a:avLst/>
            <a:gdLst/>
            <a:ahLst/>
            <a:cxnLst/>
            <a:rect l="l" t="t" r="r" b="b"/>
            <a:pathLst>
              <a:path w="228600" h="228600">
                <a:moveTo>
                  <a:pt x="14288" y="28575"/>
                </a:moveTo>
                <a:cubicBezTo>
                  <a:pt x="6385" y="28575"/>
                  <a:pt x="0" y="34960"/>
                  <a:pt x="0" y="42863"/>
                </a:cubicBezTo>
                <a:cubicBezTo>
                  <a:pt x="0" y="50765"/>
                  <a:pt x="6385" y="57150"/>
                  <a:pt x="14288" y="57150"/>
                </a:cubicBezTo>
                <a:lnTo>
                  <a:pt x="52998" y="57150"/>
                </a:lnTo>
                <a:cubicBezTo>
                  <a:pt x="58489" y="69786"/>
                  <a:pt x="71080" y="78581"/>
                  <a:pt x="85725" y="78581"/>
                </a:cubicBezTo>
                <a:cubicBezTo>
                  <a:pt x="100370" y="78581"/>
                  <a:pt x="112961" y="69786"/>
                  <a:pt x="118452" y="57150"/>
                </a:cubicBezTo>
                <a:lnTo>
                  <a:pt x="214313" y="57150"/>
                </a:lnTo>
                <a:cubicBezTo>
                  <a:pt x="222215" y="57150"/>
                  <a:pt x="228600" y="50765"/>
                  <a:pt x="228600" y="42863"/>
                </a:cubicBezTo>
                <a:cubicBezTo>
                  <a:pt x="228600" y="34960"/>
                  <a:pt x="222215" y="28575"/>
                  <a:pt x="214313" y="28575"/>
                </a:cubicBezTo>
                <a:lnTo>
                  <a:pt x="118452" y="28575"/>
                </a:lnTo>
                <a:cubicBezTo>
                  <a:pt x="112961" y="15939"/>
                  <a:pt x="100370" y="7144"/>
                  <a:pt x="85725" y="7144"/>
                </a:cubicBezTo>
                <a:cubicBezTo>
                  <a:pt x="71080" y="7144"/>
                  <a:pt x="58489" y="15939"/>
                  <a:pt x="52998" y="28575"/>
                </a:cubicBezTo>
                <a:lnTo>
                  <a:pt x="14288" y="28575"/>
                </a:lnTo>
                <a:close/>
                <a:moveTo>
                  <a:pt x="14288" y="100013"/>
                </a:moveTo>
                <a:cubicBezTo>
                  <a:pt x="6385" y="100013"/>
                  <a:pt x="0" y="106397"/>
                  <a:pt x="0" y="114300"/>
                </a:cubicBezTo>
                <a:cubicBezTo>
                  <a:pt x="0" y="122203"/>
                  <a:pt x="6385" y="128588"/>
                  <a:pt x="14288" y="128588"/>
                </a:cubicBezTo>
                <a:lnTo>
                  <a:pt x="124435" y="128588"/>
                </a:lnTo>
                <a:cubicBezTo>
                  <a:pt x="129927" y="141223"/>
                  <a:pt x="142518" y="150019"/>
                  <a:pt x="157163" y="150019"/>
                </a:cubicBezTo>
                <a:cubicBezTo>
                  <a:pt x="171807" y="150019"/>
                  <a:pt x="184398" y="141223"/>
                  <a:pt x="189890" y="128588"/>
                </a:cubicBezTo>
                <a:lnTo>
                  <a:pt x="214313" y="128588"/>
                </a:lnTo>
                <a:cubicBezTo>
                  <a:pt x="222215" y="128588"/>
                  <a:pt x="228600" y="122203"/>
                  <a:pt x="228600" y="114300"/>
                </a:cubicBezTo>
                <a:cubicBezTo>
                  <a:pt x="228600" y="106397"/>
                  <a:pt x="222215" y="100013"/>
                  <a:pt x="214313" y="100013"/>
                </a:cubicBezTo>
                <a:lnTo>
                  <a:pt x="189890" y="100013"/>
                </a:lnTo>
                <a:cubicBezTo>
                  <a:pt x="184398" y="87377"/>
                  <a:pt x="171807" y="78581"/>
                  <a:pt x="157163" y="78581"/>
                </a:cubicBezTo>
                <a:cubicBezTo>
                  <a:pt x="142518" y="78581"/>
                  <a:pt x="129927" y="87377"/>
                  <a:pt x="124435" y="100013"/>
                </a:cubicBezTo>
                <a:lnTo>
                  <a:pt x="14288" y="100013"/>
                </a:lnTo>
                <a:close/>
                <a:moveTo>
                  <a:pt x="14288" y="171450"/>
                </a:moveTo>
                <a:cubicBezTo>
                  <a:pt x="6385" y="171450"/>
                  <a:pt x="0" y="177835"/>
                  <a:pt x="0" y="185738"/>
                </a:cubicBezTo>
                <a:cubicBezTo>
                  <a:pt x="0" y="193640"/>
                  <a:pt x="6385" y="200025"/>
                  <a:pt x="14288" y="200025"/>
                </a:cubicBezTo>
                <a:lnTo>
                  <a:pt x="38710" y="200025"/>
                </a:lnTo>
                <a:cubicBezTo>
                  <a:pt x="44202" y="212661"/>
                  <a:pt x="56793" y="221456"/>
                  <a:pt x="71438" y="221456"/>
                </a:cubicBezTo>
                <a:cubicBezTo>
                  <a:pt x="86082" y="221456"/>
                  <a:pt x="98673" y="212661"/>
                  <a:pt x="104165" y="200025"/>
                </a:cubicBezTo>
                <a:lnTo>
                  <a:pt x="214313" y="200025"/>
                </a:lnTo>
                <a:cubicBezTo>
                  <a:pt x="222215" y="200025"/>
                  <a:pt x="228600" y="193640"/>
                  <a:pt x="228600" y="185738"/>
                </a:cubicBezTo>
                <a:cubicBezTo>
                  <a:pt x="228600" y="177835"/>
                  <a:pt x="222215" y="171450"/>
                  <a:pt x="214313" y="171450"/>
                </a:cubicBezTo>
                <a:lnTo>
                  <a:pt x="104165" y="171450"/>
                </a:lnTo>
                <a:cubicBezTo>
                  <a:pt x="98673" y="158814"/>
                  <a:pt x="86082" y="150019"/>
                  <a:pt x="71438" y="150019"/>
                </a:cubicBezTo>
                <a:cubicBezTo>
                  <a:pt x="56793" y="150019"/>
                  <a:pt x="44202" y="158814"/>
                  <a:pt x="38710" y="171450"/>
                </a:cubicBezTo>
                <a:lnTo>
                  <a:pt x="14288" y="171450"/>
                </a:lnTo>
                <a:close/>
              </a:path>
            </a:pathLst>
          </a:custGeom>
          <a:solidFill>
            <a:srgbClr val="0071E3"/>
          </a:solidFill>
          <a:ln/>
        </p:spPr>
      </p:sp>
      <p:sp>
        <p:nvSpPr>
          <p:cNvPr id="38" name="Text 36">
            <a:extLst>
              <a:ext uri="{FF2B5EF4-FFF2-40B4-BE49-F238E27FC236}">
                <a16:creationId xmlns:a16="http://schemas.microsoft.com/office/drawing/2014/main" id="{ADCAC30A-A5F2-17FE-05AD-9961DBB1D44A}"/>
              </a:ext>
            </a:extLst>
          </p:cNvPr>
          <p:cNvSpPr/>
          <p:nvPr/>
        </p:nvSpPr>
        <p:spPr>
          <a:xfrm>
            <a:off x="6534150" y="3870843"/>
            <a:ext cx="5391150" cy="304800"/>
          </a:xfrm>
          <a:prstGeom prst="rect">
            <a:avLst/>
          </a:prstGeom>
          <a:noFill/>
          <a:ln/>
        </p:spPr>
        <p:txBody>
          <a:bodyPr wrap="square" lIns="0" tIns="0" rIns="0" bIns="0" rtlCol="0" anchor="ctr"/>
          <a:lstStyle/>
          <a:p>
            <a:pPr>
              <a:lnSpc>
                <a:spcPct val="110000"/>
              </a:lnSpc>
            </a:pPr>
            <a:r>
              <a:rPr lang="en-US" sz="1800" b="1" dirty="0">
                <a:solidFill>
                  <a:srgbClr val="1D1D1D"/>
                </a:solidFill>
                <a:latin typeface="Liter" pitchFamily="34" charset="0"/>
                <a:ea typeface="Liter" pitchFamily="34" charset="-122"/>
                <a:cs typeface="Liter" pitchFamily="34" charset="-120"/>
              </a:rPr>
              <a:t>Autres composants</a:t>
            </a:r>
            <a:endParaRPr lang="en-US" sz="1600" dirty="0"/>
          </a:p>
        </p:txBody>
      </p:sp>
      <p:sp>
        <p:nvSpPr>
          <p:cNvPr id="39" name="Shape 37">
            <a:extLst>
              <a:ext uri="{FF2B5EF4-FFF2-40B4-BE49-F238E27FC236}">
                <a16:creationId xmlns:a16="http://schemas.microsoft.com/office/drawing/2014/main" id="{1647E204-DA22-D0CE-3D96-1EC6DC3C7A7E}"/>
              </a:ext>
            </a:extLst>
          </p:cNvPr>
          <p:cNvSpPr/>
          <p:nvPr/>
        </p:nvSpPr>
        <p:spPr>
          <a:xfrm>
            <a:off x="6248400" y="4712732"/>
            <a:ext cx="5562600" cy="7620"/>
          </a:xfrm>
          <a:custGeom>
            <a:avLst/>
            <a:gdLst/>
            <a:ahLst/>
            <a:cxnLst/>
            <a:rect l="l" t="t" r="r" b="b"/>
            <a:pathLst>
              <a:path w="5562600" h="7620">
                <a:moveTo>
                  <a:pt x="0" y="0"/>
                </a:moveTo>
                <a:lnTo>
                  <a:pt x="5562600" y="0"/>
                </a:lnTo>
                <a:lnTo>
                  <a:pt x="5562600" y="7620"/>
                </a:lnTo>
                <a:lnTo>
                  <a:pt x="0" y="7620"/>
                </a:lnTo>
                <a:lnTo>
                  <a:pt x="0" y="0"/>
                </a:lnTo>
                <a:close/>
              </a:path>
            </a:pathLst>
          </a:custGeom>
          <a:solidFill>
            <a:srgbClr val="E5E5E5"/>
          </a:solidFill>
          <a:ln/>
        </p:spPr>
      </p:sp>
      <p:sp>
        <p:nvSpPr>
          <p:cNvPr id="40" name="Text 38">
            <a:extLst>
              <a:ext uri="{FF2B5EF4-FFF2-40B4-BE49-F238E27FC236}">
                <a16:creationId xmlns:a16="http://schemas.microsoft.com/office/drawing/2014/main" id="{DB3698C8-4FA6-EFA4-901F-991EC1F90973}"/>
              </a:ext>
            </a:extLst>
          </p:cNvPr>
          <p:cNvSpPr/>
          <p:nvPr/>
        </p:nvSpPr>
        <p:spPr>
          <a:xfrm>
            <a:off x="6248400" y="4404122"/>
            <a:ext cx="1295400" cy="228600"/>
          </a:xfrm>
          <a:prstGeom prst="rect">
            <a:avLst/>
          </a:prstGeom>
          <a:noFill/>
          <a:ln/>
        </p:spPr>
        <p:txBody>
          <a:bodyPr wrap="square" lIns="0" tIns="0" rIns="0" bIns="0" rtlCol="0" anchor="ctr"/>
          <a:lstStyle/>
          <a:p>
            <a:pPr>
              <a:lnSpc>
                <a:spcPct val="130000"/>
              </a:lnSpc>
            </a:pPr>
            <a:r>
              <a:rPr lang="en-US" sz="1200" dirty="0">
                <a:solidFill>
                  <a:srgbClr val="86868B"/>
                </a:solidFill>
                <a:latin typeface="Liter" pitchFamily="34" charset="0"/>
                <a:ea typeface="Liter" pitchFamily="34" charset="-122"/>
                <a:cs typeface="Liter" pitchFamily="34" charset="-120"/>
              </a:rPr>
              <a:t>Bouton calibration</a:t>
            </a:r>
            <a:endParaRPr lang="en-US" sz="1600" dirty="0"/>
          </a:p>
        </p:txBody>
      </p:sp>
      <p:sp>
        <p:nvSpPr>
          <p:cNvPr id="41" name="Text 39">
            <a:extLst>
              <a:ext uri="{FF2B5EF4-FFF2-40B4-BE49-F238E27FC236}">
                <a16:creationId xmlns:a16="http://schemas.microsoft.com/office/drawing/2014/main" id="{8FDEF0E0-F17F-8D36-C383-DD45F9AD0093}"/>
              </a:ext>
            </a:extLst>
          </p:cNvPr>
          <p:cNvSpPr/>
          <p:nvPr/>
        </p:nvSpPr>
        <p:spPr>
          <a:xfrm>
            <a:off x="9967556" y="4404122"/>
            <a:ext cx="1924050" cy="228600"/>
          </a:xfrm>
          <a:prstGeom prst="rect">
            <a:avLst/>
          </a:prstGeom>
          <a:noFill/>
          <a:ln/>
        </p:spPr>
        <p:txBody>
          <a:bodyPr wrap="square" lIns="0" tIns="0" rIns="0" bIns="0" rtlCol="0" anchor="ctr"/>
          <a:lstStyle/>
          <a:p>
            <a:pPr>
              <a:lnSpc>
                <a:spcPct val="130000"/>
              </a:lnSpc>
            </a:pPr>
            <a:r>
              <a:rPr lang="en-US" sz="1200" dirty="0">
                <a:solidFill>
                  <a:srgbClr val="1D1D1D"/>
                </a:solidFill>
                <a:latin typeface="MiSans" pitchFamily="34" charset="0"/>
                <a:ea typeface="MiSans" pitchFamily="34" charset="-122"/>
                <a:cs typeface="MiSans" pitchFamily="34" charset="-120"/>
              </a:rPr>
              <a:t>GPIO 25 (INPUT_PULLUP)</a:t>
            </a:r>
            <a:endParaRPr lang="en-US" sz="1600" dirty="0"/>
          </a:p>
        </p:txBody>
      </p:sp>
      <p:sp>
        <p:nvSpPr>
          <p:cNvPr id="42" name="Shape 40">
            <a:extLst>
              <a:ext uri="{FF2B5EF4-FFF2-40B4-BE49-F238E27FC236}">
                <a16:creationId xmlns:a16="http://schemas.microsoft.com/office/drawing/2014/main" id="{F4037B82-5941-A77F-650D-BC56BD1F3DE1}"/>
              </a:ext>
            </a:extLst>
          </p:cNvPr>
          <p:cNvSpPr/>
          <p:nvPr/>
        </p:nvSpPr>
        <p:spPr>
          <a:xfrm>
            <a:off x="6248400" y="5177555"/>
            <a:ext cx="5562600" cy="7620"/>
          </a:xfrm>
          <a:custGeom>
            <a:avLst/>
            <a:gdLst/>
            <a:ahLst/>
            <a:cxnLst/>
            <a:rect l="l" t="t" r="r" b="b"/>
            <a:pathLst>
              <a:path w="5562600" h="7620">
                <a:moveTo>
                  <a:pt x="0" y="0"/>
                </a:moveTo>
                <a:lnTo>
                  <a:pt x="5562600" y="0"/>
                </a:lnTo>
                <a:lnTo>
                  <a:pt x="5562600" y="7620"/>
                </a:lnTo>
                <a:lnTo>
                  <a:pt x="0" y="7620"/>
                </a:lnTo>
                <a:lnTo>
                  <a:pt x="0" y="0"/>
                </a:lnTo>
                <a:close/>
              </a:path>
            </a:pathLst>
          </a:custGeom>
          <a:solidFill>
            <a:srgbClr val="E5E5E5"/>
          </a:solidFill>
          <a:ln/>
        </p:spPr>
      </p:sp>
      <p:sp>
        <p:nvSpPr>
          <p:cNvPr id="43" name="Text 41">
            <a:extLst>
              <a:ext uri="{FF2B5EF4-FFF2-40B4-BE49-F238E27FC236}">
                <a16:creationId xmlns:a16="http://schemas.microsoft.com/office/drawing/2014/main" id="{0EE399F9-3EB8-08E1-53D8-279D7EE59657}"/>
              </a:ext>
            </a:extLst>
          </p:cNvPr>
          <p:cNvSpPr/>
          <p:nvPr/>
        </p:nvSpPr>
        <p:spPr>
          <a:xfrm>
            <a:off x="6248400" y="4868945"/>
            <a:ext cx="1019175" cy="228600"/>
          </a:xfrm>
          <a:prstGeom prst="rect">
            <a:avLst/>
          </a:prstGeom>
          <a:noFill/>
          <a:ln/>
        </p:spPr>
        <p:txBody>
          <a:bodyPr wrap="square" lIns="0" tIns="0" rIns="0" bIns="0" rtlCol="0" anchor="ctr"/>
          <a:lstStyle/>
          <a:p>
            <a:pPr>
              <a:lnSpc>
                <a:spcPct val="130000"/>
              </a:lnSpc>
            </a:pPr>
            <a:r>
              <a:rPr lang="en-US" sz="1200" dirty="0">
                <a:solidFill>
                  <a:srgbClr val="86868B"/>
                </a:solidFill>
                <a:latin typeface="Liter" pitchFamily="34" charset="0"/>
                <a:ea typeface="Liter" pitchFamily="34" charset="-122"/>
                <a:cs typeface="Liter" pitchFamily="34" charset="-120"/>
              </a:rPr>
              <a:t>Buzzer alarme</a:t>
            </a:r>
            <a:endParaRPr lang="en-US" sz="1600" dirty="0"/>
          </a:p>
        </p:txBody>
      </p:sp>
      <p:sp>
        <p:nvSpPr>
          <p:cNvPr id="44" name="Text 42">
            <a:extLst>
              <a:ext uri="{FF2B5EF4-FFF2-40B4-BE49-F238E27FC236}">
                <a16:creationId xmlns:a16="http://schemas.microsoft.com/office/drawing/2014/main" id="{7887EAC6-C84F-F8CA-BEDE-FC0019A5B021}"/>
              </a:ext>
            </a:extLst>
          </p:cNvPr>
          <p:cNvSpPr/>
          <p:nvPr/>
        </p:nvSpPr>
        <p:spPr>
          <a:xfrm>
            <a:off x="11224379" y="4868945"/>
            <a:ext cx="666750" cy="228600"/>
          </a:xfrm>
          <a:prstGeom prst="rect">
            <a:avLst/>
          </a:prstGeom>
          <a:noFill/>
          <a:ln/>
        </p:spPr>
        <p:txBody>
          <a:bodyPr wrap="square" lIns="0" tIns="0" rIns="0" bIns="0" rtlCol="0" anchor="ctr"/>
          <a:lstStyle/>
          <a:p>
            <a:pPr>
              <a:lnSpc>
                <a:spcPct val="130000"/>
              </a:lnSpc>
            </a:pPr>
            <a:r>
              <a:rPr lang="en-US" sz="1200" dirty="0">
                <a:solidFill>
                  <a:srgbClr val="1D1D1D"/>
                </a:solidFill>
                <a:latin typeface="MiSans" pitchFamily="34" charset="0"/>
                <a:ea typeface="MiSans" pitchFamily="34" charset="-122"/>
                <a:cs typeface="MiSans" pitchFamily="34" charset="-120"/>
              </a:rPr>
              <a:t>GPIO 19</a:t>
            </a:r>
            <a:endParaRPr lang="en-US" sz="1600" dirty="0"/>
          </a:p>
        </p:txBody>
      </p:sp>
      <p:sp>
        <p:nvSpPr>
          <p:cNvPr id="45" name="Text 43">
            <a:extLst>
              <a:ext uri="{FF2B5EF4-FFF2-40B4-BE49-F238E27FC236}">
                <a16:creationId xmlns:a16="http://schemas.microsoft.com/office/drawing/2014/main" id="{25F60FEF-BC53-7305-7F68-E2DB26CD9E82}"/>
              </a:ext>
            </a:extLst>
          </p:cNvPr>
          <p:cNvSpPr/>
          <p:nvPr/>
        </p:nvSpPr>
        <p:spPr>
          <a:xfrm>
            <a:off x="6248400" y="5333763"/>
            <a:ext cx="1304925" cy="228600"/>
          </a:xfrm>
          <a:prstGeom prst="rect">
            <a:avLst/>
          </a:prstGeom>
          <a:noFill/>
          <a:ln/>
        </p:spPr>
        <p:txBody>
          <a:bodyPr wrap="square" lIns="0" tIns="0" rIns="0" bIns="0" rtlCol="0" anchor="ctr"/>
          <a:lstStyle/>
          <a:p>
            <a:pPr>
              <a:lnSpc>
                <a:spcPct val="130000"/>
              </a:lnSpc>
            </a:pPr>
            <a:r>
              <a:rPr lang="en-US" sz="1200" dirty="0">
                <a:solidFill>
                  <a:srgbClr val="86868B"/>
                </a:solidFill>
                <a:latin typeface="Liter" pitchFamily="34" charset="0"/>
                <a:ea typeface="Liter" pitchFamily="34" charset="-122"/>
                <a:cs typeface="Liter" pitchFamily="34" charset="-120"/>
              </a:rPr>
              <a:t>Total GPIO utilisés</a:t>
            </a:r>
            <a:endParaRPr lang="en-US" sz="1600" dirty="0"/>
          </a:p>
        </p:txBody>
      </p:sp>
      <p:sp>
        <p:nvSpPr>
          <p:cNvPr id="46" name="Text 44">
            <a:extLst>
              <a:ext uri="{FF2B5EF4-FFF2-40B4-BE49-F238E27FC236}">
                <a16:creationId xmlns:a16="http://schemas.microsoft.com/office/drawing/2014/main" id="{89345032-3399-5C09-7E24-9B2569423876}"/>
              </a:ext>
            </a:extLst>
          </p:cNvPr>
          <p:cNvSpPr/>
          <p:nvPr/>
        </p:nvSpPr>
        <p:spPr>
          <a:xfrm>
            <a:off x="11343561" y="5333763"/>
            <a:ext cx="542925" cy="228600"/>
          </a:xfrm>
          <a:prstGeom prst="rect">
            <a:avLst/>
          </a:prstGeom>
          <a:noFill/>
          <a:ln/>
        </p:spPr>
        <p:txBody>
          <a:bodyPr wrap="square" lIns="0" tIns="0" rIns="0" bIns="0" rtlCol="0" anchor="ctr"/>
          <a:lstStyle/>
          <a:p>
            <a:pPr>
              <a:lnSpc>
                <a:spcPct val="130000"/>
              </a:lnSpc>
            </a:pPr>
            <a:r>
              <a:rPr lang="en-US" sz="1200" b="1" dirty="0">
                <a:solidFill>
                  <a:srgbClr val="0071E3"/>
                </a:solidFill>
                <a:latin typeface="Liter" pitchFamily="34" charset="0"/>
                <a:ea typeface="Liter" pitchFamily="34" charset="-122"/>
                <a:cs typeface="Liter" pitchFamily="34" charset="-120"/>
              </a:rPr>
              <a:t>18 pins</a:t>
            </a:r>
            <a:endParaRPr lang="en-US" sz="1600" dirty="0"/>
          </a:p>
        </p:txBody>
      </p:sp>
      <p:sp>
        <p:nvSpPr>
          <p:cNvPr id="47" name="Shape 45">
            <a:extLst>
              <a:ext uri="{FF2B5EF4-FFF2-40B4-BE49-F238E27FC236}">
                <a16:creationId xmlns:a16="http://schemas.microsoft.com/office/drawing/2014/main" id="{526DCA81-D96A-1020-C0B0-FCAC62D4B386}"/>
              </a:ext>
            </a:extLst>
          </p:cNvPr>
          <p:cNvSpPr/>
          <p:nvPr/>
        </p:nvSpPr>
        <p:spPr>
          <a:xfrm>
            <a:off x="381000" y="5943600"/>
            <a:ext cx="11430000" cy="533400"/>
          </a:xfrm>
          <a:custGeom>
            <a:avLst/>
            <a:gdLst/>
            <a:ahLst/>
            <a:cxnLst/>
            <a:rect l="l" t="t" r="r" b="b"/>
            <a:pathLst>
              <a:path w="11430000" h="533400">
                <a:moveTo>
                  <a:pt x="114302" y="0"/>
                </a:moveTo>
                <a:lnTo>
                  <a:pt x="11315698" y="0"/>
                </a:lnTo>
                <a:cubicBezTo>
                  <a:pt x="11378783" y="0"/>
                  <a:pt x="11430000" y="51217"/>
                  <a:pt x="11430000" y="114302"/>
                </a:cubicBezTo>
                <a:lnTo>
                  <a:pt x="11430000" y="419098"/>
                </a:lnTo>
                <a:cubicBezTo>
                  <a:pt x="11430000" y="482183"/>
                  <a:pt x="11378783" y="533400"/>
                  <a:pt x="11315698" y="533400"/>
                </a:cubicBezTo>
                <a:lnTo>
                  <a:pt x="114302" y="533400"/>
                </a:lnTo>
                <a:cubicBezTo>
                  <a:pt x="51217" y="533400"/>
                  <a:pt x="0" y="482183"/>
                  <a:pt x="0" y="419098"/>
                </a:cubicBezTo>
                <a:lnTo>
                  <a:pt x="0" y="114302"/>
                </a:lnTo>
                <a:cubicBezTo>
                  <a:pt x="0" y="51217"/>
                  <a:pt x="51217" y="0"/>
                  <a:pt x="114302" y="0"/>
                </a:cubicBezTo>
                <a:close/>
              </a:path>
            </a:pathLst>
          </a:custGeom>
          <a:solidFill>
            <a:srgbClr val="F5F5F7"/>
          </a:solidFill>
          <a:ln/>
        </p:spPr>
      </p:sp>
      <p:sp>
        <p:nvSpPr>
          <p:cNvPr id="48" name="Shape 46">
            <a:extLst>
              <a:ext uri="{FF2B5EF4-FFF2-40B4-BE49-F238E27FC236}">
                <a16:creationId xmlns:a16="http://schemas.microsoft.com/office/drawing/2014/main" id="{E4D4C5F2-AC4C-A310-724C-C1B8C2B44DD0}"/>
              </a:ext>
            </a:extLst>
          </p:cNvPr>
          <p:cNvSpPr/>
          <p:nvPr/>
        </p:nvSpPr>
        <p:spPr>
          <a:xfrm>
            <a:off x="552450" y="6126482"/>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66675" y="47625"/>
                </a:moveTo>
                <a:cubicBezTo>
                  <a:pt x="66675" y="42368"/>
                  <a:pt x="70943" y="38100"/>
                  <a:pt x="76200" y="38100"/>
                </a:cubicBezTo>
                <a:cubicBezTo>
                  <a:pt x="81457" y="38100"/>
                  <a:pt x="85725" y="42368"/>
                  <a:pt x="85725" y="47625"/>
                </a:cubicBezTo>
                <a:cubicBezTo>
                  <a:pt x="85725" y="52882"/>
                  <a:pt x="81457" y="57150"/>
                  <a:pt x="76200" y="57150"/>
                </a:cubicBezTo>
                <a:cubicBezTo>
                  <a:pt x="70943" y="57150"/>
                  <a:pt x="66675" y="52882"/>
                  <a:pt x="66675" y="47625"/>
                </a:cubicBezTo>
                <a:close/>
                <a:moveTo>
                  <a:pt x="64294" y="66675"/>
                </a:moveTo>
                <a:lnTo>
                  <a:pt x="78581" y="66675"/>
                </a:lnTo>
                <a:cubicBezTo>
                  <a:pt x="82540" y="66675"/>
                  <a:pt x="85725" y="69860"/>
                  <a:pt x="85725" y="73819"/>
                </a:cubicBezTo>
                <a:lnTo>
                  <a:pt x="85725" y="100013"/>
                </a:lnTo>
                <a:lnTo>
                  <a:pt x="88106" y="100013"/>
                </a:lnTo>
                <a:cubicBezTo>
                  <a:pt x="92065" y="100013"/>
                  <a:pt x="95250" y="103197"/>
                  <a:pt x="95250" y="107156"/>
                </a:cubicBezTo>
                <a:cubicBezTo>
                  <a:pt x="95250" y="111115"/>
                  <a:pt x="92065" y="114300"/>
                  <a:pt x="88106" y="114300"/>
                </a:cubicBezTo>
                <a:lnTo>
                  <a:pt x="64294" y="114300"/>
                </a:lnTo>
                <a:cubicBezTo>
                  <a:pt x="60335" y="114300"/>
                  <a:pt x="57150" y="111115"/>
                  <a:pt x="57150" y="107156"/>
                </a:cubicBezTo>
                <a:cubicBezTo>
                  <a:pt x="57150" y="103197"/>
                  <a:pt x="60335" y="100013"/>
                  <a:pt x="64294" y="100013"/>
                </a:cubicBezTo>
                <a:lnTo>
                  <a:pt x="71438" y="100013"/>
                </a:lnTo>
                <a:lnTo>
                  <a:pt x="71438" y="80962"/>
                </a:lnTo>
                <a:lnTo>
                  <a:pt x="64294" y="80962"/>
                </a:lnTo>
                <a:cubicBezTo>
                  <a:pt x="60335" y="80962"/>
                  <a:pt x="57150" y="77778"/>
                  <a:pt x="57150" y="73819"/>
                </a:cubicBezTo>
                <a:cubicBezTo>
                  <a:pt x="57150" y="69860"/>
                  <a:pt x="60335" y="66675"/>
                  <a:pt x="64294" y="66675"/>
                </a:cubicBezTo>
                <a:close/>
              </a:path>
            </a:pathLst>
          </a:custGeom>
          <a:solidFill>
            <a:srgbClr val="0071E3"/>
          </a:solidFill>
          <a:ln/>
        </p:spPr>
      </p:sp>
      <p:sp>
        <p:nvSpPr>
          <p:cNvPr id="49" name="Text 47">
            <a:extLst>
              <a:ext uri="{FF2B5EF4-FFF2-40B4-BE49-F238E27FC236}">
                <a16:creationId xmlns:a16="http://schemas.microsoft.com/office/drawing/2014/main" id="{6ED66638-A243-8BE0-95D3-3D522710B149}"/>
              </a:ext>
            </a:extLst>
          </p:cNvPr>
          <p:cNvSpPr/>
          <p:nvPr/>
        </p:nvSpPr>
        <p:spPr>
          <a:xfrm>
            <a:off x="781050" y="6096000"/>
            <a:ext cx="10953750" cy="228600"/>
          </a:xfrm>
          <a:prstGeom prst="rect">
            <a:avLst/>
          </a:prstGeom>
          <a:noFill/>
          <a:ln/>
        </p:spPr>
        <p:txBody>
          <a:bodyPr wrap="square" lIns="0" tIns="0" rIns="0" bIns="0" rtlCol="0" anchor="ctr"/>
          <a:lstStyle/>
          <a:p>
            <a:pPr>
              <a:lnSpc>
                <a:spcPct val="130000"/>
              </a:lnSpc>
            </a:pPr>
            <a:r>
              <a:rPr lang="en-US" sz="1200" b="1" dirty="0">
                <a:solidFill>
                  <a:srgbClr val="1D1D1D"/>
                </a:solidFill>
                <a:latin typeface="Liter" pitchFamily="34" charset="0"/>
                <a:ea typeface="Liter" pitchFamily="34" charset="-122"/>
                <a:cs typeface="Liter" pitchFamily="34" charset="-120"/>
              </a:rPr>
              <a:t>Configuration:</a:t>
            </a:r>
            <a:r>
              <a:rPr lang="en-US" sz="1200" dirty="0">
                <a:solidFill>
                  <a:srgbClr val="86868B"/>
                </a:solidFill>
                <a:latin typeface="Liter" pitchFamily="34" charset="0"/>
                <a:ea typeface="Liter" pitchFamily="34" charset="-122"/>
                <a:cs typeface="Liter" pitchFamily="34" charset="-120"/>
              </a:rPr>
              <a:t> Toutes les broches configurées en mode OUTPUT sauf ECHO (INPUT) et BUTTON (INPUT_PULLUP)</a:t>
            </a:r>
            <a:endParaRPr lang="en-US" sz="1600" dirty="0"/>
          </a:p>
        </p:txBody>
      </p:sp>
    </p:spTree>
    <p:extLst>
      <p:ext uri="{BB962C8B-B14F-4D97-AF65-F5344CB8AC3E}">
        <p14:creationId xmlns:p14="http://schemas.microsoft.com/office/powerpoint/2010/main" val="656946411"/>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381000" y="1079185"/>
            <a:ext cx="2105620" cy="1737360"/>
          </a:xfrm>
          <a:prstGeom prst="rect">
            <a:avLst/>
          </a:prstGeom>
          <a:noFill/>
          <a:ln/>
        </p:spPr>
        <p:txBody>
          <a:bodyPr wrap="square" lIns="0" tIns="0" rIns="0" bIns="0" rtlCol="0" anchor="ctr"/>
          <a:lstStyle/>
          <a:p>
            <a:pPr>
              <a:lnSpc>
                <a:spcPct val="80000"/>
              </a:lnSpc>
            </a:pPr>
            <a:r>
              <a:rPr lang="en-US" sz="9600" b="1" dirty="0">
                <a:solidFill>
                  <a:srgbClr val="0071E3"/>
                </a:solidFill>
                <a:latin typeface="Liter" pitchFamily="34" charset="0"/>
                <a:ea typeface="Liter" pitchFamily="34" charset="-122"/>
                <a:cs typeface="Liter" pitchFamily="34" charset="-120"/>
              </a:rPr>
              <a:t>04</a:t>
            </a:r>
            <a:endParaRPr lang="en-US" sz="1600" dirty="0"/>
          </a:p>
        </p:txBody>
      </p:sp>
      <p:sp>
        <p:nvSpPr>
          <p:cNvPr id="3" name="Text 1"/>
          <p:cNvSpPr/>
          <p:nvPr/>
        </p:nvSpPr>
        <p:spPr>
          <a:xfrm>
            <a:off x="381000" y="2862263"/>
            <a:ext cx="11772900" cy="1714500"/>
          </a:xfrm>
          <a:prstGeom prst="rect">
            <a:avLst/>
          </a:prstGeom>
          <a:noFill/>
          <a:ln/>
        </p:spPr>
        <p:txBody>
          <a:bodyPr wrap="square" lIns="0" tIns="0" rIns="0" bIns="0" rtlCol="0" anchor="ctr"/>
          <a:lstStyle/>
          <a:p>
            <a:pPr>
              <a:lnSpc>
                <a:spcPct val="100000"/>
              </a:lnSpc>
            </a:pPr>
            <a:r>
              <a:rPr lang="en-US" sz="5400" b="1" dirty="0">
                <a:solidFill>
                  <a:srgbClr val="1D1D1D"/>
                </a:solidFill>
                <a:latin typeface="Liter" pitchFamily="34" charset="0"/>
                <a:ea typeface="Liter" pitchFamily="34" charset="-122"/>
                <a:cs typeface="Liter" pitchFamily="34" charset="-120"/>
              </a:rPr>
              <a:t>Méthodologie de</a:t>
            </a:r>
            <a:endParaRPr lang="en-US" sz="1600" dirty="0"/>
          </a:p>
          <a:p>
            <a:pPr>
              <a:lnSpc>
                <a:spcPct val="100000"/>
              </a:lnSpc>
            </a:pPr>
            <a:r>
              <a:rPr lang="en-US" sz="5400" b="1" dirty="0">
                <a:solidFill>
                  <a:srgbClr val="1D1D1D"/>
                </a:solidFill>
                <a:latin typeface="Liter" pitchFamily="34" charset="0"/>
                <a:ea typeface="Liter" pitchFamily="34" charset="-122"/>
                <a:cs typeface="Liter" pitchFamily="34" charset="-120"/>
              </a:rPr>
              <a:t>calibration</a:t>
            </a:r>
            <a:endParaRPr lang="en-US" sz="1600" dirty="0"/>
          </a:p>
        </p:txBody>
      </p:sp>
      <p:sp>
        <p:nvSpPr>
          <p:cNvPr id="4" name="Shape 2"/>
          <p:cNvSpPr/>
          <p:nvPr/>
        </p:nvSpPr>
        <p:spPr>
          <a:xfrm>
            <a:off x="381000" y="4805363"/>
            <a:ext cx="1219200" cy="38100"/>
          </a:xfrm>
          <a:custGeom>
            <a:avLst/>
            <a:gdLst/>
            <a:ahLst/>
            <a:cxnLst/>
            <a:rect l="l" t="t" r="r" b="b"/>
            <a:pathLst>
              <a:path w="1219200" h="38100">
                <a:moveTo>
                  <a:pt x="0" y="0"/>
                </a:moveTo>
                <a:lnTo>
                  <a:pt x="1219200" y="0"/>
                </a:lnTo>
                <a:lnTo>
                  <a:pt x="1219200" y="38100"/>
                </a:lnTo>
                <a:lnTo>
                  <a:pt x="0" y="38100"/>
                </a:lnTo>
                <a:lnTo>
                  <a:pt x="0" y="0"/>
                </a:lnTo>
                <a:close/>
              </a:path>
            </a:pathLst>
          </a:custGeom>
          <a:solidFill>
            <a:srgbClr val="0071E3"/>
          </a:solidFill>
          <a:ln/>
        </p:spPr>
      </p:sp>
      <p:sp>
        <p:nvSpPr>
          <p:cNvPr id="5" name="Text 3"/>
          <p:cNvSpPr/>
          <p:nvPr/>
        </p:nvSpPr>
        <p:spPr>
          <a:xfrm>
            <a:off x="381000" y="5148263"/>
            <a:ext cx="7429500" cy="371475"/>
          </a:xfrm>
          <a:prstGeom prst="rect">
            <a:avLst/>
          </a:prstGeom>
          <a:noFill/>
          <a:ln/>
        </p:spPr>
        <p:txBody>
          <a:bodyPr wrap="square" lIns="0" tIns="0" rIns="0" bIns="0" rtlCol="0" anchor="ctr"/>
          <a:lstStyle/>
          <a:p>
            <a:pPr>
              <a:lnSpc>
                <a:spcPct val="140000"/>
              </a:lnSpc>
            </a:pPr>
            <a:r>
              <a:rPr lang="en-US" sz="1800" dirty="0">
                <a:solidFill>
                  <a:srgbClr val="86868B"/>
                </a:solidFill>
                <a:latin typeface="Liter" pitchFamily="34" charset="0"/>
                <a:ea typeface="Liter" pitchFamily="34" charset="-122"/>
                <a:cs typeface="Liter" pitchFamily="34" charset="-120"/>
              </a:rPr>
              <a:t>Processus de calibration et calcul des seuils</a:t>
            </a:r>
            <a:endParaRPr lang="en-US" sz="1600" dirty="0"/>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kern="0" spc="105" dirty="0">
                <a:solidFill>
                  <a:srgbClr val="86868B"/>
                </a:solidFill>
                <a:latin typeface="Liter" pitchFamily="34" charset="0"/>
                <a:ea typeface="Liter" pitchFamily="34" charset="-122"/>
                <a:cs typeface="Liter" pitchFamily="34" charset="-120"/>
              </a:rPr>
              <a:t>04 / CALIBRATION</a:t>
            </a:r>
            <a:endParaRPr lang="en-US" sz="1600" dirty="0"/>
          </a:p>
        </p:txBody>
      </p:sp>
      <p:sp>
        <p:nvSpPr>
          <p:cNvPr id="3" name="Text 1"/>
          <p:cNvSpPr/>
          <p:nvPr/>
        </p:nvSpPr>
        <p:spPr>
          <a:xfrm>
            <a:off x="381000" y="685800"/>
            <a:ext cx="11658600" cy="457200"/>
          </a:xfrm>
          <a:prstGeom prst="rect">
            <a:avLst/>
          </a:prstGeom>
          <a:noFill/>
          <a:ln/>
        </p:spPr>
        <p:txBody>
          <a:bodyPr wrap="square" lIns="0" tIns="0" rIns="0" bIns="0" rtlCol="0" anchor="ctr"/>
          <a:lstStyle/>
          <a:p>
            <a:pPr>
              <a:lnSpc>
                <a:spcPct val="80000"/>
              </a:lnSpc>
            </a:pPr>
            <a:r>
              <a:rPr lang="en-US" sz="3600" b="1" dirty="0">
                <a:solidFill>
                  <a:srgbClr val="1D1D1D"/>
                </a:solidFill>
                <a:latin typeface="Liter" pitchFamily="34" charset="0"/>
                <a:ea typeface="Liter" pitchFamily="34" charset="-122"/>
                <a:cs typeface="Liter" pitchFamily="34" charset="-120"/>
              </a:rPr>
              <a:t>Système de calibration automatique</a:t>
            </a:r>
            <a:endParaRPr lang="en-US" sz="1600" dirty="0"/>
          </a:p>
        </p:txBody>
      </p:sp>
      <p:sp>
        <p:nvSpPr>
          <p:cNvPr id="4" name="Text 2"/>
          <p:cNvSpPr/>
          <p:nvPr/>
        </p:nvSpPr>
        <p:spPr>
          <a:xfrm>
            <a:off x="381000" y="2476500"/>
            <a:ext cx="5676900" cy="304800"/>
          </a:xfrm>
          <a:prstGeom prst="rect">
            <a:avLst/>
          </a:prstGeom>
          <a:noFill/>
          <a:ln/>
        </p:spPr>
        <p:txBody>
          <a:bodyPr wrap="square" lIns="0" tIns="0" rIns="0" bIns="0" rtlCol="0" anchor="ctr"/>
          <a:lstStyle/>
          <a:p>
            <a:pPr>
              <a:lnSpc>
                <a:spcPct val="110000"/>
              </a:lnSpc>
            </a:pPr>
            <a:r>
              <a:rPr lang="en-US" sz="1800" b="1" dirty="0">
                <a:solidFill>
                  <a:srgbClr val="1D1D1D"/>
                </a:solidFill>
                <a:latin typeface="Liter" pitchFamily="34" charset="0"/>
                <a:ea typeface="Liter" pitchFamily="34" charset="-122"/>
                <a:cs typeface="Liter" pitchFamily="34" charset="-120"/>
              </a:rPr>
              <a:t>Processus de calibration</a:t>
            </a:r>
            <a:endParaRPr lang="en-US" sz="1600" dirty="0"/>
          </a:p>
        </p:txBody>
      </p:sp>
      <p:sp>
        <p:nvSpPr>
          <p:cNvPr id="5" name="Shape 3"/>
          <p:cNvSpPr/>
          <p:nvPr/>
        </p:nvSpPr>
        <p:spPr>
          <a:xfrm>
            <a:off x="381000" y="2933579"/>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0071E3"/>
          </a:solidFill>
          <a:ln/>
        </p:spPr>
      </p:sp>
      <p:sp>
        <p:nvSpPr>
          <p:cNvPr id="6" name="Text 4"/>
          <p:cNvSpPr/>
          <p:nvPr/>
        </p:nvSpPr>
        <p:spPr>
          <a:xfrm>
            <a:off x="342900" y="2933579"/>
            <a:ext cx="457200" cy="381000"/>
          </a:xfrm>
          <a:prstGeom prst="rect">
            <a:avLst/>
          </a:prstGeom>
          <a:noFill/>
          <a:ln/>
        </p:spPr>
        <p:txBody>
          <a:bodyPr wrap="square" lIns="0" tIns="0" rIns="0" bIns="0" rtlCol="0" anchor="ctr"/>
          <a:lstStyle/>
          <a:p>
            <a:pPr algn="ctr">
              <a:lnSpc>
                <a:spcPct val="130000"/>
              </a:lnSpc>
            </a:pPr>
            <a:r>
              <a:rPr lang="en-US" sz="1200" b="1" dirty="0">
                <a:solidFill>
                  <a:srgbClr val="FFFFFF"/>
                </a:solidFill>
                <a:latin typeface="Liter" pitchFamily="34" charset="0"/>
                <a:ea typeface="Liter" pitchFamily="34" charset="-122"/>
                <a:cs typeface="Liter" pitchFamily="34" charset="-120"/>
              </a:rPr>
              <a:t>1</a:t>
            </a:r>
            <a:endParaRPr lang="en-US" sz="1600" dirty="0"/>
          </a:p>
        </p:txBody>
      </p:sp>
      <p:sp>
        <p:nvSpPr>
          <p:cNvPr id="7" name="Text 5"/>
          <p:cNvSpPr/>
          <p:nvPr/>
        </p:nvSpPr>
        <p:spPr>
          <a:xfrm>
            <a:off x="914400" y="2933579"/>
            <a:ext cx="4514850" cy="266700"/>
          </a:xfrm>
          <a:prstGeom prst="rect">
            <a:avLst/>
          </a:prstGeom>
          <a:noFill/>
          <a:ln/>
        </p:spPr>
        <p:txBody>
          <a:bodyPr wrap="square" lIns="0" tIns="0" rIns="0" bIns="0" rtlCol="0" anchor="ctr"/>
          <a:lstStyle/>
          <a:p>
            <a:pPr>
              <a:lnSpc>
                <a:spcPct val="130000"/>
              </a:lnSpc>
            </a:pPr>
            <a:r>
              <a:rPr lang="en-US" sz="1350" b="1" dirty="0">
                <a:solidFill>
                  <a:srgbClr val="1D1D1D"/>
                </a:solidFill>
                <a:latin typeface="Liter" pitchFamily="34" charset="0"/>
                <a:ea typeface="Liter" pitchFamily="34" charset="-122"/>
                <a:cs typeface="Liter" pitchFamily="34" charset="-120"/>
              </a:rPr>
              <a:t>Appui sur bouton</a:t>
            </a:r>
            <a:endParaRPr lang="en-US" sz="1600" dirty="0"/>
          </a:p>
        </p:txBody>
      </p:sp>
      <p:sp>
        <p:nvSpPr>
          <p:cNvPr id="8" name="Text 6"/>
          <p:cNvSpPr/>
          <p:nvPr/>
        </p:nvSpPr>
        <p:spPr>
          <a:xfrm>
            <a:off x="914400" y="3200279"/>
            <a:ext cx="4505325" cy="228600"/>
          </a:xfrm>
          <a:prstGeom prst="rect">
            <a:avLst/>
          </a:prstGeom>
          <a:noFill/>
          <a:ln/>
        </p:spPr>
        <p:txBody>
          <a:bodyPr wrap="square" lIns="0" tIns="0" rIns="0" bIns="0" rtlCol="0" anchor="ctr"/>
          <a:lstStyle/>
          <a:p>
            <a:pPr>
              <a:lnSpc>
                <a:spcPct val="130000"/>
              </a:lnSpc>
            </a:pPr>
            <a:r>
              <a:rPr lang="en-US" sz="1200" dirty="0">
                <a:solidFill>
                  <a:srgbClr val="86868B"/>
                </a:solidFill>
                <a:latin typeface="Liter" pitchFamily="34" charset="0"/>
                <a:ea typeface="Liter" pitchFamily="34" charset="-122"/>
                <a:cs typeface="Liter" pitchFamily="34" charset="-120"/>
              </a:rPr>
              <a:t>L'utilisateur appuie sur le bouton poussoir pour lancer la calibration</a:t>
            </a:r>
            <a:endParaRPr lang="en-US" sz="1600" dirty="0"/>
          </a:p>
        </p:txBody>
      </p:sp>
      <p:sp>
        <p:nvSpPr>
          <p:cNvPr id="9" name="Shape 7"/>
          <p:cNvSpPr/>
          <p:nvPr/>
        </p:nvSpPr>
        <p:spPr>
          <a:xfrm>
            <a:off x="381000" y="3581279"/>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0071E3"/>
          </a:solidFill>
          <a:ln/>
        </p:spPr>
      </p:sp>
      <p:sp>
        <p:nvSpPr>
          <p:cNvPr id="10" name="Text 8"/>
          <p:cNvSpPr/>
          <p:nvPr/>
        </p:nvSpPr>
        <p:spPr>
          <a:xfrm>
            <a:off x="342900" y="3581279"/>
            <a:ext cx="457200" cy="381000"/>
          </a:xfrm>
          <a:prstGeom prst="rect">
            <a:avLst/>
          </a:prstGeom>
          <a:noFill/>
          <a:ln/>
        </p:spPr>
        <p:txBody>
          <a:bodyPr wrap="square" lIns="0" tIns="0" rIns="0" bIns="0" rtlCol="0" anchor="ctr"/>
          <a:lstStyle/>
          <a:p>
            <a:pPr algn="ctr">
              <a:lnSpc>
                <a:spcPct val="130000"/>
              </a:lnSpc>
            </a:pPr>
            <a:r>
              <a:rPr lang="en-US" sz="1200" b="1" dirty="0">
                <a:solidFill>
                  <a:srgbClr val="FFFFFF"/>
                </a:solidFill>
                <a:latin typeface="Liter" pitchFamily="34" charset="0"/>
                <a:ea typeface="Liter" pitchFamily="34" charset="-122"/>
                <a:cs typeface="Liter" pitchFamily="34" charset="-120"/>
              </a:rPr>
              <a:t>2</a:t>
            </a:r>
            <a:endParaRPr lang="en-US" sz="1600" dirty="0"/>
          </a:p>
        </p:txBody>
      </p:sp>
      <p:sp>
        <p:nvSpPr>
          <p:cNvPr id="11" name="Text 9"/>
          <p:cNvSpPr/>
          <p:nvPr/>
        </p:nvSpPr>
        <p:spPr>
          <a:xfrm>
            <a:off x="914400" y="3581279"/>
            <a:ext cx="4953000" cy="266700"/>
          </a:xfrm>
          <a:prstGeom prst="rect">
            <a:avLst/>
          </a:prstGeom>
          <a:noFill/>
          <a:ln/>
        </p:spPr>
        <p:txBody>
          <a:bodyPr wrap="square" lIns="0" tIns="0" rIns="0" bIns="0" rtlCol="0" anchor="ctr"/>
          <a:lstStyle/>
          <a:p>
            <a:pPr>
              <a:lnSpc>
                <a:spcPct val="130000"/>
              </a:lnSpc>
            </a:pPr>
            <a:r>
              <a:rPr lang="en-US" sz="1350" b="1" dirty="0">
                <a:solidFill>
                  <a:srgbClr val="1D1D1D"/>
                </a:solidFill>
                <a:latin typeface="Liter" pitchFamily="34" charset="0"/>
                <a:ea typeface="Liter" pitchFamily="34" charset="-122"/>
                <a:cs typeface="Liter" pitchFamily="34" charset="-120"/>
              </a:rPr>
              <a:t>Mesure de référence</a:t>
            </a:r>
            <a:endParaRPr lang="en-US" sz="1600" dirty="0"/>
          </a:p>
        </p:txBody>
      </p:sp>
      <p:sp>
        <p:nvSpPr>
          <p:cNvPr id="12" name="Text 10"/>
          <p:cNvSpPr/>
          <p:nvPr/>
        </p:nvSpPr>
        <p:spPr>
          <a:xfrm>
            <a:off x="914400" y="3847979"/>
            <a:ext cx="4943475" cy="228600"/>
          </a:xfrm>
          <a:prstGeom prst="rect">
            <a:avLst/>
          </a:prstGeom>
          <a:noFill/>
          <a:ln/>
        </p:spPr>
        <p:txBody>
          <a:bodyPr wrap="square" lIns="0" tIns="0" rIns="0" bIns="0" rtlCol="0" anchor="ctr"/>
          <a:lstStyle/>
          <a:p>
            <a:pPr>
              <a:lnSpc>
                <a:spcPct val="130000"/>
              </a:lnSpc>
            </a:pPr>
            <a:r>
              <a:rPr lang="en-US" sz="1200" dirty="0">
                <a:solidFill>
                  <a:srgbClr val="86868B"/>
                </a:solidFill>
                <a:latin typeface="Liter" pitchFamily="34" charset="0"/>
                <a:ea typeface="Liter" pitchFamily="34" charset="-122"/>
                <a:cs typeface="Liter" pitchFamily="34" charset="-120"/>
              </a:rPr>
              <a:t>Le capteur mesure la distance actuelle (réservoir vide ou niveau maximal)</a:t>
            </a:r>
            <a:endParaRPr lang="en-US" sz="1600" dirty="0"/>
          </a:p>
        </p:txBody>
      </p:sp>
      <p:sp>
        <p:nvSpPr>
          <p:cNvPr id="13" name="Shape 11"/>
          <p:cNvSpPr/>
          <p:nvPr/>
        </p:nvSpPr>
        <p:spPr>
          <a:xfrm>
            <a:off x="381000" y="4228979"/>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0071E3"/>
          </a:solidFill>
          <a:ln/>
        </p:spPr>
      </p:sp>
      <p:sp>
        <p:nvSpPr>
          <p:cNvPr id="14" name="Text 12"/>
          <p:cNvSpPr/>
          <p:nvPr/>
        </p:nvSpPr>
        <p:spPr>
          <a:xfrm>
            <a:off x="342900" y="4228979"/>
            <a:ext cx="457200" cy="381000"/>
          </a:xfrm>
          <a:prstGeom prst="rect">
            <a:avLst/>
          </a:prstGeom>
          <a:noFill/>
          <a:ln/>
        </p:spPr>
        <p:txBody>
          <a:bodyPr wrap="square" lIns="0" tIns="0" rIns="0" bIns="0" rtlCol="0" anchor="ctr"/>
          <a:lstStyle/>
          <a:p>
            <a:pPr algn="ctr">
              <a:lnSpc>
                <a:spcPct val="130000"/>
              </a:lnSpc>
            </a:pPr>
            <a:r>
              <a:rPr lang="en-US" sz="1200" b="1" dirty="0">
                <a:solidFill>
                  <a:srgbClr val="FFFFFF"/>
                </a:solidFill>
                <a:latin typeface="Liter" pitchFamily="34" charset="0"/>
                <a:ea typeface="Liter" pitchFamily="34" charset="-122"/>
                <a:cs typeface="Liter" pitchFamily="34" charset="-120"/>
              </a:rPr>
              <a:t>3</a:t>
            </a:r>
            <a:endParaRPr lang="en-US" sz="1600" dirty="0"/>
          </a:p>
        </p:txBody>
      </p:sp>
      <p:sp>
        <p:nvSpPr>
          <p:cNvPr id="15" name="Text 13"/>
          <p:cNvSpPr/>
          <p:nvPr/>
        </p:nvSpPr>
        <p:spPr>
          <a:xfrm>
            <a:off x="914400" y="4228979"/>
            <a:ext cx="4286250" cy="266700"/>
          </a:xfrm>
          <a:prstGeom prst="rect">
            <a:avLst/>
          </a:prstGeom>
          <a:noFill/>
          <a:ln/>
        </p:spPr>
        <p:txBody>
          <a:bodyPr wrap="square" lIns="0" tIns="0" rIns="0" bIns="0" rtlCol="0" anchor="ctr"/>
          <a:lstStyle/>
          <a:p>
            <a:pPr>
              <a:lnSpc>
                <a:spcPct val="130000"/>
              </a:lnSpc>
            </a:pPr>
            <a:r>
              <a:rPr lang="en-US" sz="1350" b="1" dirty="0">
                <a:solidFill>
                  <a:srgbClr val="1D1D1D"/>
                </a:solidFill>
                <a:latin typeface="Liter" pitchFamily="34" charset="0"/>
                <a:ea typeface="Liter" pitchFamily="34" charset="-122"/>
                <a:cs typeface="Liter" pitchFamily="34" charset="-120"/>
              </a:rPr>
              <a:t>Calcul des seuils</a:t>
            </a:r>
            <a:endParaRPr lang="en-US" sz="1600" dirty="0"/>
          </a:p>
        </p:txBody>
      </p:sp>
      <p:sp>
        <p:nvSpPr>
          <p:cNvPr id="16" name="Text 14"/>
          <p:cNvSpPr/>
          <p:nvPr/>
        </p:nvSpPr>
        <p:spPr>
          <a:xfrm>
            <a:off x="914400" y="4495679"/>
            <a:ext cx="4276725" cy="228600"/>
          </a:xfrm>
          <a:prstGeom prst="rect">
            <a:avLst/>
          </a:prstGeom>
          <a:noFill/>
          <a:ln/>
        </p:spPr>
        <p:txBody>
          <a:bodyPr wrap="square" lIns="0" tIns="0" rIns="0" bIns="0" rtlCol="0" anchor="ctr"/>
          <a:lstStyle/>
          <a:p>
            <a:pPr>
              <a:lnSpc>
                <a:spcPct val="130000"/>
              </a:lnSpc>
            </a:pPr>
            <a:r>
              <a:rPr lang="en-US" sz="1200" dirty="0">
                <a:solidFill>
                  <a:srgbClr val="86868B"/>
                </a:solidFill>
                <a:latin typeface="Liter" pitchFamily="34" charset="0"/>
                <a:ea typeface="Liter" pitchFamily="34" charset="-122"/>
                <a:cs typeface="Liter" pitchFamily="34" charset="-120"/>
              </a:rPr>
              <a:t>Les trois seuils sont calculés automatiquement en pourcentage</a:t>
            </a:r>
            <a:endParaRPr lang="en-US" sz="1600" dirty="0"/>
          </a:p>
        </p:txBody>
      </p:sp>
      <p:sp>
        <p:nvSpPr>
          <p:cNvPr id="17" name="Shape 15"/>
          <p:cNvSpPr/>
          <p:nvPr/>
        </p:nvSpPr>
        <p:spPr>
          <a:xfrm>
            <a:off x="381000" y="4876679"/>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0071E3"/>
          </a:solidFill>
          <a:ln/>
        </p:spPr>
      </p:sp>
      <p:sp>
        <p:nvSpPr>
          <p:cNvPr id="18" name="Text 16"/>
          <p:cNvSpPr/>
          <p:nvPr/>
        </p:nvSpPr>
        <p:spPr>
          <a:xfrm>
            <a:off x="342900" y="4876679"/>
            <a:ext cx="457200" cy="381000"/>
          </a:xfrm>
          <a:prstGeom prst="rect">
            <a:avLst/>
          </a:prstGeom>
          <a:noFill/>
          <a:ln/>
        </p:spPr>
        <p:txBody>
          <a:bodyPr wrap="square" lIns="0" tIns="0" rIns="0" bIns="0" rtlCol="0" anchor="ctr"/>
          <a:lstStyle/>
          <a:p>
            <a:pPr algn="ctr">
              <a:lnSpc>
                <a:spcPct val="130000"/>
              </a:lnSpc>
            </a:pPr>
            <a:r>
              <a:rPr lang="en-US" sz="1200" b="1" dirty="0">
                <a:solidFill>
                  <a:srgbClr val="FFFFFF"/>
                </a:solidFill>
                <a:latin typeface="Liter" pitchFamily="34" charset="0"/>
                <a:ea typeface="Liter" pitchFamily="34" charset="-122"/>
                <a:cs typeface="Liter" pitchFamily="34" charset="-120"/>
              </a:rPr>
              <a:t>4</a:t>
            </a:r>
            <a:endParaRPr lang="en-US" sz="1600" dirty="0"/>
          </a:p>
        </p:txBody>
      </p:sp>
      <p:sp>
        <p:nvSpPr>
          <p:cNvPr id="19" name="Text 17"/>
          <p:cNvSpPr/>
          <p:nvPr/>
        </p:nvSpPr>
        <p:spPr>
          <a:xfrm>
            <a:off x="914400" y="4876679"/>
            <a:ext cx="4495800" cy="266700"/>
          </a:xfrm>
          <a:prstGeom prst="rect">
            <a:avLst/>
          </a:prstGeom>
          <a:noFill/>
          <a:ln/>
        </p:spPr>
        <p:txBody>
          <a:bodyPr wrap="square" lIns="0" tIns="0" rIns="0" bIns="0" rtlCol="0" anchor="ctr"/>
          <a:lstStyle/>
          <a:p>
            <a:pPr>
              <a:lnSpc>
                <a:spcPct val="130000"/>
              </a:lnSpc>
            </a:pPr>
            <a:r>
              <a:rPr lang="en-US" sz="1350" b="1" dirty="0">
                <a:solidFill>
                  <a:srgbClr val="1D1D1D"/>
                </a:solidFill>
                <a:latin typeface="Liter" pitchFamily="34" charset="0"/>
                <a:ea typeface="Liter" pitchFamily="34" charset="-122"/>
                <a:cs typeface="Liter" pitchFamily="34" charset="-120"/>
              </a:rPr>
              <a:t>Activation système</a:t>
            </a:r>
            <a:endParaRPr lang="en-US" sz="1600" dirty="0"/>
          </a:p>
        </p:txBody>
      </p:sp>
      <p:sp>
        <p:nvSpPr>
          <p:cNvPr id="20" name="Text 18"/>
          <p:cNvSpPr/>
          <p:nvPr/>
        </p:nvSpPr>
        <p:spPr>
          <a:xfrm>
            <a:off x="914400" y="5143379"/>
            <a:ext cx="4486275" cy="228600"/>
          </a:xfrm>
          <a:prstGeom prst="rect">
            <a:avLst/>
          </a:prstGeom>
          <a:noFill/>
          <a:ln/>
        </p:spPr>
        <p:txBody>
          <a:bodyPr wrap="square" lIns="0" tIns="0" rIns="0" bIns="0" rtlCol="0" anchor="ctr"/>
          <a:lstStyle/>
          <a:p>
            <a:pPr>
              <a:lnSpc>
                <a:spcPct val="130000"/>
              </a:lnSpc>
            </a:pPr>
            <a:r>
              <a:rPr lang="en-US" sz="1200" dirty="0">
                <a:solidFill>
                  <a:srgbClr val="86868B"/>
                </a:solidFill>
                <a:latin typeface="Liter" pitchFamily="34" charset="0"/>
                <a:ea typeface="Liter" pitchFamily="34" charset="-122"/>
                <a:cs typeface="Liter" pitchFamily="34" charset="-120"/>
              </a:rPr>
              <a:t>Le système passe en mode opérationnel avec les seuils configurés</a:t>
            </a:r>
            <a:endParaRPr lang="en-US" sz="1600" dirty="0"/>
          </a:p>
        </p:txBody>
      </p:sp>
      <p:sp>
        <p:nvSpPr>
          <p:cNvPr id="21" name="Shape 19"/>
          <p:cNvSpPr/>
          <p:nvPr/>
        </p:nvSpPr>
        <p:spPr>
          <a:xfrm>
            <a:off x="6252210" y="1443992"/>
            <a:ext cx="5551170" cy="3893820"/>
          </a:xfrm>
          <a:custGeom>
            <a:avLst/>
            <a:gdLst/>
            <a:ahLst/>
            <a:cxnLst/>
            <a:rect l="l" t="t" r="r" b="b"/>
            <a:pathLst>
              <a:path w="5551170" h="3893820">
                <a:moveTo>
                  <a:pt x="152404" y="0"/>
                </a:moveTo>
                <a:lnTo>
                  <a:pt x="5398766" y="0"/>
                </a:lnTo>
                <a:cubicBezTo>
                  <a:pt x="5482936" y="0"/>
                  <a:pt x="5551170" y="68234"/>
                  <a:pt x="5551170" y="152404"/>
                </a:cubicBezTo>
                <a:lnTo>
                  <a:pt x="5551170" y="3741416"/>
                </a:lnTo>
                <a:cubicBezTo>
                  <a:pt x="5551170" y="3825586"/>
                  <a:pt x="5482936" y="3893820"/>
                  <a:pt x="5398766" y="3893820"/>
                </a:cubicBezTo>
                <a:lnTo>
                  <a:pt x="152404" y="3893820"/>
                </a:lnTo>
                <a:cubicBezTo>
                  <a:pt x="68234" y="3893820"/>
                  <a:pt x="0" y="3825586"/>
                  <a:pt x="0" y="3741416"/>
                </a:cubicBezTo>
                <a:lnTo>
                  <a:pt x="0" y="152404"/>
                </a:lnTo>
                <a:cubicBezTo>
                  <a:pt x="0" y="68290"/>
                  <a:pt x="68290" y="0"/>
                  <a:pt x="152404" y="0"/>
                </a:cubicBezTo>
                <a:close/>
              </a:path>
            </a:pathLst>
          </a:custGeom>
          <a:solidFill>
            <a:srgbClr val="FFFFFF"/>
          </a:solidFill>
          <a:ln w="10160">
            <a:solidFill>
              <a:srgbClr val="E5E5E5"/>
            </a:solidFill>
            <a:prstDash val="solid"/>
          </a:ln>
        </p:spPr>
      </p:sp>
      <p:sp>
        <p:nvSpPr>
          <p:cNvPr id="22" name="Text 20"/>
          <p:cNvSpPr/>
          <p:nvPr/>
        </p:nvSpPr>
        <p:spPr>
          <a:xfrm>
            <a:off x="6484620" y="1676400"/>
            <a:ext cx="5200650" cy="304800"/>
          </a:xfrm>
          <a:prstGeom prst="rect">
            <a:avLst/>
          </a:prstGeom>
          <a:noFill/>
          <a:ln/>
        </p:spPr>
        <p:txBody>
          <a:bodyPr wrap="square" lIns="0" tIns="0" rIns="0" bIns="0" rtlCol="0" anchor="ctr"/>
          <a:lstStyle/>
          <a:p>
            <a:pPr>
              <a:lnSpc>
                <a:spcPct val="110000"/>
              </a:lnSpc>
            </a:pPr>
            <a:r>
              <a:rPr lang="en-US" sz="1800" b="1" dirty="0">
                <a:solidFill>
                  <a:srgbClr val="1D1D1D"/>
                </a:solidFill>
                <a:latin typeface="Liter" pitchFamily="34" charset="0"/>
                <a:ea typeface="Liter" pitchFamily="34" charset="-122"/>
                <a:cs typeface="Liter" pitchFamily="34" charset="-120"/>
              </a:rPr>
              <a:t>Calcul des seuils</a:t>
            </a:r>
            <a:endParaRPr lang="en-US" sz="1600" dirty="0"/>
          </a:p>
        </p:txBody>
      </p:sp>
      <p:sp>
        <p:nvSpPr>
          <p:cNvPr id="23" name="Shape 21"/>
          <p:cNvSpPr/>
          <p:nvPr/>
        </p:nvSpPr>
        <p:spPr>
          <a:xfrm>
            <a:off x="6484620" y="2171579"/>
            <a:ext cx="5086350" cy="876300"/>
          </a:xfrm>
          <a:custGeom>
            <a:avLst/>
            <a:gdLst/>
            <a:ahLst/>
            <a:cxnLst/>
            <a:rect l="l" t="t" r="r" b="b"/>
            <a:pathLst>
              <a:path w="5086350" h="876300">
                <a:moveTo>
                  <a:pt x="114296" y="0"/>
                </a:moveTo>
                <a:lnTo>
                  <a:pt x="4972054" y="0"/>
                </a:lnTo>
                <a:cubicBezTo>
                  <a:pt x="5035178" y="0"/>
                  <a:pt x="5086350" y="51172"/>
                  <a:pt x="5086350" y="114296"/>
                </a:cubicBezTo>
                <a:lnTo>
                  <a:pt x="5086350" y="762004"/>
                </a:lnTo>
                <a:cubicBezTo>
                  <a:pt x="5086350" y="825128"/>
                  <a:pt x="5035178" y="876300"/>
                  <a:pt x="4972054" y="876300"/>
                </a:cubicBezTo>
                <a:lnTo>
                  <a:pt x="114296" y="876300"/>
                </a:lnTo>
                <a:cubicBezTo>
                  <a:pt x="51172" y="876300"/>
                  <a:pt x="0" y="825128"/>
                  <a:pt x="0" y="762004"/>
                </a:cubicBezTo>
                <a:lnTo>
                  <a:pt x="0" y="114296"/>
                </a:lnTo>
                <a:cubicBezTo>
                  <a:pt x="0" y="51172"/>
                  <a:pt x="51172" y="0"/>
                  <a:pt x="114296" y="0"/>
                </a:cubicBezTo>
                <a:close/>
              </a:path>
            </a:pathLst>
          </a:custGeom>
          <a:solidFill>
            <a:srgbClr val="2E7D32">
              <a:alpha val="10196"/>
            </a:srgbClr>
          </a:solidFill>
          <a:ln/>
        </p:spPr>
      </p:sp>
      <p:sp>
        <p:nvSpPr>
          <p:cNvPr id="24" name="Text 22"/>
          <p:cNvSpPr/>
          <p:nvPr/>
        </p:nvSpPr>
        <p:spPr>
          <a:xfrm>
            <a:off x="6637020" y="2323979"/>
            <a:ext cx="1409700" cy="266700"/>
          </a:xfrm>
          <a:prstGeom prst="rect">
            <a:avLst/>
          </a:prstGeom>
          <a:noFill/>
          <a:ln/>
        </p:spPr>
        <p:txBody>
          <a:bodyPr wrap="square" lIns="0" tIns="0" rIns="0" bIns="0" rtlCol="0" anchor="ctr"/>
          <a:lstStyle/>
          <a:p>
            <a:pPr>
              <a:lnSpc>
                <a:spcPct val="130000"/>
              </a:lnSpc>
            </a:pPr>
            <a:r>
              <a:rPr lang="en-US" sz="1350" b="1" dirty="0">
                <a:solidFill>
                  <a:srgbClr val="1D1D1D"/>
                </a:solidFill>
                <a:latin typeface="Liter" pitchFamily="34" charset="0"/>
                <a:ea typeface="Liter" pitchFamily="34" charset="-122"/>
                <a:cs typeface="Liter" pitchFamily="34" charset="-120"/>
              </a:rPr>
              <a:t>Niveau CRITIQUE</a:t>
            </a:r>
            <a:endParaRPr lang="en-US" sz="1600" dirty="0"/>
          </a:p>
        </p:txBody>
      </p:sp>
      <p:sp>
        <p:nvSpPr>
          <p:cNvPr id="25" name="Shape 23"/>
          <p:cNvSpPr/>
          <p:nvPr/>
        </p:nvSpPr>
        <p:spPr>
          <a:xfrm>
            <a:off x="10924223" y="2323979"/>
            <a:ext cx="495300" cy="266700"/>
          </a:xfrm>
          <a:custGeom>
            <a:avLst/>
            <a:gdLst/>
            <a:ahLst/>
            <a:cxnLst/>
            <a:rect l="l" t="t" r="r" b="b"/>
            <a:pathLst>
              <a:path w="495300" h="266700">
                <a:moveTo>
                  <a:pt x="133350" y="0"/>
                </a:moveTo>
                <a:lnTo>
                  <a:pt x="361950" y="0"/>
                </a:lnTo>
                <a:cubicBezTo>
                  <a:pt x="435548" y="0"/>
                  <a:pt x="495300" y="59752"/>
                  <a:pt x="495300" y="133350"/>
                </a:cubicBezTo>
                <a:lnTo>
                  <a:pt x="495300" y="133350"/>
                </a:lnTo>
                <a:cubicBezTo>
                  <a:pt x="495300" y="206948"/>
                  <a:pt x="435548" y="266700"/>
                  <a:pt x="361950" y="266700"/>
                </a:cubicBezTo>
                <a:lnTo>
                  <a:pt x="133350" y="266700"/>
                </a:lnTo>
                <a:cubicBezTo>
                  <a:pt x="59752" y="266700"/>
                  <a:pt x="0" y="206948"/>
                  <a:pt x="0" y="133350"/>
                </a:cubicBezTo>
                <a:lnTo>
                  <a:pt x="0" y="133350"/>
                </a:lnTo>
                <a:cubicBezTo>
                  <a:pt x="0" y="59752"/>
                  <a:pt x="59752" y="0"/>
                  <a:pt x="133350" y="0"/>
                </a:cubicBezTo>
                <a:close/>
              </a:path>
            </a:pathLst>
          </a:custGeom>
          <a:solidFill>
            <a:srgbClr val="2E7D32"/>
          </a:solidFill>
          <a:ln/>
        </p:spPr>
      </p:sp>
      <p:sp>
        <p:nvSpPr>
          <p:cNvPr id="26" name="Text 24"/>
          <p:cNvSpPr/>
          <p:nvPr/>
        </p:nvSpPr>
        <p:spPr>
          <a:xfrm>
            <a:off x="10924223" y="2323979"/>
            <a:ext cx="561975" cy="266700"/>
          </a:xfrm>
          <a:prstGeom prst="rect">
            <a:avLst/>
          </a:prstGeom>
          <a:noFill/>
          <a:ln/>
        </p:spPr>
        <p:txBody>
          <a:bodyPr wrap="square" lIns="114300" tIns="38100" rIns="114300" bIns="38100" rtlCol="0" anchor="b"/>
          <a:lstStyle/>
          <a:p>
            <a:pPr>
              <a:lnSpc>
                <a:spcPct val="120000"/>
              </a:lnSpc>
            </a:pPr>
            <a:r>
              <a:rPr lang="en-US" sz="1050" dirty="0">
                <a:solidFill>
                  <a:srgbClr val="FFFFFF"/>
                </a:solidFill>
                <a:latin typeface="Liter" pitchFamily="34" charset="0"/>
                <a:ea typeface="Liter" pitchFamily="34" charset="-122"/>
                <a:cs typeface="Liter" pitchFamily="34" charset="-120"/>
              </a:rPr>
              <a:t>70%</a:t>
            </a:r>
            <a:endParaRPr lang="en-US" sz="1600" dirty="0"/>
          </a:p>
        </p:txBody>
      </p:sp>
      <p:sp>
        <p:nvSpPr>
          <p:cNvPr id="27" name="Text 25"/>
          <p:cNvSpPr/>
          <p:nvPr/>
        </p:nvSpPr>
        <p:spPr>
          <a:xfrm>
            <a:off x="6637020" y="2666879"/>
            <a:ext cx="4857750" cy="228600"/>
          </a:xfrm>
          <a:prstGeom prst="rect">
            <a:avLst/>
          </a:prstGeom>
          <a:noFill/>
          <a:ln/>
        </p:spPr>
        <p:txBody>
          <a:bodyPr wrap="square" lIns="0" tIns="0" rIns="0" bIns="0" rtlCol="0" anchor="ctr"/>
          <a:lstStyle/>
          <a:p>
            <a:pPr>
              <a:lnSpc>
                <a:spcPct val="130000"/>
              </a:lnSpc>
            </a:pPr>
            <a:r>
              <a:rPr lang="en-US" sz="1200" dirty="0">
                <a:solidFill>
                  <a:srgbClr val="86868B"/>
                </a:solidFill>
                <a:latin typeface="MiSans" pitchFamily="34" charset="0"/>
                <a:ea typeface="MiSans" pitchFamily="34" charset="-122"/>
                <a:cs typeface="MiSans" pitchFamily="34" charset="-120"/>
              </a:rPr>
              <a:t>critical = calibration × 0.70</a:t>
            </a:r>
            <a:endParaRPr lang="en-US" sz="1600" dirty="0"/>
          </a:p>
        </p:txBody>
      </p:sp>
      <p:sp>
        <p:nvSpPr>
          <p:cNvPr id="28" name="Shape 26"/>
          <p:cNvSpPr/>
          <p:nvPr/>
        </p:nvSpPr>
        <p:spPr>
          <a:xfrm>
            <a:off x="6484620" y="3200279"/>
            <a:ext cx="5086350" cy="876300"/>
          </a:xfrm>
          <a:custGeom>
            <a:avLst/>
            <a:gdLst/>
            <a:ahLst/>
            <a:cxnLst/>
            <a:rect l="l" t="t" r="r" b="b"/>
            <a:pathLst>
              <a:path w="5086350" h="876300">
                <a:moveTo>
                  <a:pt x="114296" y="0"/>
                </a:moveTo>
                <a:lnTo>
                  <a:pt x="4972054" y="0"/>
                </a:lnTo>
                <a:cubicBezTo>
                  <a:pt x="5035178" y="0"/>
                  <a:pt x="5086350" y="51172"/>
                  <a:pt x="5086350" y="114296"/>
                </a:cubicBezTo>
                <a:lnTo>
                  <a:pt x="5086350" y="762004"/>
                </a:lnTo>
                <a:cubicBezTo>
                  <a:pt x="5086350" y="825128"/>
                  <a:pt x="5035178" y="876300"/>
                  <a:pt x="4972054" y="876300"/>
                </a:cubicBezTo>
                <a:lnTo>
                  <a:pt x="114296" y="876300"/>
                </a:lnTo>
                <a:cubicBezTo>
                  <a:pt x="51172" y="876300"/>
                  <a:pt x="0" y="825128"/>
                  <a:pt x="0" y="762004"/>
                </a:cubicBezTo>
                <a:lnTo>
                  <a:pt x="0" y="114296"/>
                </a:lnTo>
                <a:cubicBezTo>
                  <a:pt x="0" y="51172"/>
                  <a:pt x="51172" y="0"/>
                  <a:pt x="114296" y="0"/>
                </a:cubicBezTo>
                <a:close/>
              </a:path>
            </a:pathLst>
          </a:custGeom>
          <a:solidFill>
            <a:srgbClr val="EF6C00">
              <a:alpha val="10196"/>
            </a:srgbClr>
          </a:solidFill>
          <a:ln/>
        </p:spPr>
      </p:sp>
      <p:sp>
        <p:nvSpPr>
          <p:cNvPr id="29" name="Text 27"/>
          <p:cNvSpPr/>
          <p:nvPr/>
        </p:nvSpPr>
        <p:spPr>
          <a:xfrm>
            <a:off x="6637020" y="3352679"/>
            <a:ext cx="1524000" cy="266700"/>
          </a:xfrm>
          <a:prstGeom prst="rect">
            <a:avLst/>
          </a:prstGeom>
          <a:noFill/>
          <a:ln/>
        </p:spPr>
        <p:txBody>
          <a:bodyPr wrap="square" lIns="0" tIns="0" rIns="0" bIns="0" rtlCol="0" anchor="ctr"/>
          <a:lstStyle/>
          <a:p>
            <a:pPr>
              <a:lnSpc>
                <a:spcPct val="130000"/>
              </a:lnSpc>
            </a:pPr>
            <a:r>
              <a:rPr lang="en-US" sz="1350" b="1" dirty="0">
                <a:solidFill>
                  <a:srgbClr val="1D1D1D"/>
                </a:solidFill>
                <a:latin typeface="Liter" pitchFamily="34" charset="0"/>
                <a:ea typeface="Liter" pitchFamily="34" charset="-122"/>
                <a:cs typeface="Liter" pitchFamily="34" charset="-120"/>
              </a:rPr>
              <a:t>Niveau VIGILANCE</a:t>
            </a:r>
            <a:endParaRPr lang="en-US" sz="1600" dirty="0"/>
          </a:p>
        </p:txBody>
      </p:sp>
      <p:sp>
        <p:nvSpPr>
          <p:cNvPr id="30" name="Shape 28"/>
          <p:cNvSpPr/>
          <p:nvPr/>
        </p:nvSpPr>
        <p:spPr>
          <a:xfrm>
            <a:off x="10926127" y="3352679"/>
            <a:ext cx="495300" cy="266700"/>
          </a:xfrm>
          <a:custGeom>
            <a:avLst/>
            <a:gdLst/>
            <a:ahLst/>
            <a:cxnLst/>
            <a:rect l="l" t="t" r="r" b="b"/>
            <a:pathLst>
              <a:path w="495300" h="266700">
                <a:moveTo>
                  <a:pt x="133350" y="0"/>
                </a:moveTo>
                <a:lnTo>
                  <a:pt x="361950" y="0"/>
                </a:lnTo>
                <a:cubicBezTo>
                  <a:pt x="435548" y="0"/>
                  <a:pt x="495300" y="59752"/>
                  <a:pt x="495300" y="133350"/>
                </a:cubicBezTo>
                <a:lnTo>
                  <a:pt x="495300" y="133350"/>
                </a:lnTo>
                <a:cubicBezTo>
                  <a:pt x="495300" y="206948"/>
                  <a:pt x="435548" y="266700"/>
                  <a:pt x="361950" y="266700"/>
                </a:cubicBezTo>
                <a:lnTo>
                  <a:pt x="133350" y="266700"/>
                </a:lnTo>
                <a:cubicBezTo>
                  <a:pt x="59752" y="266700"/>
                  <a:pt x="0" y="206948"/>
                  <a:pt x="0" y="133350"/>
                </a:cubicBezTo>
                <a:lnTo>
                  <a:pt x="0" y="133350"/>
                </a:lnTo>
                <a:cubicBezTo>
                  <a:pt x="0" y="59752"/>
                  <a:pt x="59752" y="0"/>
                  <a:pt x="133350" y="0"/>
                </a:cubicBezTo>
                <a:close/>
              </a:path>
            </a:pathLst>
          </a:custGeom>
          <a:solidFill>
            <a:srgbClr val="EF6C00"/>
          </a:solidFill>
          <a:ln/>
        </p:spPr>
      </p:sp>
      <p:sp>
        <p:nvSpPr>
          <p:cNvPr id="31" name="Text 29"/>
          <p:cNvSpPr/>
          <p:nvPr/>
        </p:nvSpPr>
        <p:spPr>
          <a:xfrm>
            <a:off x="10926127" y="3352679"/>
            <a:ext cx="561975" cy="266700"/>
          </a:xfrm>
          <a:prstGeom prst="rect">
            <a:avLst/>
          </a:prstGeom>
          <a:noFill/>
          <a:ln/>
        </p:spPr>
        <p:txBody>
          <a:bodyPr wrap="square" lIns="114300" tIns="38100" rIns="114300" bIns="38100" rtlCol="0" anchor="b"/>
          <a:lstStyle/>
          <a:p>
            <a:pPr>
              <a:lnSpc>
                <a:spcPct val="120000"/>
              </a:lnSpc>
            </a:pPr>
            <a:r>
              <a:rPr lang="en-US" sz="1050" dirty="0">
                <a:solidFill>
                  <a:srgbClr val="FFFFFF"/>
                </a:solidFill>
                <a:latin typeface="Liter" pitchFamily="34" charset="0"/>
                <a:ea typeface="Liter" pitchFamily="34" charset="-122"/>
                <a:cs typeface="Liter" pitchFamily="34" charset="-120"/>
              </a:rPr>
              <a:t>50%</a:t>
            </a:r>
            <a:endParaRPr lang="en-US" sz="1600" dirty="0"/>
          </a:p>
        </p:txBody>
      </p:sp>
      <p:sp>
        <p:nvSpPr>
          <p:cNvPr id="32" name="Text 30"/>
          <p:cNvSpPr/>
          <p:nvPr/>
        </p:nvSpPr>
        <p:spPr>
          <a:xfrm>
            <a:off x="6637020" y="3695579"/>
            <a:ext cx="4857750" cy="228600"/>
          </a:xfrm>
          <a:prstGeom prst="rect">
            <a:avLst/>
          </a:prstGeom>
          <a:noFill/>
          <a:ln/>
        </p:spPr>
        <p:txBody>
          <a:bodyPr wrap="square" lIns="0" tIns="0" rIns="0" bIns="0" rtlCol="0" anchor="ctr"/>
          <a:lstStyle/>
          <a:p>
            <a:pPr>
              <a:lnSpc>
                <a:spcPct val="130000"/>
              </a:lnSpc>
            </a:pPr>
            <a:r>
              <a:rPr lang="en-US" sz="1200" dirty="0">
                <a:solidFill>
                  <a:srgbClr val="86868B"/>
                </a:solidFill>
                <a:latin typeface="MiSans" pitchFamily="34" charset="0"/>
                <a:ea typeface="MiSans" pitchFamily="34" charset="-122"/>
                <a:cs typeface="MiSans" pitchFamily="34" charset="-120"/>
              </a:rPr>
              <a:t>alert = calibration × 0.50</a:t>
            </a:r>
            <a:endParaRPr lang="en-US" sz="1600" dirty="0"/>
          </a:p>
        </p:txBody>
      </p:sp>
      <p:sp>
        <p:nvSpPr>
          <p:cNvPr id="33" name="Shape 31"/>
          <p:cNvSpPr/>
          <p:nvPr/>
        </p:nvSpPr>
        <p:spPr>
          <a:xfrm>
            <a:off x="6484620" y="4228979"/>
            <a:ext cx="5086350" cy="876300"/>
          </a:xfrm>
          <a:custGeom>
            <a:avLst/>
            <a:gdLst/>
            <a:ahLst/>
            <a:cxnLst/>
            <a:rect l="l" t="t" r="r" b="b"/>
            <a:pathLst>
              <a:path w="5086350" h="876300">
                <a:moveTo>
                  <a:pt x="114296" y="0"/>
                </a:moveTo>
                <a:lnTo>
                  <a:pt x="4972054" y="0"/>
                </a:lnTo>
                <a:cubicBezTo>
                  <a:pt x="5035178" y="0"/>
                  <a:pt x="5086350" y="51172"/>
                  <a:pt x="5086350" y="114296"/>
                </a:cubicBezTo>
                <a:lnTo>
                  <a:pt x="5086350" y="762004"/>
                </a:lnTo>
                <a:cubicBezTo>
                  <a:pt x="5086350" y="825128"/>
                  <a:pt x="5035178" y="876300"/>
                  <a:pt x="4972054" y="876300"/>
                </a:cubicBezTo>
                <a:lnTo>
                  <a:pt x="114296" y="876300"/>
                </a:lnTo>
                <a:cubicBezTo>
                  <a:pt x="51172" y="876300"/>
                  <a:pt x="0" y="825128"/>
                  <a:pt x="0" y="762004"/>
                </a:cubicBezTo>
                <a:lnTo>
                  <a:pt x="0" y="114296"/>
                </a:lnTo>
                <a:cubicBezTo>
                  <a:pt x="0" y="51172"/>
                  <a:pt x="51172" y="0"/>
                  <a:pt x="114296" y="0"/>
                </a:cubicBezTo>
                <a:close/>
              </a:path>
            </a:pathLst>
          </a:custGeom>
          <a:solidFill>
            <a:srgbClr val="B71C1C">
              <a:alpha val="10196"/>
            </a:srgbClr>
          </a:solidFill>
          <a:ln/>
        </p:spPr>
      </p:sp>
      <p:sp>
        <p:nvSpPr>
          <p:cNvPr id="34" name="Text 32"/>
          <p:cNvSpPr/>
          <p:nvPr/>
        </p:nvSpPr>
        <p:spPr>
          <a:xfrm>
            <a:off x="6637020" y="4381379"/>
            <a:ext cx="1362075" cy="266700"/>
          </a:xfrm>
          <a:prstGeom prst="rect">
            <a:avLst/>
          </a:prstGeom>
          <a:noFill/>
          <a:ln/>
        </p:spPr>
        <p:txBody>
          <a:bodyPr wrap="square" lIns="0" tIns="0" rIns="0" bIns="0" rtlCol="0" anchor="ctr"/>
          <a:lstStyle/>
          <a:p>
            <a:pPr>
              <a:lnSpc>
                <a:spcPct val="130000"/>
              </a:lnSpc>
            </a:pPr>
            <a:r>
              <a:rPr lang="en-US" sz="1350" b="1" dirty="0">
                <a:solidFill>
                  <a:srgbClr val="1D1D1D"/>
                </a:solidFill>
                <a:latin typeface="Liter" pitchFamily="34" charset="0"/>
                <a:ea typeface="Liter" pitchFamily="34" charset="-122"/>
                <a:cs typeface="Liter" pitchFamily="34" charset="-120"/>
              </a:rPr>
              <a:t>Niveau NORMAL</a:t>
            </a:r>
            <a:endParaRPr lang="en-US" sz="1600" dirty="0"/>
          </a:p>
        </p:txBody>
      </p:sp>
      <p:sp>
        <p:nvSpPr>
          <p:cNvPr id="35" name="Shape 33"/>
          <p:cNvSpPr/>
          <p:nvPr/>
        </p:nvSpPr>
        <p:spPr>
          <a:xfrm>
            <a:off x="10934581" y="4381379"/>
            <a:ext cx="485775" cy="266700"/>
          </a:xfrm>
          <a:custGeom>
            <a:avLst/>
            <a:gdLst/>
            <a:ahLst/>
            <a:cxnLst/>
            <a:rect l="l" t="t" r="r" b="b"/>
            <a:pathLst>
              <a:path w="485775" h="266700">
                <a:moveTo>
                  <a:pt x="133350" y="0"/>
                </a:moveTo>
                <a:lnTo>
                  <a:pt x="352425" y="0"/>
                </a:lnTo>
                <a:cubicBezTo>
                  <a:pt x="426023" y="0"/>
                  <a:pt x="485775" y="59752"/>
                  <a:pt x="485775" y="133350"/>
                </a:cubicBezTo>
                <a:lnTo>
                  <a:pt x="485775" y="133350"/>
                </a:lnTo>
                <a:cubicBezTo>
                  <a:pt x="485775" y="206948"/>
                  <a:pt x="426023" y="266700"/>
                  <a:pt x="352425" y="266700"/>
                </a:cubicBezTo>
                <a:lnTo>
                  <a:pt x="133350" y="266700"/>
                </a:lnTo>
                <a:cubicBezTo>
                  <a:pt x="59752" y="266700"/>
                  <a:pt x="0" y="206948"/>
                  <a:pt x="0" y="133350"/>
                </a:cubicBezTo>
                <a:lnTo>
                  <a:pt x="0" y="133350"/>
                </a:lnTo>
                <a:cubicBezTo>
                  <a:pt x="0" y="59752"/>
                  <a:pt x="59752" y="0"/>
                  <a:pt x="133350" y="0"/>
                </a:cubicBezTo>
                <a:close/>
              </a:path>
            </a:pathLst>
          </a:custGeom>
          <a:solidFill>
            <a:srgbClr val="B71C1C"/>
          </a:solidFill>
          <a:ln/>
        </p:spPr>
      </p:sp>
      <p:sp>
        <p:nvSpPr>
          <p:cNvPr id="36" name="Text 34"/>
          <p:cNvSpPr/>
          <p:nvPr/>
        </p:nvSpPr>
        <p:spPr>
          <a:xfrm>
            <a:off x="10934581" y="4381379"/>
            <a:ext cx="552450" cy="266700"/>
          </a:xfrm>
          <a:prstGeom prst="rect">
            <a:avLst/>
          </a:prstGeom>
          <a:noFill/>
          <a:ln/>
        </p:spPr>
        <p:txBody>
          <a:bodyPr wrap="square" lIns="114300" tIns="38100" rIns="114300" bIns="38100" rtlCol="0" anchor="b"/>
          <a:lstStyle/>
          <a:p>
            <a:pPr>
              <a:lnSpc>
                <a:spcPct val="120000"/>
              </a:lnSpc>
            </a:pPr>
            <a:r>
              <a:rPr lang="en-US" sz="1050" dirty="0">
                <a:solidFill>
                  <a:srgbClr val="FFFFFF"/>
                </a:solidFill>
                <a:latin typeface="Liter" pitchFamily="34" charset="0"/>
                <a:ea typeface="Liter" pitchFamily="34" charset="-122"/>
                <a:cs typeface="Liter" pitchFamily="34" charset="-120"/>
              </a:rPr>
              <a:t>70%</a:t>
            </a:r>
            <a:endParaRPr lang="en-US" sz="1600" dirty="0"/>
          </a:p>
        </p:txBody>
      </p:sp>
      <p:sp>
        <p:nvSpPr>
          <p:cNvPr id="37" name="Text 35"/>
          <p:cNvSpPr/>
          <p:nvPr/>
        </p:nvSpPr>
        <p:spPr>
          <a:xfrm>
            <a:off x="6637020" y="4724279"/>
            <a:ext cx="4857750" cy="228600"/>
          </a:xfrm>
          <a:prstGeom prst="rect">
            <a:avLst/>
          </a:prstGeom>
          <a:noFill/>
          <a:ln/>
        </p:spPr>
        <p:txBody>
          <a:bodyPr wrap="square" lIns="0" tIns="0" rIns="0" bIns="0" rtlCol="0" anchor="ctr"/>
          <a:lstStyle/>
          <a:p>
            <a:pPr>
              <a:lnSpc>
                <a:spcPct val="130000"/>
              </a:lnSpc>
            </a:pPr>
            <a:r>
              <a:rPr lang="en-US" sz="1200" dirty="0">
                <a:solidFill>
                  <a:srgbClr val="86868B"/>
                </a:solidFill>
                <a:latin typeface="MiSans" pitchFamily="34" charset="0"/>
                <a:ea typeface="MiSans" pitchFamily="34" charset="-122"/>
                <a:cs typeface="MiSans" pitchFamily="34" charset="-120"/>
              </a:rPr>
              <a:t>normal = calibration × 0.30</a:t>
            </a:r>
            <a:endParaRPr lang="en-US" sz="1600" dirty="0"/>
          </a:p>
        </p:txBody>
      </p:sp>
      <p:sp>
        <p:nvSpPr>
          <p:cNvPr id="38" name="Shape 36"/>
          <p:cNvSpPr/>
          <p:nvPr/>
        </p:nvSpPr>
        <p:spPr>
          <a:xfrm>
            <a:off x="6248400" y="5570107"/>
            <a:ext cx="5562600" cy="838200"/>
          </a:xfrm>
          <a:custGeom>
            <a:avLst/>
            <a:gdLst/>
            <a:ahLst/>
            <a:cxnLst/>
            <a:rect l="l" t="t" r="r" b="b"/>
            <a:pathLst>
              <a:path w="5562600" h="838200">
                <a:moveTo>
                  <a:pt x="114297" y="0"/>
                </a:moveTo>
                <a:lnTo>
                  <a:pt x="5448303" y="0"/>
                </a:lnTo>
                <a:cubicBezTo>
                  <a:pt x="5511428" y="0"/>
                  <a:pt x="5562600" y="51172"/>
                  <a:pt x="5562600" y="114297"/>
                </a:cubicBezTo>
                <a:lnTo>
                  <a:pt x="5562600" y="723903"/>
                </a:lnTo>
                <a:cubicBezTo>
                  <a:pt x="5562600" y="787028"/>
                  <a:pt x="5511428" y="838200"/>
                  <a:pt x="5448303" y="838200"/>
                </a:cubicBezTo>
                <a:lnTo>
                  <a:pt x="114297" y="838200"/>
                </a:lnTo>
                <a:cubicBezTo>
                  <a:pt x="51172" y="838200"/>
                  <a:pt x="0" y="787028"/>
                  <a:pt x="0" y="723903"/>
                </a:cubicBezTo>
                <a:lnTo>
                  <a:pt x="0" y="114297"/>
                </a:lnTo>
                <a:cubicBezTo>
                  <a:pt x="0" y="51172"/>
                  <a:pt x="51172" y="0"/>
                  <a:pt x="114297" y="0"/>
                </a:cubicBezTo>
                <a:close/>
              </a:path>
            </a:pathLst>
          </a:custGeom>
          <a:solidFill>
            <a:srgbClr val="F5F5F7"/>
          </a:solidFill>
          <a:ln/>
        </p:spPr>
      </p:sp>
      <p:sp>
        <p:nvSpPr>
          <p:cNvPr id="39" name="Shape 37"/>
          <p:cNvSpPr/>
          <p:nvPr/>
        </p:nvSpPr>
        <p:spPr>
          <a:xfrm>
            <a:off x="6477000" y="5791079"/>
            <a:ext cx="114300" cy="152400"/>
          </a:xfrm>
          <a:custGeom>
            <a:avLst/>
            <a:gdLst/>
            <a:ahLst/>
            <a:cxnLst/>
            <a:rect l="l" t="t" r="r" b="b"/>
            <a:pathLst>
              <a:path w="114300" h="152400">
                <a:moveTo>
                  <a:pt x="87184" y="114300"/>
                </a:moveTo>
                <a:cubicBezTo>
                  <a:pt x="89356" y="107662"/>
                  <a:pt x="93702" y="101650"/>
                  <a:pt x="98614" y="96470"/>
                </a:cubicBezTo>
                <a:cubicBezTo>
                  <a:pt x="108347" y="86231"/>
                  <a:pt x="114300" y="72390"/>
                  <a:pt x="114300" y="57150"/>
                </a:cubicBezTo>
                <a:cubicBezTo>
                  <a:pt x="114300" y="25598"/>
                  <a:pt x="88702" y="0"/>
                  <a:pt x="57150" y="0"/>
                </a:cubicBezTo>
                <a:cubicBezTo>
                  <a:pt x="25598" y="0"/>
                  <a:pt x="0" y="25598"/>
                  <a:pt x="0" y="57150"/>
                </a:cubicBezTo>
                <a:cubicBezTo>
                  <a:pt x="0" y="72390"/>
                  <a:pt x="5953" y="86231"/>
                  <a:pt x="15686" y="96470"/>
                </a:cubicBezTo>
                <a:cubicBezTo>
                  <a:pt x="20598" y="101650"/>
                  <a:pt x="24973" y="107662"/>
                  <a:pt x="27116" y="114300"/>
                </a:cubicBezTo>
                <a:lnTo>
                  <a:pt x="87154" y="114300"/>
                </a:lnTo>
                <a:close/>
                <a:moveTo>
                  <a:pt x="85725" y="128588"/>
                </a:moveTo>
                <a:lnTo>
                  <a:pt x="28575" y="128588"/>
                </a:lnTo>
                <a:lnTo>
                  <a:pt x="28575" y="133350"/>
                </a:lnTo>
                <a:cubicBezTo>
                  <a:pt x="28575" y="146506"/>
                  <a:pt x="39231" y="157163"/>
                  <a:pt x="52388" y="157163"/>
                </a:cubicBezTo>
                <a:lnTo>
                  <a:pt x="61912" y="157163"/>
                </a:lnTo>
                <a:cubicBezTo>
                  <a:pt x="75069" y="157163"/>
                  <a:pt x="85725" y="146506"/>
                  <a:pt x="85725" y="133350"/>
                </a:cubicBezTo>
                <a:lnTo>
                  <a:pt x="85725" y="128588"/>
                </a:lnTo>
                <a:close/>
                <a:moveTo>
                  <a:pt x="54769" y="33338"/>
                </a:moveTo>
                <a:cubicBezTo>
                  <a:pt x="42922" y="33338"/>
                  <a:pt x="33338" y="42922"/>
                  <a:pt x="33338" y="54769"/>
                </a:cubicBezTo>
                <a:cubicBezTo>
                  <a:pt x="33338" y="58728"/>
                  <a:pt x="30153" y="61912"/>
                  <a:pt x="26194" y="61912"/>
                </a:cubicBezTo>
                <a:cubicBezTo>
                  <a:pt x="22235" y="61912"/>
                  <a:pt x="19050" y="58728"/>
                  <a:pt x="19050" y="54769"/>
                </a:cubicBezTo>
                <a:cubicBezTo>
                  <a:pt x="19050" y="35034"/>
                  <a:pt x="35034" y="19050"/>
                  <a:pt x="54769" y="19050"/>
                </a:cubicBezTo>
                <a:cubicBezTo>
                  <a:pt x="58728" y="19050"/>
                  <a:pt x="61912" y="22235"/>
                  <a:pt x="61912" y="26194"/>
                </a:cubicBezTo>
                <a:cubicBezTo>
                  <a:pt x="61912" y="30153"/>
                  <a:pt x="58728" y="33338"/>
                  <a:pt x="54769" y="33338"/>
                </a:cubicBezTo>
                <a:close/>
              </a:path>
            </a:pathLst>
          </a:custGeom>
          <a:solidFill>
            <a:srgbClr val="0071E3"/>
          </a:solidFill>
          <a:ln/>
        </p:spPr>
      </p:sp>
      <p:sp>
        <p:nvSpPr>
          <p:cNvPr id="40" name="Text 38"/>
          <p:cNvSpPr/>
          <p:nvPr/>
        </p:nvSpPr>
        <p:spPr>
          <a:xfrm>
            <a:off x="6686550" y="5760607"/>
            <a:ext cx="5010150" cy="457200"/>
          </a:xfrm>
          <a:prstGeom prst="rect">
            <a:avLst/>
          </a:prstGeom>
          <a:noFill/>
          <a:ln/>
        </p:spPr>
        <p:txBody>
          <a:bodyPr wrap="square" lIns="0" tIns="0" rIns="0" bIns="0" rtlCol="0" anchor="ctr"/>
          <a:lstStyle/>
          <a:p>
            <a:pPr>
              <a:lnSpc>
                <a:spcPct val="130000"/>
              </a:lnSpc>
            </a:pPr>
            <a:r>
              <a:rPr lang="en-US" sz="1200" b="1" dirty="0">
                <a:solidFill>
                  <a:srgbClr val="1D1D1D"/>
                </a:solidFill>
                <a:latin typeface="Liter" pitchFamily="34" charset="0"/>
                <a:ea typeface="Liter" pitchFamily="34" charset="-122"/>
                <a:cs typeface="Liter" pitchFamily="34" charset="-120"/>
              </a:rPr>
              <a:t>Exemple:</a:t>
            </a:r>
            <a:r>
              <a:rPr lang="en-US" sz="1200" dirty="0">
                <a:solidFill>
                  <a:srgbClr val="86868B"/>
                </a:solidFill>
                <a:latin typeface="Liter" pitchFamily="34" charset="0"/>
                <a:ea typeface="Liter" pitchFamily="34" charset="-122"/>
                <a:cs typeface="Liter" pitchFamily="34" charset="-120"/>
              </a:rPr>
              <a:t> Si calibration = 100cm → Critique: 70cm, Vigilance: 50cm, Normal: 30cm</a:t>
            </a:r>
            <a:endParaRPr lang="en-US" sz="1600"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381000" y="1079181"/>
            <a:ext cx="2089785" cy="1737360"/>
          </a:xfrm>
          <a:prstGeom prst="rect">
            <a:avLst/>
          </a:prstGeom>
          <a:noFill/>
          <a:ln/>
        </p:spPr>
        <p:txBody>
          <a:bodyPr wrap="square" lIns="0" tIns="0" rIns="0" bIns="0" rtlCol="0" anchor="ctr"/>
          <a:lstStyle/>
          <a:p>
            <a:pPr>
              <a:lnSpc>
                <a:spcPct val="80000"/>
              </a:lnSpc>
            </a:pPr>
            <a:r>
              <a:rPr lang="en-US" sz="9600" b="1" dirty="0">
                <a:solidFill>
                  <a:srgbClr val="0071E3"/>
                </a:solidFill>
                <a:latin typeface="Liter" pitchFamily="34" charset="0"/>
                <a:ea typeface="Liter" pitchFamily="34" charset="-122"/>
                <a:cs typeface="Liter" pitchFamily="34" charset="-120"/>
              </a:rPr>
              <a:t>05</a:t>
            </a:r>
            <a:endParaRPr lang="en-US" sz="1600" dirty="0"/>
          </a:p>
        </p:txBody>
      </p:sp>
      <p:sp>
        <p:nvSpPr>
          <p:cNvPr id="3" name="Text 1"/>
          <p:cNvSpPr/>
          <p:nvPr/>
        </p:nvSpPr>
        <p:spPr>
          <a:xfrm>
            <a:off x="381000" y="2862263"/>
            <a:ext cx="11772900" cy="1714500"/>
          </a:xfrm>
          <a:prstGeom prst="rect">
            <a:avLst/>
          </a:prstGeom>
          <a:noFill/>
          <a:ln/>
        </p:spPr>
        <p:txBody>
          <a:bodyPr wrap="square" lIns="0" tIns="0" rIns="0" bIns="0" rtlCol="0" anchor="ctr"/>
          <a:lstStyle/>
          <a:p>
            <a:pPr>
              <a:lnSpc>
                <a:spcPct val="100000"/>
              </a:lnSpc>
            </a:pPr>
            <a:r>
              <a:rPr lang="en-US" sz="5400" b="1" dirty="0">
                <a:solidFill>
                  <a:srgbClr val="1D1D1D"/>
                </a:solidFill>
                <a:latin typeface="Liter" pitchFamily="34" charset="0"/>
                <a:ea typeface="Liter" pitchFamily="34" charset="-122"/>
                <a:cs typeface="Liter" pitchFamily="34" charset="-120"/>
              </a:rPr>
              <a:t>Fonctionnement du</a:t>
            </a:r>
            <a:endParaRPr lang="en-US" sz="1600" dirty="0"/>
          </a:p>
          <a:p>
            <a:pPr>
              <a:lnSpc>
                <a:spcPct val="100000"/>
              </a:lnSpc>
            </a:pPr>
            <a:r>
              <a:rPr lang="en-US" sz="5400" b="1" dirty="0">
                <a:solidFill>
                  <a:srgbClr val="1D1D1D"/>
                </a:solidFill>
                <a:latin typeface="Liter" pitchFamily="34" charset="0"/>
                <a:ea typeface="Liter" pitchFamily="34" charset="-122"/>
                <a:cs typeface="Liter" pitchFamily="34" charset="-120"/>
              </a:rPr>
              <a:t>système</a:t>
            </a:r>
            <a:endParaRPr lang="en-US" sz="1600" dirty="0"/>
          </a:p>
        </p:txBody>
      </p:sp>
      <p:sp>
        <p:nvSpPr>
          <p:cNvPr id="4" name="Shape 2"/>
          <p:cNvSpPr/>
          <p:nvPr/>
        </p:nvSpPr>
        <p:spPr>
          <a:xfrm>
            <a:off x="381000" y="4805363"/>
            <a:ext cx="1219200" cy="38100"/>
          </a:xfrm>
          <a:custGeom>
            <a:avLst/>
            <a:gdLst/>
            <a:ahLst/>
            <a:cxnLst/>
            <a:rect l="l" t="t" r="r" b="b"/>
            <a:pathLst>
              <a:path w="1219200" h="38100">
                <a:moveTo>
                  <a:pt x="0" y="0"/>
                </a:moveTo>
                <a:lnTo>
                  <a:pt x="1219200" y="0"/>
                </a:lnTo>
                <a:lnTo>
                  <a:pt x="1219200" y="38100"/>
                </a:lnTo>
                <a:lnTo>
                  <a:pt x="0" y="38100"/>
                </a:lnTo>
                <a:lnTo>
                  <a:pt x="0" y="0"/>
                </a:lnTo>
                <a:close/>
              </a:path>
            </a:pathLst>
          </a:custGeom>
          <a:solidFill>
            <a:srgbClr val="0071E3"/>
          </a:solidFill>
          <a:ln/>
        </p:spPr>
      </p:sp>
      <p:sp>
        <p:nvSpPr>
          <p:cNvPr id="5" name="Text 3"/>
          <p:cNvSpPr/>
          <p:nvPr/>
        </p:nvSpPr>
        <p:spPr>
          <a:xfrm>
            <a:off x="381000" y="5148263"/>
            <a:ext cx="7429500" cy="371475"/>
          </a:xfrm>
          <a:prstGeom prst="rect">
            <a:avLst/>
          </a:prstGeom>
          <a:noFill/>
          <a:ln/>
        </p:spPr>
        <p:txBody>
          <a:bodyPr wrap="square" lIns="0" tIns="0" rIns="0" bIns="0" rtlCol="0" anchor="ctr"/>
          <a:lstStyle/>
          <a:p>
            <a:pPr>
              <a:lnSpc>
                <a:spcPct val="140000"/>
              </a:lnSpc>
            </a:pPr>
            <a:r>
              <a:rPr lang="en-US" sz="1800" dirty="0">
                <a:solidFill>
                  <a:srgbClr val="86868B"/>
                </a:solidFill>
                <a:latin typeface="Liter" pitchFamily="34" charset="0"/>
                <a:ea typeface="Liter" pitchFamily="34" charset="-122"/>
                <a:cs typeface="Liter" pitchFamily="34" charset="-120"/>
              </a:rPr>
              <a:t>Boucle de mesure et gestion des états</a:t>
            </a:r>
            <a:endParaRPr lang="en-US" sz="1600" dirty="0"/>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361780" y="361780"/>
            <a:ext cx="11531751" cy="180890"/>
          </a:xfrm>
          <a:prstGeom prst="rect">
            <a:avLst/>
          </a:prstGeom>
          <a:noFill/>
          <a:ln/>
        </p:spPr>
        <p:txBody>
          <a:bodyPr wrap="square" lIns="0" tIns="0" rIns="0" bIns="0" rtlCol="0" anchor="ctr"/>
          <a:lstStyle/>
          <a:p>
            <a:pPr>
              <a:lnSpc>
                <a:spcPct val="120000"/>
              </a:lnSpc>
            </a:pPr>
            <a:r>
              <a:rPr lang="en-US" sz="997" b="1" kern="0" spc="100" dirty="0">
                <a:solidFill>
                  <a:srgbClr val="86868B"/>
                </a:solidFill>
                <a:latin typeface="Liter" pitchFamily="34" charset="0"/>
                <a:ea typeface="Liter" pitchFamily="34" charset="-122"/>
                <a:cs typeface="Liter" pitchFamily="34" charset="-120"/>
              </a:rPr>
              <a:t>05 / MESURE</a:t>
            </a:r>
            <a:endParaRPr lang="en-US" sz="1600" dirty="0"/>
          </a:p>
        </p:txBody>
      </p:sp>
      <p:sp>
        <p:nvSpPr>
          <p:cNvPr id="3" name="Text 1"/>
          <p:cNvSpPr/>
          <p:nvPr/>
        </p:nvSpPr>
        <p:spPr>
          <a:xfrm>
            <a:off x="361780" y="651205"/>
            <a:ext cx="11685507" cy="434136"/>
          </a:xfrm>
          <a:prstGeom prst="rect">
            <a:avLst/>
          </a:prstGeom>
          <a:noFill/>
          <a:ln/>
        </p:spPr>
        <p:txBody>
          <a:bodyPr wrap="square" lIns="0" tIns="0" rIns="0" bIns="0" rtlCol="0" anchor="ctr"/>
          <a:lstStyle/>
          <a:p>
            <a:pPr>
              <a:lnSpc>
                <a:spcPct val="80000"/>
              </a:lnSpc>
            </a:pPr>
            <a:r>
              <a:rPr lang="en-US" sz="3418" b="1" dirty="0">
                <a:solidFill>
                  <a:srgbClr val="1D1D1D"/>
                </a:solidFill>
                <a:latin typeface="Liter" pitchFamily="34" charset="0"/>
                <a:ea typeface="Liter" pitchFamily="34" charset="-122"/>
                <a:cs typeface="Liter" pitchFamily="34" charset="-120"/>
              </a:rPr>
              <a:t>Logique de mesure et traitement</a:t>
            </a:r>
            <a:endParaRPr lang="en-US" sz="1600" dirty="0"/>
          </a:p>
        </p:txBody>
      </p:sp>
      <p:sp>
        <p:nvSpPr>
          <p:cNvPr id="4" name="Text 2"/>
          <p:cNvSpPr/>
          <p:nvPr/>
        </p:nvSpPr>
        <p:spPr>
          <a:xfrm>
            <a:off x="361780" y="1302409"/>
            <a:ext cx="5698042" cy="289424"/>
          </a:xfrm>
          <a:prstGeom prst="rect">
            <a:avLst/>
          </a:prstGeom>
          <a:noFill/>
          <a:ln/>
        </p:spPr>
        <p:txBody>
          <a:bodyPr wrap="square" lIns="0" tIns="0" rIns="0" bIns="0" rtlCol="0" anchor="ctr"/>
          <a:lstStyle/>
          <a:p>
            <a:pPr>
              <a:lnSpc>
                <a:spcPct val="110000"/>
              </a:lnSpc>
            </a:pPr>
            <a:r>
              <a:rPr lang="en-US" sz="1709" b="1" dirty="0">
                <a:solidFill>
                  <a:srgbClr val="1D1D1D"/>
                </a:solidFill>
                <a:latin typeface="Liter" pitchFamily="34" charset="0"/>
                <a:ea typeface="Liter" pitchFamily="34" charset="-122"/>
                <a:cs typeface="Liter" pitchFamily="34" charset="-120"/>
              </a:rPr>
              <a:t>Boucle principale loop()</a:t>
            </a:r>
            <a:endParaRPr lang="en-US" sz="1600" dirty="0"/>
          </a:p>
        </p:txBody>
      </p:sp>
      <p:sp>
        <p:nvSpPr>
          <p:cNvPr id="5" name="Shape 3"/>
          <p:cNvSpPr/>
          <p:nvPr/>
        </p:nvSpPr>
        <p:spPr>
          <a:xfrm>
            <a:off x="365398" y="1740049"/>
            <a:ext cx="5578654" cy="875509"/>
          </a:xfrm>
          <a:custGeom>
            <a:avLst/>
            <a:gdLst/>
            <a:ahLst/>
            <a:cxnLst/>
            <a:rect l="l" t="t" r="r" b="b"/>
            <a:pathLst>
              <a:path w="5578654" h="875509">
                <a:moveTo>
                  <a:pt x="108537" y="0"/>
                </a:moveTo>
                <a:lnTo>
                  <a:pt x="5470117" y="0"/>
                </a:lnTo>
                <a:cubicBezTo>
                  <a:pt x="5530060" y="0"/>
                  <a:pt x="5578654" y="48594"/>
                  <a:pt x="5578654" y="108537"/>
                </a:cubicBezTo>
                <a:lnTo>
                  <a:pt x="5578654" y="766972"/>
                </a:lnTo>
                <a:cubicBezTo>
                  <a:pt x="5578654" y="826915"/>
                  <a:pt x="5530060" y="875509"/>
                  <a:pt x="5470117" y="875509"/>
                </a:cubicBezTo>
                <a:lnTo>
                  <a:pt x="108537" y="875509"/>
                </a:lnTo>
                <a:cubicBezTo>
                  <a:pt x="48594" y="875509"/>
                  <a:pt x="0" y="826915"/>
                  <a:pt x="0" y="766972"/>
                </a:cubicBezTo>
                <a:lnTo>
                  <a:pt x="0" y="108537"/>
                </a:lnTo>
                <a:cubicBezTo>
                  <a:pt x="0" y="48594"/>
                  <a:pt x="48594" y="0"/>
                  <a:pt x="108537" y="0"/>
                </a:cubicBezTo>
                <a:close/>
              </a:path>
            </a:pathLst>
          </a:custGeom>
          <a:solidFill>
            <a:srgbClr val="FFFFFF"/>
          </a:solidFill>
          <a:ln w="10160">
            <a:solidFill>
              <a:srgbClr val="E5E5E5"/>
            </a:solidFill>
            <a:prstDash val="solid"/>
          </a:ln>
        </p:spPr>
      </p:sp>
      <p:sp>
        <p:nvSpPr>
          <p:cNvPr id="6" name="Shape 4"/>
          <p:cNvSpPr/>
          <p:nvPr/>
        </p:nvSpPr>
        <p:spPr>
          <a:xfrm>
            <a:off x="513728" y="1888386"/>
            <a:ext cx="289424" cy="289424"/>
          </a:xfrm>
          <a:custGeom>
            <a:avLst/>
            <a:gdLst/>
            <a:ahLst/>
            <a:cxnLst/>
            <a:rect l="l" t="t" r="r" b="b"/>
            <a:pathLst>
              <a:path w="289424" h="289424">
                <a:moveTo>
                  <a:pt x="144712" y="0"/>
                </a:moveTo>
                <a:lnTo>
                  <a:pt x="144712" y="0"/>
                </a:lnTo>
                <a:cubicBezTo>
                  <a:pt x="224581" y="0"/>
                  <a:pt x="289424" y="64843"/>
                  <a:pt x="289424" y="144712"/>
                </a:cubicBezTo>
                <a:lnTo>
                  <a:pt x="289424" y="144712"/>
                </a:lnTo>
                <a:cubicBezTo>
                  <a:pt x="289424" y="224581"/>
                  <a:pt x="224581" y="289424"/>
                  <a:pt x="144712" y="289424"/>
                </a:cubicBezTo>
                <a:lnTo>
                  <a:pt x="144712" y="289424"/>
                </a:lnTo>
                <a:cubicBezTo>
                  <a:pt x="64843" y="289424"/>
                  <a:pt x="0" y="224581"/>
                  <a:pt x="0" y="144712"/>
                </a:cubicBezTo>
                <a:lnTo>
                  <a:pt x="0" y="144712"/>
                </a:lnTo>
                <a:cubicBezTo>
                  <a:pt x="0" y="64843"/>
                  <a:pt x="64843" y="0"/>
                  <a:pt x="144712" y="0"/>
                </a:cubicBezTo>
                <a:close/>
              </a:path>
            </a:pathLst>
          </a:custGeom>
          <a:solidFill>
            <a:srgbClr val="0071E3"/>
          </a:solidFill>
          <a:ln/>
        </p:spPr>
      </p:sp>
      <p:sp>
        <p:nvSpPr>
          <p:cNvPr id="7" name="Text 5"/>
          <p:cNvSpPr/>
          <p:nvPr/>
        </p:nvSpPr>
        <p:spPr>
          <a:xfrm>
            <a:off x="482072" y="1888386"/>
            <a:ext cx="352736" cy="289424"/>
          </a:xfrm>
          <a:prstGeom prst="rect">
            <a:avLst/>
          </a:prstGeom>
          <a:noFill/>
          <a:ln/>
        </p:spPr>
        <p:txBody>
          <a:bodyPr wrap="square" lIns="0" tIns="0" rIns="0" bIns="0" rtlCol="0" anchor="ctr"/>
          <a:lstStyle/>
          <a:p>
            <a:pPr algn="ctr">
              <a:lnSpc>
                <a:spcPct val="120000"/>
              </a:lnSpc>
            </a:pPr>
            <a:r>
              <a:rPr lang="en-US" sz="997" b="1" dirty="0">
                <a:solidFill>
                  <a:srgbClr val="FFFFFF"/>
                </a:solidFill>
                <a:latin typeface="Liter" pitchFamily="34" charset="0"/>
                <a:ea typeface="Liter" pitchFamily="34" charset="-122"/>
                <a:cs typeface="Liter" pitchFamily="34" charset="-120"/>
              </a:rPr>
              <a:t>1</a:t>
            </a:r>
            <a:endParaRPr lang="en-US" sz="1600" dirty="0"/>
          </a:p>
        </p:txBody>
      </p:sp>
      <p:sp>
        <p:nvSpPr>
          <p:cNvPr id="8" name="Text 6"/>
          <p:cNvSpPr/>
          <p:nvPr/>
        </p:nvSpPr>
        <p:spPr>
          <a:xfrm>
            <a:off x="911687" y="1906475"/>
            <a:ext cx="2007881" cy="253246"/>
          </a:xfrm>
          <a:prstGeom prst="rect">
            <a:avLst/>
          </a:prstGeom>
          <a:noFill/>
          <a:ln/>
        </p:spPr>
        <p:txBody>
          <a:bodyPr wrap="square" lIns="0" tIns="0" rIns="0" bIns="0" rtlCol="0" anchor="ctr"/>
          <a:lstStyle/>
          <a:p>
            <a:pPr>
              <a:lnSpc>
                <a:spcPct val="130000"/>
              </a:lnSpc>
            </a:pPr>
            <a:r>
              <a:rPr lang="en-US" sz="1282" b="1" dirty="0">
                <a:solidFill>
                  <a:srgbClr val="1D1D1D"/>
                </a:solidFill>
                <a:latin typeface="Liter" pitchFamily="34" charset="0"/>
                <a:ea typeface="Liter" pitchFamily="34" charset="-122"/>
                <a:cs typeface="Liter" pitchFamily="34" charset="-120"/>
              </a:rPr>
              <a:t>Rafraîchissement afficheur</a:t>
            </a:r>
            <a:endParaRPr lang="en-US" sz="1600" dirty="0"/>
          </a:p>
        </p:txBody>
      </p:sp>
      <p:sp>
        <p:nvSpPr>
          <p:cNvPr id="9" name="Text 7"/>
          <p:cNvSpPr/>
          <p:nvPr/>
        </p:nvSpPr>
        <p:spPr>
          <a:xfrm>
            <a:off x="911687" y="2250166"/>
            <a:ext cx="4956392" cy="217068"/>
          </a:xfrm>
          <a:prstGeom prst="rect">
            <a:avLst/>
          </a:prstGeom>
          <a:noFill/>
          <a:ln/>
        </p:spPr>
        <p:txBody>
          <a:bodyPr wrap="square" lIns="0" tIns="0" rIns="0" bIns="0" rtlCol="0" anchor="ctr"/>
          <a:lstStyle/>
          <a:p>
            <a:pPr>
              <a:lnSpc>
                <a:spcPct val="130000"/>
              </a:lnSpc>
            </a:pPr>
            <a:r>
              <a:rPr lang="en-US" sz="1139" dirty="0">
                <a:solidFill>
                  <a:srgbClr val="86868B"/>
                </a:solidFill>
                <a:latin typeface="Liter" pitchFamily="34" charset="0"/>
                <a:ea typeface="Liter" pitchFamily="34" charset="-122"/>
                <a:cs typeface="Liter" pitchFamily="34" charset="-120"/>
              </a:rPr>
              <a:t>sevseg.refreshDisplay() appelé en continu pour multiplexage</a:t>
            </a:r>
            <a:endParaRPr lang="en-US" sz="1600" dirty="0"/>
          </a:p>
        </p:txBody>
      </p:sp>
      <p:sp>
        <p:nvSpPr>
          <p:cNvPr id="10" name="Shape 8"/>
          <p:cNvSpPr/>
          <p:nvPr/>
        </p:nvSpPr>
        <p:spPr>
          <a:xfrm>
            <a:off x="365398" y="2731333"/>
            <a:ext cx="5578654" cy="875509"/>
          </a:xfrm>
          <a:custGeom>
            <a:avLst/>
            <a:gdLst/>
            <a:ahLst/>
            <a:cxnLst/>
            <a:rect l="l" t="t" r="r" b="b"/>
            <a:pathLst>
              <a:path w="5578654" h="875509">
                <a:moveTo>
                  <a:pt x="108537" y="0"/>
                </a:moveTo>
                <a:lnTo>
                  <a:pt x="5470117" y="0"/>
                </a:lnTo>
                <a:cubicBezTo>
                  <a:pt x="5530060" y="0"/>
                  <a:pt x="5578654" y="48594"/>
                  <a:pt x="5578654" y="108537"/>
                </a:cubicBezTo>
                <a:lnTo>
                  <a:pt x="5578654" y="766972"/>
                </a:lnTo>
                <a:cubicBezTo>
                  <a:pt x="5578654" y="826915"/>
                  <a:pt x="5530060" y="875509"/>
                  <a:pt x="5470117" y="875509"/>
                </a:cubicBezTo>
                <a:lnTo>
                  <a:pt x="108537" y="875509"/>
                </a:lnTo>
                <a:cubicBezTo>
                  <a:pt x="48594" y="875509"/>
                  <a:pt x="0" y="826915"/>
                  <a:pt x="0" y="766972"/>
                </a:cubicBezTo>
                <a:lnTo>
                  <a:pt x="0" y="108537"/>
                </a:lnTo>
                <a:cubicBezTo>
                  <a:pt x="0" y="48594"/>
                  <a:pt x="48594" y="0"/>
                  <a:pt x="108537" y="0"/>
                </a:cubicBezTo>
                <a:close/>
              </a:path>
            </a:pathLst>
          </a:custGeom>
          <a:solidFill>
            <a:srgbClr val="FFFFFF"/>
          </a:solidFill>
          <a:ln w="10160">
            <a:solidFill>
              <a:srgbClr val="E5E5E5"/>
            </a:solidFill>
            <a:prstDash val="solid"/>
          </a:ln>
        </p:spPr>
      </p:sp>
      <p:sp>
        <p:nvSpPr>
          <p:cNvPr id="11" name="Shape 9"/>
          <p:cNvSpPr/>
          <p:nvPr/>
        </p:nvSpPr>
        <p:spPr>
          <a:xfrm>
            <a:off x="513728" y="2879661"/>
            <a:ext cx="289424" cy="289424"/>
          </a:xfrm>
          <a:custGeom>
            <a:avLst/>
            <a:gdLst/>
            <a:ahLst/>
            <a:cxnLst/>
            <a:rect l="l" t="t" r="r" b="b"/>
            <a:pathLst>
              <a:path w="289424" h="289424">
                <a:moveTo>
                  <a:pt x="144712" y="0"/>
                </a:moveTo>
                <a:lnTo>
                  <a:pt x="144712" y="0"/>
                </a:lnTo>
                <a:cubicBezTo>
                  <a:pt x="224581" y="0"/>
                  <a:pt x="289424" y="64843"/>
                  <a:pt x="289424" y="144712"/>
                </a:cubicBezTo>
                <a:lnTo>
                  <a:pt x="289424" y="144712"/>
                </a:lnTo>
                <a:cubicBezTo>
                  <a:pt x="289424" y="224581"/>
                  <a:pt x="224581" y="289424"/>
                  <a:pt x="144712" y="289424"/>
                </a:cubicBezTo>
                <a:lnTo>
                  <a:pt x="144712" y="289424"/>
                </a:lnTo>
                <a:cubicBezTo>
                  <a:pt x="64843" y="289424"/>
                  <a:pt x="0" y="224581"/>
                  <a:pt x="0" y="144712"/>
                </a:cubicBezTo>
                <a:lnTo>
                  <a:pt x="0" y="144712"/>
                </a:lnTo>
                <a:cubicBezTo>
                  <a:pt x="0" y="64843"/>
                  <a:pt x="64843" y="0"/>
                  <a:pt x="144712" y="0"/>
                </a:cubicBezTo>
                <a:close/>
              </a:path>
            </a:pathLst>
          </a:custGeom>
          <a:solidFill>
            <a:srgbClr val="0071E3"/>
          </a:solidFill>
          <a:ln/>
        </p:spPr>
      </p:sp>
      <p:sp>
        <p:nvSpPr>
          <p:cNvPr id="12" name="Text 10"/>
          <p:cNvSpPr/>
          <p:nvPr/>
        </p:nvSpPr>
        <p:spPr>
          <a:xfrm>
            <a:off x="482072" y="2879661"/>
            <a:ext cx="352736" cy="289424"/>
          </a:xfrm>
          <a:prstGeom prst="rect">
            <a:avLst/>
          </a:prstGeom>
          <a:noFill/>
          <a:ln/>
        </p:spPr>
        <p:txBody>
          <a:bodyPr wrap="square" lIns="0" tIns="0" rIns="0" bIns="0" rtlCol="0" anchor="ctr"/>
          <a:lstStyle/>
          <a:p>
            <a:pPr algn="ctr">
              <a:lnSpc>
                <a:spcPct val="120000"/>
              </a:lnSpc>
            </a:pPr>
            <a:r>
              <a:rPr lang="en-US" sz="997" b="1" dirty="0">
                <a:solidFill>
                  <a:srgbClr val="FFFFFF"/>
                </a:solidFill>
                <a:latin typeface="Liter" pitchFamily="34" charset="0"/>
                <a:ea typeface="Liter" pitchFamily="34" charset="-122"/>
                <a:cs typeface="Liter" pitchFamily="34" charset="-120"/>
              </a:rPr>
              <a:t>2</a:t>
            </a:r>
            <a:endParaRPr lang="en-US" sz="1600" dirty="0"/>
          </a:p>
        </p:txBody>
      </p:sp>
      <p:sp>
        <p:nvSpPr>
          <p:cNvPr id="13" name="Text 11"/>
          <p:cNvSpPr/>
          <p:nvPr/>
        </p:nvSpPr>
        <p:spPr>
          <a:xfrm>
            <a:off x="911687" y="2897750"/>
            <a:ext cx="1401899" cy="253246"/>
          </a:xfrm>
          <a:prstGeom prst="rect">
            <a:avLst/>
          </a:prstGeom>
          <a:noFill/>
          <a:ln/>
        </p:spPr>
        <p:txBody>
          <a:bodyPr wrap="square" lIns="0" tIns="0" rIns="0" bIns="0" rtlCol="0" anchor="ctr"/>
          <a:lstStyle/>
          <a:p>
            <a:pPr>
              <a:lnSpc>
                <a:spcPct val="130000"/>
              </a:lnSpc>
            </a:pPr>
            <a:r>
              <a:rPr lang="en-US" sz="1282" b="1" dirty="0">
                <a:solidFill>
                  <a:srgbClr val="1D1D1D"/>
                </a:solidFill>
                <a:latin typeface="Liter" pitchFamily="34" charset="0"/>
                <a:ea typeface="Liter" pitchFamily="34" charset="-122"/>
                <a:cs typeface="Liter" pitchFamily="34" charset="-120"/>
              </a:rPr>
              <a:t>Gestion client web</a:t>
            </a:r>
            <a:endParaRPr lang="en-US" sz="1600" dirty="0"/>
          </a:p>
        </p:txBody>
      </p:sp>
      <p:sp>
        <p:nvSpPr>
          <p:cNvPr id="14" name="Text 12"/>
          <p:cNvSpPr/>
          <p:nvPr/>
        </p:nvSpPr>
        <p:spPr>
          <a:xfrm>
            <a:off x="911687" y="3241441"/>
            <a:ext cx="4956392" cy="217068"/>
          </a:xfrm>
          <a:prstGeom prst="rect">
            <a:avLst/>
          </a:prstGeom>
          <a:noFill/>
          <a:ln/>
        </p:spPr>
        <p:txBody>
          <a:bodyPr wrap="square" lIns="0" tIns="0" rIns="0" bIns="0" rtlCol="0" anchor="ctr"/>
          <a:lstStyle/>
          <a:p>
            <a:pPr>
              <a:lnSpc>
                <a:spcPct val="130000"/>
              </a:lnSpc>
            </a:pPr>
            <a:r>
              <a:rPr lang="en-US" sz="1139" dirty="0">
                <a:solidFill>
                  <a:srgbClr val="86868B"/>
                </a:solidFill>
                <a:latin typeface="Liter" pitchFamily="34" charset="0"/>
                <a:ea typeface="Liter" pitchFamily="34" charset="-122"/>
                <a:cs typeface="Liter" pitchFamily="34" charset="-120"/>
              </a:rPr>
              <a:t>handleWebClient() pour répondre aux requêtes HTTP entrantes</a:t>
            </a:r>
            <a:endParaRPr lang="en-US" sz="1600" dirty="0"/>
          </a:p>
        </p:txBody>
      </p:sp>
      <p:sp>
        <p:nvSpPr>
          <p:cNvPr id="15" name="Shape 13"/>
          <p:cNvSpPr/>
          <p:nvPr/>
        </p:nvSpPr>
        <p:spPr>
          <a:xfrm>
            <a:off x="365398" y="3722607"/>
            <a:ext cx="5578654" cy="875509"/>
          </a:xfrm>
          <a:custGeom>
            <a:avLst/>
            <a:gdLst/>
            <a:ahLst/>
            <a:cxnLst/>
            <a:rect l="l" t="t" r="r" b="b"/>
            <a:pathLst>
              <a:path w="5578654" h="875509">
                <a:moveTo>
                  <a:pt x="108537" y="0"/>
                </a:moveTo>
                <a:lnTo>
                  <a:pt x="5470117" y="0"/>
                </a:lnTo>
                <a:cubicBezTo>
                  <a:pt x="5530060" y="0"/>
                  <a:pt x="5578654" y="48594"/>
                  <a:pt x="5578654" y="108537"/>
                </a:cubicBezTo>
                <a:lnTo>
                  <a:pt x="5578654" y="766972"/>
                </a:lnTo>
                <a:cubicBezTo>
                  <a:pt x="5578654" y="826915"/>
                  <a:pt x="5530060" y="875509"/>
                  <a:pt x="5470117" y="875509"/>
                </a:cubicBezTo>
                <a:lnTo>
                  <a:pt x="108537" y="875509"/>
                </a:lnTo>
                <a:cubicBezTo>
                  <a:pt x="48594" y="875509"/>
                  <a:pt x="0" y="826915"/>
                  <a:pt x="0" y="766972"/>
                </a:cubicBezTo>
                <a:lnTo>
                  <a:pt x="0" y="108537"/>
                </a:lnTo>
                <a:cubicBezTo>
                  <a:pt x="0" y="48594"/>
                  <a:pt x="48594" y="0"/>
                  <a:pt x="108537" y="0"/>
                </a:cubicBezTo>
                <a:close/>
              </a:path>
            </a:pathLst>
          </a:custGeom>
          <a:solidFill>
            <a:srgbClr val="FFFFFF"/>
          </a:solidFill>
          <a:ln w="10160">
            <a:solidFill>
              <a:srgbClr val="E5E5E5"/>
            </a:solidFill>
            <a:prstDash val="solid"/>
          </a:ln>
        </p:spPr>
      </p:sp>
      <p:sp>
        <p:nvSpPr>
          <p:cNvPr id="16" name="Shape 14"/>
          <p:cNvSpPr/>
          <p:nvPr/>
        </p:nvSpPr>
        <p:spPr>
          <a:xfrm>
            <a:off x="513728" y="3870936"/>
            <a:ext cx="289424" cy="289424"/>
          </a:xfrm>
          <a:custGeom>
            <a:avLst/>
            <a:gdLst/>
            <a:ahLst/>
            <a:cxnLst/>
            <a:rect l="l" t="t" r="r" b="b"/>
            <a:pathLst>
              <a:path w="289424" h="289424">
                <a:moveTo>
                  <a:pt x="144712" y="0"/>
                </a:moveTo>
                <a:lnTo>
                  <a:pt x="144712" y="0"/>
                </a:lnTo>
                <a:cubicBezTo>
                  <a:pt x="224581" y="0"/>
                  <a:pt x="289424" y="64843"/>
                  <a:pt x="289424" y="144712"/>
                </a:cubicBezTo>
                <a:lnTo>
                  <a:pt x="289424" y="144712"/>
                </a:lnTo>
                <a:cubicBezTo>
                  <a:pt x="289424" y="224581"/>
                  <a:pt x="224581" y="289424"/>
                  <a:pt x="144712" y="289424"/>
                </a:cubicBezTo>
                <a:lnTo>
                  <a:pt x="144712" y="289424"/>
                </a:lnTo>
                <a:cubicBezTo>
                  <a:pt x="64843" y="289424"/>
                  <a:pt x="0" y="224581"/>
                  <a:pt x="0" y="144712"/>
                </a:cubicBezTo>
                <a:lnTo>
                  <a:pt x="0" y="144712"/>
                </a:lnTo>
                <a:cubicBezTo>
                  <a:pt x="0" y="64843"/>
                  <a:pt x="64843" y="0"/>
                  <a:pt x="144712" y="0"/>
                </a:cubicBezTo>
                <a:close/>
              </a:path>
            </a:pathLst>
          </a:custGeom>
          <a:solidFill>
            <a:srgbClr val="0071E3"/>
          </a:solidFill>
          <a:ln/>
        </p:spPr>
      </p:sp>
      <p:sp>
        <p:nvSpPr>
          <p:cNvPr id="17" name="Text 15"/>
          <p:cNvSpPr/>
          <p:nvPr/>
        </p:nvSpPr>
        <p:spPr>
          <a:xfrm>
            <a:off x="482072" y="3870936"/>
            <a:ext cx="352736" cy="289424"/>
          </a:xfrm>
          <a:prstGeom prst="rect">
            <a:avLst/>
          </a:prstGeom>
          <a:noFill/>
          <a:ln/>
        </p:spPr>
        <p:txBody>
          <a:bodyPr wrap="square" lIns="0" tIns="0" rIns="0" bIns="0" rtlCol="0" anchor="ctr"/>
          <a:lstStyle/>
          <a:p>
            <a:pPr algn="ctr">
              <a:lnSpc>
                <a:spcPct val="120000"/>
              </a:lnSpc>
            </a:pPr>
            <a:r>
              <a:rPr lang="en-US" sz="997" b="1" dirty="0">
                <a:solidFill>
                  <a:srgbClr val="FFFFFF"/>
                </a:solidFill>
                <a:latin typeface="Liter" pitchFamily="34" charset="0"/>
                <a:ea typeface="Liter" pitchFamily="34" charset="-122"/>
                <a:cs typeface="Liter" pitchFamily="34" charset="-120"/>
              </a:rPr>
              <a:t>3</a:t>
            </a:r>
            <a:endParaRPr lang="en-US" sz="1600" dirty="0"/>
          </a:p>
        </p:txBody>
      </p:sp>
      <p:sp>
        <p:nvSpPr>
          <p:cNvPr id="18" name="Text 16"/>
          <p:cNvSpPr/>
          <p:nvPr/>
        </p:nvSpPr>
        <p:spPr>
          <a:xfrm>
            <a:off x="911687" y="3889025"/>
            <a:ext cx="1175786" cy="253246"/>
          </a:xfrm>
          <a:prstGeom prst="rect">
            <a:avLst/>
          </a:prstGeom>
          <a:noFill/>
          <a:ln/>
        </p:spPr>
        <p:txBody>
          <a:bodyPr wrap="square" lIns="0" tIns="0" rIns="0" bIns="0" rtlCol="0" anchor="ctr"/>
          <a:lstStyle/>
          <a:p>
            <a:pPr>
              <a:lnSpc>
                <a:spcPct val="130000"/>
              </a:lnSpc>
            </a:pPr>
            <a:r>
              <a:rPr lang="en-US" sz="1282" b="1" dirty="0">
                <a:solidFill>
                  <a:srgbClr val="1D1D1D"/>
                </a:solidFill>
                <a:latin typeface="Liter" pitchFamily="34" charset="0"/>
                <a:ea typeface="Liter" pitchFamily="34" charset="-122"/>
                <a:cs typeface="Liter" pitchFamily="34" charset="-120"/>
              </a:rPr>
              <a:t>Lecture bouton</a:t>
            </a:r>
            <a:endParaRPr lang="en-US" sz="1600" dirty="0"/>
          </a:p>
        </p:txBody>
      </p:sp>
      <p:sp>
        <p:nvSpPr>
          <p:cNvPr id="19" name="Text 17"/>
          <p:cNvSpPr/>
          <p:nvPr/>
        </p:nvSpPr>
        <p:spPr>
          <a:xfrm>
            <a:off x="911687" y="4232716"/>
            <a:ext cx="4956392" cy="217068"/>
          </a:xfrm>
          <a:prstGeom prst="rect">
            <a:avLst/>
          </a:prstGeom>
          <a:noFill/>
          <a:ln/>
        </p:spPr>
        <p:txBody>
          <a:bodyPr wrap="square" lIns="0" tIns="0" rIns="0" bIns="0" rtlCol="0" anchor="ctr"/>
          <a:lstStyle/>
          <a:p>
            <a:pPr>
              <a:lnSpc>
                <a:spcPct val="130000"/>
              </a:lnSpc>
            </a:pPr>
            <a:r>
              <a:rPr lang="en-US" sz="1139" dirty="0">
                <a:solidFill>
                  <a:srgbClr val="86868B"/>
                </a:solidFill>
                <a:latin typeface="Liter" pitchFamily="34" charset="0"/>
                <a:ea typeface="Liter" pitchFamily="34" charset="-122"/>
                <a:cs typeface="Liter" pitchFamily="34" charset="-120"/>
              </a:rPr>
              <a:t>Détection appui avec anti-rebond 300ms pour calibration</a:t>
            </a:r>
            <a:endParaRPr lang="en-US" sz="1600" dirty="0"/>
          </a:p>
        </p:txBody>
      </p:sp>
      <p:sp>
        <p:nvSpPr>
          <p:cNvPr id="20" name="Shape 18"/>
          <p:cNvSpPr/>
          <p:nvPr/>
        </p:nvSpPr>
        <p:spPr>
          <a:xfrm>
            <a:off x="365398" y="4713891"/>
            <a:ext cx="5578654" cy="875509"/>
          </a:xfrm>
          <a:custGeom>
            <a:avLst/>
            <a:gdLst/>
            <a:ahLst/>
            <a:cxnLst/>
            <a:rect l="l" t="t" r="r" b="b"/>
            <a:pathLst>
              <a:path w="5578654" h="875509">
                <a:moveTo>
                  <a:pt x="108537" y="0"/>
                </a:moveTo>
                <a:lnTo>
                  <a:pt x="5470117" y="0"/>
                </a:lnTo>
                <a:cubicBezTo>
                  <a:pt x="5530060" y="0"/>
                  <a:pt x="5578654" y="48594"/>
                  <a:pt x="5578654" y="108537"/>
                </a:cubicBezTo>
                <a:lnTo>
                  <a:pt x="5578654" y="766972"/>
                </a:lnTo>
                <a:cubicBezTo>
                  <a:pt x="5578654" y="826915"/>
                  <a:pt x="5530060" y="875509"/>
                  <a:pt x="5470117" y="875509"/>
                </a:cubicBezTo>
                <a:lnTo>
                  <a:pt x="108537" y="875509"/>
                </a:lnTo>
                <a:cubicBezTo>
                  <a:pt x="48594" y="875509"/>
                  <a:pt x="0" y="826915"/>
                  <a:pt x="0" y="766972"/>
                </a:cubicBezTo>
                <a:lnTo>
                  <a:pt x="0" y="108537"/>
                </a:lnTo>
                <a:cubicBezTo>
                  <a:pt x="0" y="48594"/>
                  <a:pt x="48594" y="0"/>
                  <a:pt x="108537" y="0"/>
                </a:cubicBezTo>
                <a:close/>
              </a:path>
            </a:pathLst>
          </a:custGeom>
          <a:solidFill>
            <a:srgbClr val="FFFFFF"/>
          </a:solidFill>
          <a:ln w="10160">
            <a:solidFill>
              <a:srgbClr val="E5E5E5"/>
            </a:solidFill>
            <a:prstDash val="solid"/>
          </a:ln>
        </p:spPr>
      </p:sp>
      <p:sp>
        <p:nvSpPr>
          <p:cNvPr id="21" name="Shape 19"/>
          <p:cNvSpPr/>
          <p:nvPr/>
        </p:nvSpPr>
        <p:spPr>
          <a:xfrm>
            <a:off x="513728" y="4862219"/>
            <a:ext cx="289424" cy="289424"/>
          </a:xfrm>
          <a:custGeom>
            <a:avLst/>
            <a:gdLst/>
            <a:ahLst/>
            <a:cxnLst/>
            <a:rect l="l" t="t" r="r" b="b"/>
            <a:pathLst>
              <a:path w="289424" h="289424">
                <a:moveTo>
                  <a:pt x="144712" y="0"/>
                </a:moveTo>
                <a:lnTo>
                  <a:pt x="144712" y="0"/>
                </a:lnTo>
                <a:cubicBezTo>
                  <a:pt x="224581" y="0"/>
                  <a:pt x="289424" y="64843"/>
                  <a:pt x="289424" y="144712"/>
                </a:cubicBezTo>
                <a:lnTo>
                  <a:pt x="289424" y="144712"/>
                </a:lnTo>
                <a:cubicBezTo>
                  <a:pt x="289424" y="224581"/>
                  <a:pt x="224581" y="289424"/>
                  <a:pt x="144712" y="289424"/>
                </a:cubicBezTo>
                <a:lnTo>
                  <a:pt x="144712" y="289424"/>
                </a:lnTo>
                <a:cubicBezTo>
                  <a:pt x="64843" y="289424"/>
                  <a:pt x="0" y="224581"/>
                  <a:pt x="0" y="144712"/>
                </a:cubicBezTo>
                <a:lnTo>
                  <a:pt x="0" y="144712"/>
                </a:lnTo>
                <a:cubicBezTo>
                  <a:pt x="0" y="64843"/>
                  <a:pt x="64843" y="0"/>
                  <a:pt x="144712" y="0"/>
                </a:cubicBezTo>
                <a:close/>
              </a:path>
            </a:pathLst>
          </a:custGeom>
          <a:solidFill>
            <a:srgbClr val="0071E3"/>
          </a:solidFill>
          <a:ln/>
        </p:spPr>
      </p:sp>
      <p:sp>
        <p:nvSpPr>
          <p:cNvPr id="22" name="Text 20"/>
          <p:cNvSpPr/>
          <p:nvPr/>
        </p:nvSpPr>
        <p:spPr>
          <a:xfrm>
            <a:off x="482072" y="4862219"/>
            <a:ext cx="352736" cy="289424"/>
          </a:xfrm>
          <a:prstGeom prst="rect">
            <a:avLst/>
          </a:prstGeom>
          <a:noFill/>
          <a:ln/>
        </p:spPr>
        <p:txBody>
          <a:bodyPr wrap="square" lIns="0" tIns="0" rIns="0" bIns="0" rtlCol="0" anchor="ctr"/>
          <a:lstStyle/>
          <a:p>
            <a:pPr algn="ctr">
              <a:lnSpc>
                <a:spcPct val="120000"/>
              </a:lnSpc>
            </a:pPr>
            <a:r>
              <a:rPr lang="en-US" sz="997" b="1" dirty="0">
                <a:solidFill>
                  <a:srgbClr val="FFFFFF"/>
                </a:solidFill>
                <a:latin typeface="Liter" pitchFamily="34" charset="0"/>
                <a:ea typeface="Liter" pitchFamily="34" charset="-122"/>
                <a:cs typeface="Liter" pitchFamily="34" charset="-120"/>
              </a:rPr>
              <a:t>4</a:t>
            </a:r>
            <a:endParaRPr lang="en-US" sz="1600" dirty="0"/>
          </a:p>
        </p:txBody>
      </p:sp>
      <p:sp>
        <p:nvSpPr>
          <p:cNvPr id="23" name="Text 21"/>
          <p:cNvSpPr/>
          <p:nvPr/>
        </p:nvSpPr>
        <p:spPr>
          <a:xfrm>
            <a:off x="911687" y="4880308"/>
            <a:ext cx="1275276" cy="253246"/>
          </a:xfrm>
          <a:prstGeom prst="rect">
            <a:avLst/>
          </a:prstGeom>
          <a:noFill/>
          <a:ln/>
        </p:spPr>
        <p:txBody>
          <a:bodyPr wrap="square" lIns="0" tIns="0" rIns="0" bIns="0" rtlCol="0" anchor="ctr"/>
          <a:lstStyle/>
          <a:p>
            <a:pPr>
              <a:lnSpc>
                <a:spcPct val="130000"/>
              </a:lnSpc>
            </a:pPr>
            <a:r>
              <a:rPr lang="en-US" sz="1282" b="1" dirty="0">
                <a:solidFill>
                  <a:srgbClr val="1D1D1D"/>
                </a:solidFill>
                <a:latin typeface="Liter" pitchFamily="34" charset="0"/>
                <a:ea typeface="Liter" pitchFamily="34" charset="-122"/>
                <a:cs typeface="Liter" pitchFamily="34" charset="-120"/>
              </a:rPr>
              <a:t>Mesure distance</a:t>
            </a:r>
            <a:endParaRPr lang="en-US" sz="1600" dirty="0"/>
          </a:p>
        </p:txBody>
      </p:sp>
      <p:sp>
        <p:nvSpPr>
          <p:cNvPr id="24" name="Text 22"/>
          <p:cNvSpPr/>
          <p:nvPr/>
        </p:nvSpPr>
        <p:spPr>
          <a:xfrm>
            <a:off x="911687" y="5224000"/>
            <a:ext cx="4956392" cy="217068"/>
          </a:xfrm>
          <a:prstGeom prst="rect">
            <a:avLst/>
          </a:prstGeom>
          <a:noFill/>
          <a:ln/>
        </p:spPr>
        <p:txBody>
          <a:bodyPr wrap="square" lIns="0" tIns="0" rIns="0" bIns="0" rtlCol="0" anchor="ctr"/>
          <a:lstStyle/>
          <a:p>
            <a:pPr>
              <a:lnSpc>
                <a:spcPct val="130000"/>
              </a:lnSpc>
            </a:pPr>
            <a:r>
              <a:rPr lang="en-US" sz="1139" dirty="0">
                <a:solidFill>
                  <a:srgbClr val="86868B"/>
                </a:solidFill>
                <a:latin typeface="Liter" pitchFamily="34" charset="0"/>
                <a:ea typeface="Liter" pitchFamily="34" charset="-122"/>
                <a:cs typeface="Liter" pitchFamily="34" charset="-120"/>
              </a:rPr>
              <a:t>Toutes les 100ms via pulseIn() avec timeout 30ms</a:t>
            </a:r>
            <a:endParaRPr lang="en-US" sz="1600" dirty="0"/>
          </a:p>
        </p:txBody>
      </p:sp>
      <p:sp>
        <p:nvSpPr>
          <p:cNvPr id="25" name="Text 23"/>
          <p:cNvSpPr/>
          <p:nvPr/>
        </p:nvSpPr>
        <p:spPr>
          <a:xfrm>
            <a:off x="6238677" y="1302409"/>
            <a:ext cx="5698042" cy="289424"/>
          </a:xfrm>
          <a:prstGeom prst="rect">
            <a:avLst/>
          </a:prstGeom>
          <a:noFill/>
          <a:ln/>
        </p:spPr>
        <p:txBody>
          <a:bodyPr wrap="square" lIns="0" tIns="0" rIns="0" bIns="0" rtlCol="0" anchor="ctr"/>
          <a:lstStyle/>
          <a:p>
            <a:pPr>
              <a:lnSpc>
                <a:spcPct val="110000"/>
              </a:lnSpc>
            </a:pPr>
            <a:r>
              <a:rPr lang="en-US" sz="1709" b="1" dirty="0">
                <a:solidFill>
                  <a:srgbClr val="1D1D1D"/>
                </a:solidFill>
                <a:latin typeface="Liter" pitchFamily="34" charset="0"/>
                <a:ea typeface="Liter" pitchFamily="34" charset="-122"/>
                <a:cs typeface="Liter" pitchFamily="34" charset="-120"/>
              </a:rPr>
              <a:t>Calcul du niveau d'eau</a:t>
            </a:r>
            <a:endParaRPr lang="en-US" sz="1600" dirty="0"/>
          </a:p>
        </p:txBody>
      </p:sp>
      <p:sp>
        <p:nvSpPr>
          <p:cNvPr id="26" name="Shape 24"/>
          <p:cNvSpPr/>
          <p:nvPr/>
        </p:nvSpPr>
        <p:spPr>
          <a:xfrm>
            <a:off x="6242295" y="1740049"/>
            <a:ext cx="5578654" cy="3010013"/>
          </a:xfrm>
          <a:custGeom>
            <a:avLst/>
            <a:gdLst/>
            <a:ahLst/>
            <a:cxnLst/>
            <a:rect l="l" t="t" r="r" b="b"/>
            <a:pathLst>
              <a:path w="5578654" h="3010013">
                <a:moveTo>
                  <a:pt x="144721" y="0"/>
                </a:moveTo>
                <a:lnTo>
                  <a:pt x="5433933" y="0"/>
                </a:lnTo>
                <a:cubicBezTo>
                  <a:pt x="5513860" y="0"/>
                  <a:pt x="5578654" y="64794"/>
                  <a:pt x="5578654" y="144721"/>
                </a:cubicBezTo>
                <a:lnTo>
                  <a:pt x="5578654" y="2865292"/>
                </a:lnTo>
                <a:cubicBezTo>
                  <a:pt x="5578654" y="2945219"/>
                  <a:pt x="5513860" y="3010013"/>
                  <a:pt x="5433933" y="3010013"/>
                </a:cubicBezTo>
                <a:lnTo>
                  <a:pt x="144721" y="3010013"/>
                </a:lnTo>
                <a:cubicBezTo>
                  <a:pt x="64794" y="3010013"/>
                  <a:pt x="0" y="2945219"/>
                  <a:pt x="0" y="2865292"/>
                </a:cubicBezTo>
                <a:lnTo>
                  <a:pt x="0" y="144721"/>
                </a:lnTo>
                <a:cubicBezTo>
                  <a:pt x="0" y="64847"/>
                  <a:pt x="64847" y="0"/>
                  <a:pt x="144721" y="0"/>
                </a:cubicBezTo>
                <a:close/>
              </a:path>
            </a:pathLst>
          </a:custGeom>
          <a:solidFill>
            <a:srgbClr val="FFFFFF"/>
          </a:solidFill>
          <a:ln w="10160">
            <a:solidFill>
              <a:srgbClr val="E5E5E5"/>
            </a:solidFill>
            <a:prstDash val="solid"/>
          </a:ln>
        </p:spPr>
      </p:sp>
      <p:sp>
        <p:nvSpPr>
          <p:cNvPr id="27" name="Text 25"/>
          <p:cNvSpPr/>
          <p:nvPr/>
        </p:nvSpPr>
        <p:spPr>
          <a:xfrm>
            <a:off x="6462981" y="1960742"/>
            <a:ext cx="5209638" cy="217068"/>
          </a:xfrm>
          <a:prstGeom prst="rect">
            <a:avLst/>
          </a:prstGeom>
          <a:noFill/>
          <a:ln/>
        </p:spPr>
        <p:txBody>
          <a:bodyPr wrap="square" lIns="0" tIns="0" rIns="0" bIns="0" rtlCol="0" anchor="ctr"/>
          <a:lstStyle/>
          <a:p>
            <a:pPr>
              <a:lnSpc>
                <a:spcPct val="130000"/>
              </a:lnSpc>
            </a:pPr>
            <a:r>
              <a:rPr lang="en-US" sz="1139" dirty="0">
                <a:solidFill>
                  <a:srgbClr val="86868B"/>
                </a:solidFill>
                <a:latin typeface="Liter" pitchFamily="34" charset="0"/>
                <a:ea typeface="Liter" pitchFamily="34" charset="-122"/>
                <a:cs typeface="Liter" pitchFamily="34" charset="-120"/>
              </a:rPr>
              <a:t>Distance mesurée</a:t>
            </a:r>
            <a:endParaRPr lang="en-US" sz="1600" dirty="0"/>
          </a:p>
        </p:txBody>
      </p:sp>
      <p:sp>
        <p:nvSpPr>
          <p:cNvPr id="28" name="Shape 26"/>
          <p:cNvSpPr/>
          <p:nvPr/>
        </p:nvSpPr>
        <p:spPr>
          <a:xfrm>
            <a:off x="6462981" y="2250166"/>
            <a:ext cx="5137282" cy="470315"/>
          </a:xfrm>
          <a:custGeom>
            <a:avLst/>
            <a:gdLst/>
            <a:ahLst/>
            <a:cxnLst/>
            <a:rect l="l" t="t" r="r" b="b"/>
            <a:pathLst>
              <a:path w="5137282" h="470315">
                <a:moveTo>
                  <a:pt x="72358" y="0"/>
                </a:moveTo>
                <a:lnTo>
                  <a:pt x="5064924" y="0"/>
                </a:lnTo>
                <a:cubicBezTo>
                  <a:pt x="5104886" y="0"/>
                  <a:pt x="5137282" y="32396"/>
                  <a:pt x="5137282" y="72358"/>
                </a:cubicBezTo>
                <a:lnTo>
                  <a:pt x="5137282" y="397957"/>
                </a:lnTo>
                <a:cubicBezTo>
                  <a:pt x="5137282" y="437919"/>
                  <a:pt x="5104886" y="470315"/>
                  <a:pt x="5064924" y="470315"/>
                </a:cubicBezTo>
                <a:lnTo>
                  <a:pt x="72358" y="470315"/>
                </a:lnTo>
                <a:cubicBezTo>
                  <a:pt x="32422" y="470315"/>
                  <a:pt x="0" y="437892"/>
                  <a:pt x="0" y="397957"/>
                </a:cubicBezTo>
                <a:lnTo>
                  <a:pt x="0" y="72358"/>
                </a:lnTo>
                <a:cubicBezTo>
                  <a:pt x="0" y="32422"/>
                  <a:pt x="32422" y="0"/>
                  <a:pt x="72358" y="0"/>
                </a:cubicBezTo>
                <a:close/>
              </a:path>
            </a:pathLst>
          </a:custGeom>
          <a:solidFill>
            <a:srgbClr val="F5F5F7"/>
          </a:solidFill>
          <a:ln/>
        </p:spPr>
      </p:sp>
      <p:sp>
        <p:nvSpPr>
          <p:cNvPr id="29" name="Text 27"/>
          <p:cNvSpPr/>
          <p:nvPr/>
        </p:nvSpPr>
        <p:spPr>
          <a:xfrm>
            <a:off x="6462981" y="2250166"/>
            <a:ext cx="5218682" cy="470315"/>
          </a:xfrm>
          <a:prstGeom prst="rect">
            <a:avLst/>
          </a:prstGeom>
          <a:noFill/>
          <a:ln/>
        </p:spPr>
        <p:txBody>
          <a:bodyPr wrap="square" lIns="108534" tIns="108534" rIns="108534" bIns="108534" rtlCol="0" anchor="ctr"/>
          <a:lstStyle/>
          <a:p>
            <a:pPr>
              <a:lnSpc>
                <a:spcPct val="130000"/>
              </a:lnSpc>
            </a:pPr>
            <a:r>
              <a:rPr lang="en-US" sz="1282" dirty="0">
                <a:solidFill>
                  <a:srgbClr val="1D1D1D"/>
                </a:solidFill>
                <a:latin typeface="MiSans" pitchFamily="34" charset="0"/>
                <a:ea typeface="MiSans" pitchFamily="34" charset="-122"/>
                <a:cs typeface="MiSans" pitchFamily="34" charset="-120"/>
              </a:rPr>
              <a:t>distance = (duration × 0.0343) / 2</a:t>
            </a:r>
            <a:endParaRPr lang="en-US" sz="1600" dirty="0"/>
          </a:p>
        </p:txBody>
      </p:sp>
      <p:sp>
        <p:nvSpPr>
          <p:cNvPr id="30" name="Text 28"/>
          <p:cNvSpPr/>
          <p:nvPr/>
        </p:nvSpPr>
        <p:spPr>
          <a:xfrm>
            <a:off x="6462981" y="2865193"/>
            <a:ext cx="5209638" cy="217068"/>
          </a:xfrm>
          <a:prstGeom prst="rect">
            <a:avLst/>
          </a:prstGeom>
          <a:noFill/>
          <a:ln/>
        </p:spPr>
        <p:txBody>
          <a:bodyPr wrap="square" lIns="0" tIns="0" rIns="0" bIns="0" rtlCol="0" anchor="ctr"/>
          <a:lstStyle/>
          <a:p>
            <a:pPr>
              <a:lnSpc>
                <a:spcPct val="130000"/>
              </a:lnSpc>
            </a:pPr>
            <a:r>
              <a:rPr lang="en-US" sz="1139" dirty="0">
                <a:solidFill>
                  <a:srgbClr val="86868B"/>
                </a:solidFill>
                <a:latin typeface="Liter" pitchFamily="34" charset="0"/>
                <a:ea typeface="Liter" pitchFamily="34" charset="-122"/>
                <a:cs typeface="Liter" pitchFamily="34" charset="-120"/>
              </a:rPr>
              <a:t>Niveau d'eau</a:t>
            </a:r>
            <a:endParaRPr lang="en-US" sz="1600" dirty="0"/>
          </a:p>
        </p:txBody>
      </p:sp>
      <p:sp>
        <p:nvSpPr>
          <p:cNvPr id="31" name="Shape 29"/>
          <p:cNvSpPr/>
          <p:nvPr/>
        </p:nvSpPr>
        <p:spPr>
          <a:xfrm>
            <a:off x="6462981" y="3154617"/>
            <a:ext cx="5137282" cy="470315"/>
          </a:xfrm>
          <a:custGeom>
            <a:avLst/>
            <a:gdLst/>
            <a:ahLst/>
            <a:cxnLst/>
            <a:rect l="l" t="t" r="r" b="b"/>
            <a:pathLst>
              <a:path w="5137282" h="470315">
                <a:moveTo>
                  <a:pt x="72358" y="0"/>
                </a:moveTo>
                <a:lnTo>
                  <a:pt x="5064924" y="0"/>
                </a:lnTo>
                <a:cubicBezTo>
                  <a:pt x="5104886" y="0"/>
                  <a:pt x="5137282" y="32396"/>
                  <a:pt x="5137282" y="72358"/>
                </a:cubicBezTo>
                <a:lnTo>
                  <a:pt x="5137282" y="397957"/>
                </a:lnTo>
                <a:cubicBezTo>
                  <a:pt x="5137282" y="437919"/>
                  <a:pt x="5104886" y="470315"/>
                  <a:pt x="5064924" y="470315"/>
                </a:cubicBezTo>
                <a:lnTo>
                  <a:pt x="72358" y="470315"/>
                </a:lnTo>
                <a:cubicBezTo>
                  <a:pt x="32422" y="470315"/>
                  <a:pt x="0" y="437892"/>
                  <a:pt x="0" y="397957"/>
                </a:cubicBezTo>
                <a:lnTo>
                  <a:pt x="0" y="72358"/>
                </a:lnTo>
                <a:cubicBezTo>
                  <a:pt x="0" y="32422"/>
                  <a:pt x="32422" y="0"/>
                  <a:pt x="72358" y="0"/>
                </a:cubicBezTo>
                <a:close/>
              </a:path>
            </a:pathLst>
          </a:custGeom>
          <a:solidFill>
            <a:srgbClr val="F5F5F7"/>
          </a:solidFill>
          <a:ln/>
        </p:spPr>
      </p:sp>
      <p:sp>
        <p:nvSpPr>
          <p:cNvPr id="32" name="Text 30"/>
          <p:cNvSpPr/>
          <p:nvPr/>
        </p:nvSpPr>
        <p:spPr>
          <a:xfrm>
            <a:off x="6462981" y="3154617"/>
            <a:ext cx="5218682" cy="470315"/>
          </a:xfrm>
          <a:prstGeom prst="rect">
            <a:avLst/>
          </a:prstGeom>
          <a:noFill/>
          <a:ln/>
        </p:spPr>
        <p:txBody>
          <a:bodyPr wrap="square" lIns="108534" tIns="108534" rIns="108534" bIns="108534" rtlCol="0" anchor="ctr"/>
          <a:lstStyle/>
          <a:p>
            <a:pPr>
              <a:lnSpc>
                <a:spcPct val="130000"/>
              </a:lnSpc>
            </a:pPr>
            <a:r>
              <a:rPr lang="en-US" sz="1282" dirty="0">
                <a:solidFill>
                  <a:srgbClr val="1D1D1D"/>
                </a:solidFill>
                <a:latin typeface="MiSans" pitchFamily="34" charset="0"/>
                <a:ea typeface="MiSans" pitchFamily="34" charset="-122"/>
                <a:cs typeface="MiSans" pitchFamily="34" charset="-120"/>
              </a:rPr>
              <a:t>waterLevel = calibrationDistance - distance</a:t>
            </a:r>
            <a:endParaRPr lang="en-US" sz="1600" dirty="0"/>
          </a:p>
        </p:txBody>
      </p:sp>
      <p:sp>
        <p:nvSpPr>
          <p:cNvPr id="33" name="Text 31"/>
          <p:cNvSpPr/>
          <p:nvPr/>
        </p:nvSpPr>
        <p:spPr>
          <a:xfrm>
            <a:off x="6462981" y="3769644"/>
            <a:ext cx="5209638" cy="217068"/>
          </a:xfrm>
          <a:prstGeom prst="rect">
            <a:avLst/>
          </a:prstGeom>
          <a:noFill/>
          <a:ln/>
        </p:spPr>
        <p:txBody>
          <a:bodyPr wrap="square" lIns="0" tIns="0" rIns="0" bIns="0" rtlCol="0" anchor="ctr"/>
          <a:lstStyle/>
          <a:p>
            <a:pPr>
              <a:lnSpc>
                <a:spcPct val="130000"/>
              </a:lnSpc>
            </a:pPr>
            <a:r>
              <a:rPr lang="en-US" sz="1139" dirty="0">
                <a:solidFill>
                  <a:srgbClr val="86868B"/>
                </a:solidFill>
                <a:latin typeface="Liter" pitchFamily="34" charset="0"/>
                <a:ea typeface="Liter" pitchFamily="34" charset="-122"/>
                <a:cs typeface="Liter" pitchFamily="34" charset="-120"/>
              </a:rPr>
              <a:t>Pourcentage remplissage</a:t>
            </a:r>
            <a:endParaRPr lang="en-US" sz="1600" dirty="0"/>
          </a:p>
        </p:txBody>
      </p:sp>
      <p:sp>
        <p:nvSpPr>
          <p:cNvPr id="34" name="Shape 32"/>
          <p:cNvSpPr/>
          <p:nvPr/>
        </p:nvSpPr>
        <p:spPr>
          <a:xfrm>
            <a:off x="6462981" y="4059069"/>
            <a:ext cx="5137282" cy="470315"/>
          </a:xfrm>
          <a:custGeom>
            <a:avLst/>
            <a:gdLst/>
            <a:ahLst/>
            <a:cxnLst/>
            <a:rect l="l" t="t" r="r" b="b"/>
            <a:pathLst>
              <a:path w="5137282" h="470315">
                <a:moveTo>
                  <a:pt x="72358" y="0"/>
                </a:moveTo>
                <a:lnTo>
                  <a:pt x="5064924" y="0"/>
                </a:lnTo>
                <a:cubicBezTo>
                  <a:pt x="5104886" y="0"/>
                  <a:pt x="5137282" y="32396"/>
                  <a:pt x="5137282" y="72358"/>
                </a:cubicBezTo>
                <a:lnTo>
                  <a:pt x="5137282" y="397957"/>
                </a:lnTo>
                <a:cubicBezTo>
                  <a:pt x="5137282" y="437919"/>
                  <a:pt x="5104886" y="470315"/>
                  <a:pt x="5064924" y="470315"/>
                </a:cubicBezTo>
                <a:lnTo>
                  <a:pt x="72358" y="470315"/>
                </a:lnTo>
                <a:cubicBezTo>
                  <a:pt x="32422" y="470315"/>
                  <a:pt x="0" y="437892"/>
                  <a:pt x="0" y="397957"/>
                </a:cubicBezTo>
                <a:lnTo>
                  <a:pt x="0" y="72358"/>
                </a:lnTo>
                <a:cubicBezTo>
                  <a:pt x="0" y="32422"/>
                  <a:pt x="32422" y="0"/>
                  <a:pt x="72358" y="0"/>
                </a:cubicBezTo>
                <a:close/>
              </a:path>
            </a:pathLst>
          </a:custGeom>
          <a:solidFill>
            <a:srgbClr val="F5F5F7"/>
          </a:solidFill>
          <a:ln/>
        </p:spPr>
      </p:sp>
      <p:sp>
        <p:nvSpPr>
          <p:cNvPr id="35" name="Text 33"/>
          <p:cNvSpPr/>
          <p:nvPr/>
        </p:nvSpPr>
        <p:spPr>
          <a:xfrm>
            <a:off x="6462981" y="4059069"/>
            <a:ext cx="5218682" cy="470315"/>
          </a:xfrm>
          <a:prstGeom prst="rect">
            <a:avLst/>
          </a:prstGeom>
          <a:noFill/>
          <a:ln/>
        </p:spPr>
        <p:txBody>
          <a:bodyPr wrap="square" lIns="108534" tIns="108534" rIns="108534" bIns="108534" rtlCol="0" anchor="ctr"/>
          <a:lstStyle/>
          <a:p>
            <a:pPr>
              <a:lnSpc>
                <a:spcPct val="130000"/>
              </a:lnSpc>
            </a:pPr>
            <a:r>
              <a:rPr lang="en-US" sz="1282" dirty="0">
                <a:solidFill>
                  <a:srgbClr val="1D1D1D"/>
                </a:solidFill>
                <a:latin typeface="MiSans" pitchFamily="34" charset="0"/>
                <a:ea typeface="MiSans" pitchFamily="34" charset="-122"/>
                <a:cs typeface="MiSans" pitchFamily="34" charset="-120"/>
              </a:rPr>
              <a:t>fillPercent = (waterLevel / calibration) × 100</a:t>
            </a:r>
            <a:endParaRPr lang="en-US" sz="1600" dirty="0"/>
          </a:p>
        </p:txBody>
      </p:sp>
      <p:sp>
        <p:nvSpPr>
          <p:cNvPr id="36" name="Text 34"/>
          <p:cNvSpPr/>
          <p:nvPr/>
        </p:nvSpPr>
        <p:spPr>
          <a:xfrm>
            <a:off x="6238677" y="4934575"/>
            <a:ext cx="5698042" cy="289424"/>
          </a:xfrm>
          <a:prstGeom prst="rect">
            <a:avLst/>
          </a:prstGeom>
          <a:noFill/>
          <a:ln/>
        </p:spPr>
        <p:txBody>
          <a:bodyPr wrap="square" lIns="0" tIns="0" rIns="0" bIns="0" rtlCol="0" anchor="ctr"/>
          <a:lstStyle/>
          <a:p>
            <a:pPr>
              <a:lnSpc>
                <a:spcPct val="110000"/>
              </a:lnSpc>
            </a:pPr>
            <a:r>
              <a:rPr lang="en-US" sz="1709" b="1" dirty="0">
                <a:solidFill>
                  <a:srgbClr val="1D1D1D"/>
                </a:solidFill>
                <a:latin typeface="Liter" pitchFamily="34" charset="0"/>
                <a:ea typeface="Liter" pitchFamily="34" charset="-122"/>
                <a:cs typeface="Liter" pitchFamily="34" charset="-120"/>
              </a:rPr>
              <a:t>Affichage 7 segments</a:t>
            </a:r>
            <a:endParaRPr lang="en-US" sz="1600" dirty="0"/>
          </a:p>
        </p:txBody>
      </p:sp>
      <p:sp>
        <p:nvSpPr>
          <p:cNvPr id="37" name="Shape 35"/>
          <p:cNvSpPr/>
          <p:nvPr/>
        </p:nvSpPr>
        <p:spPr>
          <a:xfrm>
            <a:off x="6242295" y="5372215"/>
            <a:ext cx="5578654" cy="441372"/>
          </a:xfrm>
          <a:custGeom>
            <a:avLst/>
            <a:gdLst/>
            <a:ahLst/>
            <a:cxnLst/>
            <a:rect l="l" t="t" r="r" b="b"/>
            <a:pathLst>
              <a:path w="5578654" h="441372">
                <a:moveTo>
                  <a:pt x="72354" y="0"/>
                </a:moveTo>
                <a:lnTo>
                  <a:pt x="5506300" y="0"/>
                </a:lnTo>
                <a:cubicBezTo>
                  <a:pt x="5546260" y="0"/>
                  <a:pt x="5578654" y="32394"/>
                  <a:pt x="5578654" y="72354"/>
                </a:cubicBezTo>
                <a:lnTo>
                  <a:pt x="5578654" y="369018"/>
                </a:lnTo>
                <a:cubicBezTo>
                  <a:pt x="5578654" y="408978"/>
                  <a:pt x="5546260" y="441372"/>
                  <a:pt x="5506300" y="441372"/>
                </a:cubicBezTo>
                <a:lnTo>
                  <a:pt x="72354" y="441372"/>
                </a:lnTo>
                <a:cubicBezTo>
                  <a:pt x="32394" y="441372"/>
                  <a:pt x="0" y="408978"/>
                  <a:pt x="0" y="369018"/>
                </a:cubicBezTo>
                <a:lnTo>
                  <a:pt x="0" y="72354"/>
                </a:lnTo>
                <a:cubicBezTo>
                  <a:pt x="0" y="32421"/>
                  <a:pt x="32421" y="0"/>
                  <a:pt x="72354" y="0"/>
                </a:cubicBezTo>
                <a:close/>
              </a:path>
            </a:pathLst>
          </a:custGeom>
          <a:solidFill>
            <a:srgbClr val="FFFFFF"/>
          </a:solidFill>
          <a:ln w="10160">
            <a:solidFill>
              <a:srgbClr val="E5E5E5"/>
            </a:solidFill>
            <a:prstDash val="solid"/>
          </a:ln>
        </p:spPr>
      </p:sp>
      <p:sp>
        <p:nvSpPr>
          <p:cNvPr id="38" name="Text 36"/>
          <p:cNvSpPr/>
          <p:nvPr/>
        </p:nvSpPr>
        <p:spPr>
          <a:xfrm>
            <a:off x="6354447" y="5484365"/>
            <a:ext cx="1003941" cy="217068"/>
          </a:xfrm>
          <a:prstGeom prst="rect">
            <a:avLst/>
          </a:prstGeom>
          <a:noFill/>
          <a:ln/>
        </p:spPr>
        <p:txBody>
          <a:bodyPr wrap="square" lIns="0" tIns="0" rIns="0" bIns="0" rtlCol="0" anchor="ctr"/>
          <a:lstStyle/>
          <a:p>
            <a:pPr>
              <a:lnSpc>
                <a:spcPct val="130000"/>
              </a:lnSpc>
            </a:pPr>
            <a:r>
              <a:rPr lang="en-US" sz="1139" dirty="0">
                <a:solidFill>
                  <a:srgbClr val="86868B"/>
                </a:solidFill>
                <a:latin typeface="Liter" pitchFamily="34" charset="0"/>
                <a:ea typeface="Liter" pitchFamily="34" charset="-122"/>
                <a:cs typeface="Liter" pitchFamily="34" charset="-120"/>
              </a:rPr>
              <a:t>Niveau &lt; 10cm</a:t>
            </a:r>
            <a:endParaRPr lang="en-US" sz="1600" dirty="0"/>
          </a:p>
        </p:txBody>
      </p:sp>
      <p:sp>
        <p:nvSpPr>
          <p:cNvPr id="39" name="Text 37"/>
          <p:cNvSpPr/>
          <p:nvPr/>
        </p:nvSpPr>
        <p:spPr>
          <a:xfrm>
            <a:off x="10198590" y="5484365"/>
            <a:ext cx="1582789" cy="217068"/>
          </a:xfrm>
          <a:prstGeom prst="rect">
            <a:avLst/>
          </a:prstGeom>
          <a:noFill/>
          <a:ln/>
        </p:spPr>
        <p:txBody>
          <a:bodyPr wrap="square" lIns="0" tIns="0" rIns="0" bIns="0" rtlCol="0" anchor="ctr"/>
          <a:lstStyle/>
          <a:p>
            <a:pPr>
              <a:lnSpc>
                <a:spcPct val="130000"/>
              </a:lnSpc>
            </a:pPr>
            <a:r>
              <a:rPr lang="en-US" sz="1139" dirty="0">
                <a:solidFill>
                  <a:srgbClr val="1D1D1D"/>
                </a:solidFill>
                <a:latin typeface="MiSans" pitchFamily="34" charset="0"/>
                <a:ea typeface="MiSans" pitchFamily="34" charset="-122"/>
                <a:cs typeface="MiSans" pitchFamily="34" charset="-120"/>
              </a:rPr>
              <a:t>XX.XX (2 décimales)</a:t>
            </a:r>
            <a:endParaRPr lang="en-US" sz="1600" dirty="0"/>
          </a:p>
        </p:txBody>
      </p:sp>
      <p:sp>
        <p:nvSpPr>
          <p:cNvPr id="40" name="Shape 38"/>
          <p:cNvSpPr/>
          <p:nvPr/>
        </p:nvSpPr>
        <p:spPr>
          <a:xfrm>
            <a:off x="6242295" y="5893175"/>
            <a:ext cx="5578654" cy="441372"/>
          </a:xfrm>
          <a:custGeom>
            <a:avLst/>
            <a:gdLst/>
            <a:ahLst/>
            <a:cxnLst/>
            <a:rect l="l" t="t" r="r" b="b"/>
            <a:pathLst>
              <a:path w="5578654" h="441372">
                <a:moveTo>
                  <a:pt x="72354" y="0"/>
                </a:moveTo>
                <a:lnTo>
                  <a:pt x="5506300" y="0"/>
                </a:lnTo>
                <a:cubicBezTo>
                  <a:pt x="5546260" y="0"/>
                  <a:pt x="5578654" y="32394"/>
                  <a:pt x="5578654" y="72354"/>
                </a:cubicBezTo>
                <a:lnTo>
                  <a:pt x="5578654" y="369018"/>
                </a:lnTo>
                <a:cubicBezTo>
                  <a:pt x="5578654" y="408978"/>
                  <a:pt x="5546260" y="441372"/>
                  <a:pt x="5506300" y="441372"/>
                </a:cubicBezTo>
                <a:lnTo>
                  <a:pt x="72354" y="441372"/>
                </a:lnTo>
                <a:cubicBezTo>
                  <a:pt x="32394" y="441372"/>
                  <a:pt x="0" y="408978"/>
                  <a:pt x="0" y="369018"/>
                </a:cubicBezTo>
                <a:lnTo>
                  <a:pt x="0" y="72354"/>
                </a:lnTo>
                <a:cubicBezTo>
                  <a:pt x="0" y="32421"/>
                  <a:pt x="32421" y="0"/>
                  <a:pt x="72354" y="0"/>
                </a:cubicBezTo>
                <a:close/>
              </a:path>
            </a:pathLst>
          </a:custGeom>
          <a:solidFill>
            <a:srgbClr val="FFFFFF"/>
          </a:solidFill>
          <a:ln w="10160">
            <a:solidFill>
              <a:srgbClr val="E5E5E5"/>
            </a:solidFill>
            <a:prstDash val="solid"/>
          </a:ln>
        </p:spPr>
      </p:sp>
      <p:sp>
        <p:nvSpPr>
          <p:cNvPr id="41" name="Text 39"/>
          <p:cNvSpPr/>
          <p:nvPr/>
        </p:nvSpPr>
        <p:spPr>
          <a:xfrm>
            <a:off x="6354447" y="6005334"/>
            <a:ext cx="1094386" cy="217068"/>
          </a:xfrm>
          <a:prstGeom prst="rect">
            <a:avLst/>
          </a:prstGeom>
          <a:noFill/>
          <a:ln/>
        </p:spPr>
        <p:txBody>
          <a:bodyPr wrap="square" lIns="0" tIns="0" rIns="0" bIns="0" rtlCol="0" anchor="ctr"/>
          <a:lstStyle/>
          <a:p>
            <a:pPr>
              <a:lnSpc>
                <a:spcPct val="130000"/>
              </a:lnSpc>
            </a:pPr>
            <a:r>
              <a:rPr lang="en-US" sz="1139" dirty="0">
                <a:solidFill>
                  <a:srgbClr val="86868B"/>
                </a:solidFill>
                <a:latin typeface="Liter" pitchFamily="34" charset="0"/>
                <a:ea typeface="Liter" pitchFamily="34" charset="-122"/>
                <a:cs typeface="Liter" pitchFamily="34" charset="-120"/>
              </a:rPr>
              <a:t>Niveau &lt; 100cm</a:t>
            </a:r>
            <a:endParaRPr lang="en-US" sz="1600" dirty="0"/>
          </a:p>
        </p:txBody>
      </p:sp>
      <p:sp>
        <p:nvSpPr>
          <p:cNvPr id="42" name="Text 40"/>
          <p:cNvSpPr/>
          <p:nvPr/>
        </p:nvSpPr>
        <p:spPr>
          <a:xfrm>
            <a:off x="10278182" y="6005334"/>
            <a:ext cx="1501389" cy="217068"/>
          </a:xfrm>
          <a:prstGeom prst="rect">
            <a:avLst/>
          </a:prstGeom>
          <a:noFill/>
          <a:ln/>
        </p:spPr>
        <p:txBody>
          <a:bodyPr wrap="square" lIns="0" tIns="0" rIns="0" bIns="0" rtlCol="0" anchor="ctr"/>
          <a:lstStyle/>
          <a:p>
            <a:pPr>
              <a:lnSpc>
                <a:spcPct val="130000"/>
              </a:lnSpc>
            </a:pPr>
            <a:r>
              <a:rPr lang="en-US" sz="1139" dirty="0">
                <a:solidFill>
                  <a:srgbClr val="1D1D1D"/>
                </a:solidFill>
                <a:latin typeface="MiSans" pitchFamily="34" charset="0"/>
                <a:ea typeface="MiSans" pitchFamily="34" charset="-122"/>
                <a:cs typeface="MiSans" pitchFamily="34" charset="-120"/>
              </a:rPr>
              <a:t>XXX.X (1 décimale)</a:t>
            </a:r>
            <a:endParaRPr lang="en-US" sz="1600" dirty="0"/>
          </a:p>
        </p:txBody>
      </p:sp>
      <p:sp>
        <p:nvSpPr>
          <p:cNvPr id="43" name="Shape 41"/>
          <p:cNvSpPr/>
          <p:nvPr/>
        </p:nvSpPr>
        <p:spPr>
          <a:xfrm>
            <a:off x="6242295" y="6414144"/>
            <a:ext cx="5578654" cy="441372"/>
          </a:xfrm>
          <a:custGeom>
            <a:avLst/>
            <a:gdLst/>
            <a:ahLst/>
            <a:cxnLst/>
            <a:rect l="l" t="t" r="r" b="b"/>
            <a:pathLst>
              <a:path w="5578654" h="441372">
                <a:moveTo>
                  <a:pt x="72354" y="0"/>
                </a:moveTo>
                <a:lnTo>
                  <a:pt x="5506300" y="0"/>
                </a:lnTo>
                <a:cubicBezTo>
                  <a:pt x="5546260" y="0"/>
                  <a:pt x="5578654" y="32394"/>
                  <a:pt x="5578654" y="72354"/>
                </a:cubicBezTo>
                <a:lnTo>
                  <a:pt x="5578654" y="369018"/>
                </a:lnTo>
                <a:cubicBezTo>
                  <a:pt x="5578654" y="408978"/>
                  <a:pt x="5546260" y="441372"/>
                  <a:pt x="5506300" y="441372"/>
                </a:cubicBezTo>
                <a:lnTo>
                  <a:pt x="72354" y="441372"/>
                </a:lnTo>
                <a:cubicBezTo>
                  <a:pt x="32394" y="441372"/>
                  <a:pt x="0" y="408978"/>
                  <a:pt x="0" y="369018"/>
                </a:cubicBezTo>
                <a:lnTo>
                  <a:pt x="0" y="72354"/>
                </a:lnTo>
                <a:cubicBezTo>
                  <a:pt x="0" y="32421"/>
                  <a:pt x="32421" y="0"/>
                  <a:pt x="72354" y="0"/>
                </a:cubicBezTo>
                <a:close/>
              </a:path>
            </a:pathLst>
          </a:custGeom>
          <a:solidFill>
            <a:srgbClr val="FFFFFF"/>
          </a:solidFill>
          <a:ln w="10160">
            <a:solidFill>
              <a:srgbClr val="E5E5E5"/>
            </a:solidFill>
            <a:prstDash val="solid"/>
          </a:ln>
        </p:spPr>
      </p:sp>
      <p:sp>
        <p:nvSpPr>
          <p:cNvPr id="44" name="Text 42"/>
          <p:cNvSpPr/>
          <p:nvPr/>
        </p:nvSpPr>
        <p:spPr>
          <a:xfrm>
            <a:off x="6354447" y="6526294"/>
            <a:ext cx="1103430" cy="217068"/>
          </a:xfrm>
          <a:prstGeom prst="rect">
            <a:avLst/>
          </a:prstGeom>
          <a:noFill/>
          <a:ln/>
        </p:spPr>
        <p:txBody>
          <a:bodyPr wrap="square" lIns="0" tIns="0" rIns="0" bIns="0" rtlCol="0" anchor="ctr"/>
          <a:lstStyle/>
          <a:p>
            <a:pPr>
              <a:lnSpc>
                <a:spcPct val="130000"/>
              </a:lnSpc>
            </a:pPr>
            <a:r>
              <a:rPr lang="en-US" sz="1139" dirty="0">
                <a:solidFill>
                  <a:srgbClr val="86868B"/>
                </a:solidFill>
                <a:latin typeface="Liter" pitchFamily="34" charset="0"/>
                <a:ea typeface="Liter" pitchFamily="34" charset="-122"/>
                <a:cs typeface="Liter" pitchFamily="34" charset="-120"/>
              </a:rPr>
              <a:t>Niveau ≥ 100cm</a:t>
            </a:r>
            <a:endParaRPr lang="en-US" sz="1600" dirty="0"/>
          </a:p>
        </p:txBody>
      </p:sp>
      <p:sp>
        <p:nvSpPr>
          <p:cNvPr id="45" name="Text 43"/>
          <p:cNvSpPr/>
          <p:nvPr/>
        </p:nvSpPr>
        <p:spPr>
          <a:xfrm>
            <a:off x="10357774" y="6526294"/>
            <a:ext cx="1429033" cy="217068"/>
          </a:xfrm>
          <a:prstGeom prst="rect">
            <a:avLst/>
          </a:prstGeom>
          <a:noFill/>
          <a:ln/>
        </p:spPr>
        <p:txBody>
          <a:bodyPr wrap="square" lIns="0" tIns="0" rIns="0" bIns="0" rtlCol="0" anchor="ctr"/>
          <a:lstStyle/>
          <a:p>
            <a:pPr>
              <a:lnSpc>
                <a:spcPct val="130000"/>
              </a:lnSpc>
            </a:pPr>
            <a:r>
              <a:rPr lang="en-US" sz="1139" dirty="0">
                <a:solidFill>
                  <a:srgbClr val="1D1D1D"/>
                </a:solidFill>
                <a:latin typeface="MiSans" pitchFamily="34" charset="0"/>
                <a:ea typeface="MiSans" pitchFamily="34" charset="-122"/>
                <a:cs typeface="MiSans" pitchFamily="34" charset="-120"/>
              </a:rPr>
              <a:t>XXXX (0 décimale)</a:t>
            </a:r>
            <a:endParaRPr lang="en-US" sz="1600" dirty="0"/>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kern="0" spc="105" dirty="0">
                <a:solidFill>
                  <a:srgbClr val="86868B"/>
                </a:solidFill>
                <a:latin typeface="Liter" pitchFamily="34" charset="0"/>
                <a:ea typeface="Liter" pitchFamily="34" charset="-122"/>
                <a:cs typeface="Liter" pitchFamily="34" charset="-120"/>
              </a:rPr>
              <a:t>05 / ÉTATS</a:t>
            </a:r>
            <a:endParaRPr lang="en-US" sz="1600" dirty="0"/>
          </a:p>
        </p:txBody>
      </p:sp>
      <p:sp>
        <p:nvSpPr>
          <p:cNvPr id="3" name="Text 1"/>
          <p:cNvSpPr/>
          <p:nvPr/>
        </p:nvSpPr>
        <p:spPr>
          <a:xfrm>
            <a:off x="381000" y="685800"/>
            <a:ext cx="11658600" cy="457200"/>
          </a:xfrm>
          <a:prstGeom prst="rect">
            <a:avLst/>
          </a:prstGeom>
          <a:noFill/>
          <a:ln/>
        </p:spPr>
        <p:txBody>
          <a:bodyPr wrap="square" lIns="0" tIns="0" rIns="0" bIns="0" rtlCol="0" anchor="ctr"/>
          <a:lstStyle/>
          <a:p>
            <a:pPr>
              <a:lnSpc>
                <a:spcPct val="80000"/>
              </a:lnSpc>
            </a:pPr>
            <a:r>
              <a:rPr lang="en-US" sz="3600" b="1" dirty="0">
                <a:solidFill>
                  <a:srgbClr val="1D1D1D"/>
                </a:solidFill>
                <a:latin typeface="Liter" pitchFamily="34" charset="0"/>
                <a:ea typeface="Liter" pitchFamily="34" charset="-122"/>
                <a:cs typeface="Liter" pitchFamily="34" charset="-120"/>
              </a:rPr>
              <a:t>Gestion des états et indicateurs</a:t>
            </a:r>
            <a:endParaRPr lang="en-US" sz="1600" dirty="0"/>
          </a:p>
        </p:txBody>
      </p:sp>
      <p:sp>
        <p:nvSpPr>
          <p:cNvPr id="4" name="Shape 2"/>
          <p:cNvSpPr/>
          <p:nvPr/>
        </p:nvSpPr>
        <p:spPr>
          <a:xfrm>
            <a:off x="388620" y="1379220"/>
            <a:ext cx="3644265" cy="4406265"/>
          </a:xfrm>
          <a:custGeom>
            <a:avLst/>
            <a:gdLst/>
            <a:ahLst/>
            <a:cxnLst/>
            <a:rect l="l" t="t" r="r" b="b"/>
            <a:pathLst>
              <a:path w="3644265" h="4406265">
                <a:moveTo>
                  <a:pt x="152403" y="0"/>
                </a:moveTo>
                <a:lnTo>
                  <a:pt x="3491862" y="0"/>
                </a:lnTo>
                <a:cubicBezTo>
                  <a:pt x="3576032" y="0"/>
                  <a:pt x="3644265" y="68233"/>
                  <a:pt x="3644265" y="152403"/>
                </a:cubicBezTo>
                <a:lnTo>
                  <a:pt x="3644265" y="4253862"/>
                </a:lnTo>
                <a:cubicBezTo>
                  <a:pt x="3644265" y="4338032"/>
                  <a:pt x="3576032" y="4406265"/>
                  <a:pt x="3491862" y="4406265"/>
                </a:cubicBezTo>
                <a:lnTo>
                  <a:pt x="152403" y="4406265"/>
                </a:lnTo>
                <a:cubicBezTo>
                  <a:pt x="68233" y="4406265"/>
                  <a:pt x="0" y="4338032"/>
                  <a:pt x="0" y="4253862"/>
                </a:cubicBezTo>
                <a:lnTo>
                  <a:pt x="0" y="152403"/>
                </a:lnTo>
                <a:cubicBezTo>
                  <a:pt x="0" y="68290"/>
                  <a:pt x="68290" y="0"/>
                  <a:pt x="152403" y="0"/>
                </a:cubicBezTo>
                <a:close/>
              </a:path>
            </a:pathLst>
          </a:custGeom>
          <a:solidFill>
            <a:srgbClr val="FFFFFF"/>
          </a:solidFill>
          <a:ln w="20320">
            <a:solidFill>
              <a:srgbClr val="2E7D32"/>
            </a:solidFill>
            <a:prstDash val="solid"/>
          </a:ln>
        </p:spPr>
      </p:sp>
      <p:sp>
        <p:nvSpPr>
          <p:cNvPr id="5" name="Shape 3"/>
          <p:cNvSpPr/>
          <p:nvPr/>
        </p:nvSpPr>
        <p:spPr>
          <a:xfrm>
            <a:off x="624840" y="1615446"/>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2E7D32"/>
          </a:solidFill>
          <a:ln/>
        </p:spPr>
      </p:sp>
      <p:sp>
        <p:nvSpPr>
          <p:cNvPr id="6" name="Shape 4"/>
          <p:cNvSpPr/>
          <p:nvPr/>
        </p:nvSpPr>
        <p:spPr>
          <a:xfrm>
            <a:off x="789146" y="1777371"/>
            <a:ext cx="285750" cy="285750"/>
          </a:xfrm>
          <a:custGeom>
            <a:avLst/>
            <a:gdLst/>
            <a:ahLst/>
            <a:cxnLst/>
            <a:rect l="l" t="t" r="r" b="b"/>
            <a:pathLst>
              <a:path w="285750" h="285750">
                <a:moveTo>
                  <a:pt x="142875" y="285750"/>
                </a:moveTo>
                <a:cubicBezTo>
                  <a:pt x="221730" y="285750"/>
                  <a:pt x="285750" y="221730"/>
                  <a:pt x="285750" y="142875"/>
                </a:cubicBezTo>
                <a:cubicBezTo>
                  <a:pt x="285750" y="64020"/>
                  <a:pt x="221730" y="0"/>
                  <a:pt x="142875" y="0"/>
                </a:cubicBezTo>
                <a:cubicBezTo>
                  <a:pt x="64020" y="0"/>
                  <a:pt x="0" y="64020"/>
                  <a:pt x="0" y="142875"/>
                </a:cubicBezTo>
                <a:cubicBezTo>
                  <a:pt x="0" y="221730"/>
                  <a:pt x="64020" y="285750"/>
                  <a:pt x="142875" y="285750"/>
                </a:cubicBezTo>
                <a:close/>
                <a:moveTo>
                  <a:pt x="189979" y="118709"/>
                </a:moveTo>
                <a:lnTo>
                  <a:pt x="145331" y="190147"/>
                </a:lnTo>
                <a:cubicBezTo>
                  <a:pt x="142987" y="193886"/>
                  <a:pt x="138968" y="196230"/>
                  <a:pt x="134559" y="196453"/>
                </a:cubicBezTo>
                <a:cubicBezTo>
                  <a:pt x="130150" y="196676"/>
                  <a:pt x="125909" y="194667"/>
                  <a:pt x="123285" y="191095"/>
                </a:cubicBezTo>
                <a:lnTo>
                  <a:pt x="96496" y="155377"/>
                </a:lnTo>
                <a:cubicBezTo>
                  <a:pt x="92032" y="149461"/>
                  <a:pt x="93259" y="141089"/>
                  <a:pt x="99175" y="136624"/>
                </a:cubicBezTo>
                <a:cubicBezTo>
                  <a:pt x="105091" y="132159"/>
                  <a:pt x="113463" y="133387"/>
                  <a:pt x="117928" y="139303"/>
                </a:cubicBezTo>
                <a:lnTo>
                  <a:pt x="132997" y="159395"/>
                </a:lnTo>
                <a:lnTo>
                  <a:pt x="167264" y="104533"/>
                </a:lnTo>
                <a:cubicBezTo>
                  <a:pt x="171171" y="98282"/>
                  <a:pt x="179431" y="96329"/>
                  <a:pt x="185738" y="100292"/>
                </a:cubicBezTo>
                <a:cubicBezTo>
                  <a:pt x="192044" y="104254"/>
                  <a:pt x="193942" y="112458"/>
                  <a:pt x="189979" y="118765"/>
                </a:cubicBezTo>
                <a:close/>
              </a:path>
            </a:pathLst>
          </a:custGeom>
          <a:solidFill>
            <a:srgbClr val="FFFFFF"/>
          </a:solidFill>
          <a:ln/>
        </p:spPr>
      </p:sp>
      <p:sp>
        <p:nvSpPr>
          <p:cNvPr id="7" name="Text 5"/>
          <p:cNvSpPr/>
          <p:nvPr/>
        </p:nvSpPr>
        <p:spPr>
          <a:xfrm>
            <a:off x="1386840" y="1634496"/>
            <a:ext cx="1419225" cy="342900"/>
          </a:xfrm>
          <a:prstGeom prst="rect">
            <a:avLst/>
          </a:prstGeom>
          <a:noFill/>
          <a:ln/>
        </p:spPr>
        <p:txBody>
          <a:bodyPr wrap="square" lIns="0" tIns="0" rIns="0" bIns="0" rtlCol="0" anchor="ctr"/>
          <a:lstStyle/>
          <a:p>
            <a:pPr>
              <a:lnSpc>
                <a:spcPct val="100000"/>
              </a:lnSpc>
            </a:pPr>
            <a:r>
              <a:rPr lang="en-US" sz="2250" b="1" dirty="0">
                <a:solidFill>
                  <a:srgbClr val="2E7D32"/>
                </a:solidFill>
                <a:latin typeface="Liter" pitchFamily="34" charset="0"/>
                <a:ea typeface="Liter" pitchFamily="34" charset="-122"/>
                <a:cs typeface="Liter" pitchFamily="34" charset="-120"/>
              </a:rPr>
              <a:t>NORMAL</a:t>
            </a:r>
            <a:endParaRPr lang="en-US" sz="1600" dirty="0"/>
          </a:p>
        </p:txBody>
      </p:sp>
      <p:sp>
        <p:nvSpPr>
          <p:cNvPr id="8" name="Text 6"/>
          <p:cNvSpPr/>
          <p:nvPr/>
        </p:nvSpPr>
        <p:spPr>
          <a:xfrm>
            <a:off x="1386840" y="1977396"/>
            <a:ext cx="1352550" cy="228600"/>
          </a:xfrm>
          <a:prstGeom prst="rect">
            <a:avLst/>
          </a:prstGeom>
          <a:noFill/>
          <a:ln/>
        </p:spPr>
        <p:txBody>
          <a:bodyPr wrap="square" lIns="0" tIns="0" rIns="0" bIns="0" rtlCol="0" anchor="ctr"/>
          <a:lstStyle/>
          <a:p>
            <a:pPr>
              <a:lnSpc>
                <a:spcPct val="130000"/>
              </a:lnSpc>
            </a:pPr>
            <a:r>
              <a:rPr lang="en-US" sz="1200" dirty="0">
                <a:solidFill>
                  <a:srgbClr val="86868B"/>
                </a:solidFill>
                <a:latin typeface="Liter" pitchFamily="34" charset="0"/>
                <a:ea typeface="Liter" pitchFamily="34" charset="-122"/>
                <a:cs typeface="Liter" pitchFamily="34" charset="-120"/>
              </a:rPr>
              <a:t>Niveau bas</a:t>
            </a:r>
            <a:endParaRPr lang="en-US" sz="1600" dirty="0"/>
          </a:p>
        </p:txBody>
      </p:sp>
      <p:sp>
        <p:nvSpPr>
          <p:cNvPr id="9" name="Shape 7"/>
          <p:cNvSpPr/>
          <p:nvPr/>
        </p:nvSpPr>
        <p:spPr>
          <a:xfrm>
            <a:off x="624840" y="2415546"/>
            <a:ext cx="3171825" cy="838200"/>
          </a:xfrm>
          <a:custGeom>
            <a:avLst/>
            <a:gdLst/>
            <a:ahLst/>
            <a:cxnLst/>
            <a:rect l="l" t="t" r="r" b="b"/>
            <a:pathLst>
              <a:path w="3171825" h="838200">
                <a:moveTo>
                  <a:pt x="114297" y="0"/>
                </a:moveTo>
                <a:lnTo>
                  <a:pt x="3057528" y="0"/>
                </a:lnTo>
                <a:cubicBezTo>
                  <a:pt x="3120653" y="0"/>
                  <a:pt x="3171825" y="51172"/>
                  <a:pt x="3171825" y="114297"/>
                </a:cubicBezTo>
                <a:lnTo>
                  <a:pt x="3171825" y="723903"/>
                </a:lnTo>
                <a:cubicBezTo>
                  <a:pt x="3171825" y="787028"/>
                  <a:pt x="3120653" y="838200"/>
                  <a:pt x="3057528" y="838200"/>
                </a:cubicBezTo>
                <a:lnTo>
                  <a:pt x="114297" y="838200"/>
                </a:lnTo>
                <a:cubicBezTo>
                  <a:pt x="51172" y="838200"/>
                  <a:pt x="0" y="787028"/>
                  <a:pt x="0" y="723903"/>
                </a:cubicBezTo>
                <a:lnTo>
                  <a:pt x="0" y="114297"/>
                </a:lnTo>
                <a:cubicBezTo>
                  <a:pt x="0" y="51172"/>
                  <a:pt x="51172" y="0"/>
                  <a:pt x="114297" y="0"/>
                </a:cubicBezTo>
                <a:close/>
              </a:path>
            </a:pathLst>
          </a:custGeom>
          <a:solidFill>
            <a:srgbClr val="2E7D32">
              <a:alpha val="10196"/>
            </a:srgbClr>
          </a:solidFill>
          <a:ln/>
        </p:spPr>
      </p:sp>
      <p:sp>
        <p:nvSpPr>
          <p:cNvPr id="10" name="Text 8"/>
          <p:cNvSpPr/>
          <p:nvPr/>
        </p:nvSpPr>
        <p:spPr>
          <a:xfrm>
            <a:off x="777240" y="2567946"/>
            <a:ext cx="2943225" cy="228600"/>
          </a:xfrm>
          <a:prstGeom prst="rect">
            <a:avLst/>
          </a:prstGeom>
          <a:noFill/>
          <a:ln/>
        </p:spPr>
        <p:txBody>
          <a:bodyPr wrap="square" lIns="0" tIns="0" rIns="0" bIns="0" rtlCol="0" anchor="ctr"/>
          <a:lstStyle/>
          <a:p>
            <a:pPr>
              <a:lnSpc>
                <a:spcPct val="130000"/>
              </a:lnSpc>
            </a:pPr>
            <a:r>
              <a:rPr lang="en-US" sz="1200" dirty="0">
                <a:solidFill>
                  <a:srgbClr val="86868B"/>
                </a:solidFill>
                <a:latin typeface="Liter" pitchFamily="34" charset="0"/>
                <a:ea typeface="Liter" pitchFamily="34" charset="-122"/>
                <a:cs typeface="Liter" pitchFamily="34" charset="-120"/>
              </a:rPr>
              <a:t>Condition</a:t>
            </a:r>
            <a:endParaRPr lang="en-US" sz="1600" dirty="0"/>
          </a:p>
        </p:txBody>
      </p:sp>
      <p:sp>
        <p:nvSpPr>
          <p:cNvPr id="11" name="Text 9"/>
          <p:cNvSpPr/>
          <p:nvPr/>
        </p:nvSpPr>
        <p:spPr>
          <a:xfrm>
            <a:off x="777240" y="2834646"/>
            <a:ext cx="2952750" cy="266700"/>
          </a:xfrm>
          <a:prstGeom prst="rect">
            <a:avLst/>
          </a:prstGeom>
          <a:noFill/>
          <a:ln/>
        </p:spPr>
        <p:txBody>
          <a:bodyPr wrap="square" lIns="0" tIns="0" rIns="0" bIns="0" rtlCol="0" anchor="ctr"/>
          <a:lstStyle/>
          <a:p>
            <a:pPr>
              <a:lnSpc>
                <a:spcPct val="130000"/>
              </a:lnSpc>
            </a:pPr>
            <a:r>
              <a:rPr lang="en-US" sz="1350" dirty="0">
                <a:solidFill>
                  <a:srgbClr val="1D1D1D"/>
                </a:solidFill>
                <a:latin typeface="MiSans" pitchFamily="34" charset="0"/>
                <a:ea typeface="MiSans" pitchFamily="34" charset="-122"/>
                <a:cs typeface="MiSans" pitchFamily="34" charset="-120"/>
              </a:rPr>
              <a:t>waterLevel ≤ 30%</a:t>
            </a:r>
            <a:endParaRPr lang="en-US" sz="1600" dirty="0"/>
          </a:p>
        </p:txBody>
      </p:sp>
      <p:sp>
        <p:nvSpPr>
          <p:cNvPr id="12" name="Text 10"/>
          <p:cNvSpPr/>
          <p:nvPr/>
        </p:nvSpPr>
        <p:spPr>
          <a:xfrm>
            <a:off x="624840" y="3406146"/>
            <a:ext cx="3248025" cy="228600"/>
          </a:xfrm>
          <a:prstGeom prst="rect">
            <a:avLst/>
          </a:prstGeom>
          <a:noFill/>
          <a:ln/>
        </p:spPr>
        <p:txBody>
          <a:bodyPr wrap="square" lIns="0" tIns="0" rIns="0" bIns="0" rtlCol="0" anchor="ctr"/>
          <a:lstStyle/>
          <a:p>
            <a:pPr>
              <a:lnSpc>
                <a:spcPct val="130000"/>
              </a:lnSpc>
            </a:pPr>
            <a:r>
              <a:rPr lang="en-US" sz="1200" dirty="0">
                <a:solidFill>
                  <a:srgbClr val="86868B"/>
                </a:solidFill>
                <a:latin typeface="Liter" pitchFamily="34" charset="0"/>
                <a:ea typeface="Liter" pitchFamily="34" charset="-122"/>
                <a:cs typeface="Liter" pitchFamily="34" charset="-120"/>
              </a:rPr>
              <a:t>LED Verte: </a:t>
            </a:r>
            <a:r>
              <a:rPr lang="en-US" sz="1200" b="1" dirty="0">
                <a:solidFill>
                  <a:srgbClr val="2E7D32"/>
                </a:solidFill>
                <a:latin typeface="Liter" pitchFamily="34" charset="0"/>
                <a:ea typeface="Liter" pitchFamily="34" charset="-122"/>
                <a:cs typeface="Liter" pitchFamily="34" charset="-120"/>
              </a:rPr>
              <a:t>ON</a:t>
            </a:r>
            <a:endParaRPr lang="en-US" sz="1600" dirty="0"/>
          </a:p>
        </p:txBody>
      </p:sp>
      <p:sp>
        <p:nvSpPr>
          <p:cNvPr id="13" name="Text 11"/>
          <p:cNvSpPr/>
          <p:nvPr/>
        </p:nvSpPr>
        <p:spPr>
          <a:xfrm>
            <a:off x="624840" y="3710946"/>
            <a:ext cx="3248025" cy="228600"/>
          </a:xfrm>
          <a:prstGeom prst="rect">
            <a:avLst/>
          </a:prstGeom>
          <a:noFill/>
          <a:ln/>
        </p:spPr>
        <p:txBody>
          <a:bodyPr wrap="square" lIns="0" tIns="0" rIns="0" bIns="0" rtlCol="0" anchor="ctr"/>
          <a:lstStyle/>
          <a:p>
            <a:pPr>
              <a:lnSpc>
                <a:spcPct val="130000"/>
              </a:lnSpc>
            </a:pPr>
            <a:r>
              <a:rPr lang="en-US" sz="1200" dirty="0">
                <a:solidFill>
                  <a:srgbClr val="86868B"/>
                </a:solidFill>
                <a:latin typeface="Liter" pitchFamily="34" charset="0"/>
                <a:ea typeface="Liter" pitchFamily="34" charset="-122"/>
                <a:cs typeface="Liter" pitchFamily="34" charset="-120"/>
              </a:rPr>
              <a:t>LED Jaune: OFF</a:t>
            </a:r>
            <a:endParaRPr lang="en-US" sz="1600" dirty="0"/>
          </a:p>
        </p:txBody>
      </p:sp>
      <p:sp>
        <p:nvSpPr>
          <p:cNvPr id="14" name="Text 12"/>
          <p:cNvSpPr/>
          <p:nvPr/>
        </p:nvSpPr>
        <p:spPr>
          <a:xfrm>
            <a:off x="624840" y="4015746"/>
            <a:ext cx="3248025" cy="228600"/>
          </a:xfrm>
          <a:prstGeom prst="rect">
            <a:avLst/>
          </a:prstGeom>
          <a:noFill/>
          <a:ln/>
        </p:spPr>
        <p:txBody>
          <a:bodyPr wrap="square" lIns="0" tIns="0" rIns="0" bIns="0" rtlCol="0" anchor="ctr"/>
          <a:lstStyle/>
          <a:p>
            <a:pPr>
              <a:lnSpc>
                <a:spcPct val="130000"/>
              </a:lnSpc>
            </a:pPr>
            <a:r>
              <a:rPr lang="en-US" sz="1200" dirty="0">
                <a:solidFill>
                  <a:srgbClr val="86868B"/>
                </a:solidFill>
                <a:latin typeface="Liter" pitchFamily="34" charset="0"/>
                <a:ea typeface="Liter" pitchFamily="34" charset="-122"/>
                <a:cs typeface="Liter" pitchFamily="34" charset="-120"/>
              </a:rPr>
              <a:t>LED Rouge: OFF</a:t>
            </a:r>
            <a:endParaRPr lang="en-US" sz="1600" dirty="0"/>
          </a:p>
        </p:txBody>
      </p:sp>
      <p:sp>
        <p:nvSpPr>
          <p:cNvPr id="15" name="Text 13"/>
          <p:cNvSpPr/>
          <p:nvPr/>
        </p:nvSpPr>
        <p:spPr>
          <a:xfrm>
            <a:off x="624840" y="4320546"/>
            <a:ext cx="3248025" cy="228600"/>
          </a:xfrm>
          <a:prstGeom prst="rect">
            <a:avLst/>
          </a:prstGeom>
          <a:noFill/>
          <a:ln/>
        </p:spPr>
        <p:txBody>
          <a:bodyPr wrap="square" lIns="0" tIns="0" rIns="0" bIns="0" rtlCol="0" anchor="ctr"/>
          <a:lstStyle/>
          <a:p>
            <a:pPr>
              <a:lnSpc>
                <a:spcPct val="130000"/>
              </a:lnSpc>
            </a:pPr>
            <a:r>
              <a:rPr lang="en-US" sz="1200" dirty="0">
                <a:solidFill>
                  <a:srgbClr val="86868B"/>
                </a:solidFill>
                <a:latin typeface="Liter" pitchFamily="34" charset="0"/>
                <a:ea typeface="Liter" pitchFamily="34" charset="-122"/>
                <a:cs typeface="Liter" pitchFamily="34" charset="-120"/>
              </a:rPr>
              <a:t>Buzzer: Silencieux</a:t>
            </a:r>
            <a:endParaRPr lang="en-US" sz="1600" dirty="0"/>
          </a:p>
        </p:txBody>
      </p:sp>
      <p:sp>
        <p:nvSpPr>
          <p:cNvPr id="16" name="Shape 14"/>
          <p:cNvSpPr/>
          <p:nvPr/>
        </p:nvSpPr>
        <p:spPr>
          <a:xfrm>
            <a:off x="624840" y="5162556"/>
            <a:ext cx="3171825" cy="7620"/>
          </a:xfrm>
          <a:custGeom>
            <a:avLst/>
            <a:gdLst/>
            <a:ahLst/>
            <a:cxnLst/>
            <a:rect l="l" t="t" r="r" b="b"/>
            <a:pathLst>
              <a:path w="3171825" h="7620">
                <a:moveTo>
                  <a:pt x="0" y="0"/>
                </a:moveTo>
                <a:lnTo>
                  <a:pt x="3171825" y="0"/>
                </a:lnTo>
                <a:lnTo>
                  <a:pt x="3171825" y="7620"/>
                </a:lnTo>
                <a:lnTo>
                  <a:pt x="0" y="7620"/>
                </a:lnTo>
                <a:lnTo>
                  <a:pt x="0" y="0"/>
                </a:lnTo>
                <a:close/>
              </a:path>
            </a:pathLst>
          </a:custGeom>
          <a:solidFill>
            <a:srgbClr val="E5E5E5"/>
          </a:solidFill>
          <a:ln/>
        </p:spPr>
      </p:sp>
      <p:sp>
        <p:nvSpPr>
          <p:cNvPr id="17" name="Text 15"/>
          <p:cNvSpPr/>
          <p:nvPr/>
        </p:nvSpPr>
        <p:spPr>
          <a:xfrm>
            <a:off x="624840" y="5318764"/>
            <a:ext cx="3248025" cy="228600"/>
          </a:xfrm>
          <a:prstGeom prst="rect">
            <a:avLst/>
          </a:prstGeom>
          <a:noFill/>
          <a:ln/>
        </p:spPr>
        <p:txBody>
          <a:bodyPr wrap="square" lIns="0" tIns="0" rIns="0" bIns="0" rtlCol="0" anchor="ctr"/>
          <a:lstStyle/>
          <a:p>
            <a:pPr>
              <a:lnSpc>
                <a:spcPct val="130000"/>
              </a:lnSpc>
            </a:pPr>
            <a:r>
              <a:rPr lang="en-US" sz="1200" dirty="0">
                <a:solidFill>
                  <a:srgbClr val="86868B"/>
                </a:solidFill>
                <a:latin typeface="Liter" pitchFamily="34" charset="0"/>
                <a:ea typeface="Liter" pitchFamily="34" charset="-122"/>
                <a:cs typeface="Liter" pitchFamily="34" charset="-120"/>
              </a:rPr>
              <a:t>Niveau d'eau bas - pas d'alerte sonore</a:t>
            </a:r>
            <a:endParaRPr lang="en-US" sz="1600" dirty="0"/>
          </a:p>
        </p:txBody>
      </p:sp>
      <p:sp>
        <p:nvSpPr>
          <p:cNvPr id="18" name="Shape 16"/>
          <p:cNvSpPr/>
          <p:nvPr/>
        </p:nvSpPr>
        <p:spPr>
          <a:xfrm>
            <a:off x="4274820" y="1379220"/>
            <a:ext cx="3644265" cy="4406265"/>
          </a:xfrm>
          <a:custGeom>
            <a:avLst/>
            <a:gdLst/>
            <a:ahLst/>
            <a:cxnLst/>
            <a:rect l="l" t="t" r="r" b="b"/>
            <a:pathLst>
              <a:path w="3644265" h="4406265">
                <a:moveTo>
                  <a:pt x="152403" y="0"/>
                </a:moveTo>
                <a:lnTo>
                  <a:pt x="3491862" y="0"/>
                </a:lnTo>
                <a:cubicBezTo>
                  <a:pt x="3576032" y="0"/>
                  <a:pt x="3644265" y="68233"/>
                  <a:pt x="3644265" y="152403"/>
                </a:cubicBezTo>
                <a:lnTo>
                  <a:pt x="3644265" y="4253862"/>
                </a:lnTo>
                <a:cubicBezTo>
                  <a:pt x="3644265" y="4338032"/>
                  <a:pt x="3576032" y="4406265"/>
                  <a:pt x="3491862" y="4406265"/>
                </a:cubicBezTo>
                <a:lnTo>
                  <a:pt x="152403" y="4406265"/>
                </a:lnTo>
                <a:cubicBezTo>
                  <a:pt x="68233" y="4406265"/>
                  <a:pt x="0" y="4338032"/>
                  <a:pt x="0" y="4253862"/>
                </a:cubicBezTo>
                <a:lnTo>
                  <a:pt x="0" y="152403"/>
                </a:lnTo>
                <a:cubicBezTo>
                  <a:pt x="0" y="68290"/>
                  <a:pt x="68290" y="0"/>
                  <a:pt x="152403" y="0"/>
                </a:cubicBezTo>
                <a:close/>
              </a:path>
            </a:pathLst>
          </a:custGeom>
          <a:solidFill>
            <a:srgbClr val="FFFFFF"/>
          </a:solidFill>
          <a:ln w="20320">
            <a:solidFill>
              <a:srgbClr val="EF6C00"/>
            </a:solidFill>
            <a:prstDash val="solid"/>
          </a:ln>
        </p:spPr>
      </p:sp>
      <p:sp>
        <p:nvSpPr>
          <p:cNvPr id="19" name="Shape 17"/>
          <p:cNvSpPr/>
          <p:nvPr/>
        </p:nvSpPr>
        <p:spPr>
          <a:xfrm>
            <a:off x="4511040" y="1615446"/>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EF6C00"/>
          </a:solidFill>
          <a:ln/>
        </p:spPr>
      </p:sp>
      <p:sp>
        <p:nvSpPr>
          <p:cNvPr id="20" name="Shape 18"/>
          <p:cNvSpPr/>
          <p:nvPr/>
        </p:nvSpPr>
        <p:spPr>
          <a:xfrm>
            <a:off x="4675346" y="1777371"/>
            <a:ext cx="285750" cy="285750"/>
          </a:xfrm>
          <a:custGeom>
            <a:avLst/>
            <a:gdLst/>
            <a:ahLst/>
            <a:cxnLst/>
            <a:rect l="l" t="t" r="r" b="b"/>
            <a:pathLst>
              <a:path w="285750" h="285750">
                <a:moveTo>
                  <a:pt x="142875" y="0"/>
                </a:moveTo>
                <a:cubicBezTo>
                  <a:pt x="151079" y="0"/>
                  <a:pt x="158614" y="4521"/>
                  <a:pt x="162520" y="11720"/>
                </a:cubicBezTo>
                <a:lnTo>
                  <a:pt x="283071" y="234962"/>
                </a:lnTo>
                <a:cubicBezTo>
                  <a:pt x="286810" y="241883"/>
                  <a:pt x="286643" y="250254"/>
                  <a:pt x="282625" y="257008"/>
                </a:cubicBezTo>
                <a:cubicBezTo>
                  <a:pt x="278606" y="263761"/>
                  <a:pt x="271295" y="267891"/>
                  <a:pt x="263426" y="267891"/>
                </a:cubicBezTo>
                <a:lnTo>
                  <a:pt x="22324" y="267891"/>
                </a:lnTo>
                <a:cubicBezTo>
                  <a:pt x="14455" y="267891"/>
                  <a:pt x="7200" y="263761"/>
                  <a:pt x="3125" y="257008"/>
                </a:cubicBezTo>
                <a:cubicBezTo>
                  <a:pt x="-949" y="250254"/>
                  <a:pt x="-1060" y="241883"/>
                  <a:pt x="2679" y="234962"/>
                </a:cubicBezTo>
                <a:lnTo>
                  <a:pt x="123230" y="11720"/>
                </a:lnTo>
                <a:cubicBezTo>
                  <a:pt x="127136" y="4521"/>
                  <a:pt x="134671" y="0"/>
                  <a:pt x="142875" y="0"/>
                </a:cubicBezTo>
                <a:close/>
                <a:moveTo>
                  <a:pt x="142875" y="93762"/>
                </a:moveTo>
                <a:cubicBezTo>
                  <a:pt x="135452" y="93762"/>
                  <a:pt x="129480" y="99733"/>
                  <a:pt x="129480" y="107156"/>
                </a:cubicBezTo>
                <a:lnTo>
                  <a:pt x="129480" y="169664"/>
                </a:lnTo>
                <a:cubicBezTo>
                  <a:pt x="129480" y="177087"/>
                  <a:pt x="135452" y="183059"/>
                  <a:pt x="142875" y="183059"/>
                </a:cubicBezTo>
                <a:cubicBezTo>
                  <a:pt x="150298" y="183059"/>
                  <a:pt x="156270" y="177087"/>
                  <a:pt x="156270" y="169664"/>
                </a:cubicBezTo>
                <a:lnTo>
                  <a:pt x="156270" y="107156"/>
                </a:lnTo>
                <a:cubicBezTo>
                  <a:pt x="156270" y="99733"/>
                  <a:pt x="150298" y="93762"/>
                  <a:pt x="142875" y="93762"/>
                </a:cubicBezTo>
                <a:close/>
                <a:moveTo>
                  <a:pt x="157776" y="214313"/>
                </a:moveTo>
                <a:cubicBezTo>
                  <a:pt x="158115" y="208781"/>
                  <a:pt x="155357" y="203519"/>
                  <a:pt x="150615" y="200651"/>
                </a:cubicBezTo>
                <a:cubicBezTo>
                  <a:pt x="145874" y="197783"/>
                  <a:pt x="139932" y="197783"/>
                  <a:pt x="135190" y="200651"/>
                </a:cubicBezTo>
                <a:cubicBezTo>
                  <a:pt x="130449" y="203519"/>
                  <a:pt x="127690" y="208781"/>
                  <a:pt x="128029" y="214312"/>
                </a:cubicBezTo>
                <a:cubicBezTo>
                  <a:pt x="127690" y="219844"/>
                  <a:pt x="130449" y="225106"/>
                  <a:pt x="135190" y="227974"/>
                </a:cubicBezTo>
                <a:cubicBezTo>
                  <a:pt x="139932" y="230842"/>
                  <a:pt x="145874" y="230842"/>
                  <a:pt x="150615" y="227974"/>
                </a:cubicBezTo>
                <a:cubicBezTo>
                  <a:pt x="155357" y="225106"/>
                  <a:pt x="158115" y="219844"/>
                  <a:pt x="157776" y="214313"/>
                </a:cubicBezTo>
                <a:close/>
              </a:path>
            </a:pathLst>
          </a:custGeom>
          <a:solidFill>
            <a:srgbClr val="FFFFFF"/>
          </a:solidFill>
          <a:ln/>
        </p:spPr>
      </p:sp>
      <p:sp>
        <p:nvSpPr>
          <p:cNvPr id="21" name="Text 19"/>
          <p:cNvSpPr/>
          <p:nvPr/>
        </p:nvSpPr>
        <p:spPr>
          <a:xfrm>
            <a:off x="5273040" y="1634496"/>
            <a:ext cx="1609725" cy="342900"/>
          </a:xfrm>
          <a:prstGeom prst="rect">
            <a:avLst/>
          </a:prstGeom>
          <a:noFill/>
          <a:ln/>
        </p:spPr>
        <p:txBody>
          <a:bodyPr wrap="square" lIns="0" tIns="0" rIns="0" bIns="0" rtlCol="0" anchor="ctr"/>
          <a:lstStyle/>
          <a:p>
            <a:pPr>
              <a:lnSpc>
                <a:spcPct val="100000"/>
              </a:lnSpc>
            </a:pPr>
            <a:r>
              <a:rPr lang="en-US" sz="2250" b="1" dirty="0">
                <a:solidFill>
                  <a:srgbClr val="EF6C00"/>
                </a:solidFill>
                <a:latin typeface="Liter" pitchFamily="34" charset="0"/>
                <a:ea typeface="Liter" pitchFamily="34" charset="-122"/>
                <a:cs typeface="Liter" pitchFamily="34" charset="-120"/>
              </a:rPr>
              <a:t>VIGILANCE</a:t>
            </a:r>
            <a:endParaRPr lang="en-US" sz="1600" dirty="0"/>
          </a:p>
        </p:txBody>
      </p:sp>
      <p:sp>
        <p:nvSpPr>
          <p:cNvPr id="22" name="Text 20"/>
          <p:cNvSpPr/>
          <p:nvPr/>
        </p:nvSpPr>
        <p:spPr>
          <a:xfrm>
            <a:off x="5273040" y="1977396"/>
            <a:ext cx="1543050" cy="228600"/>
          </a:xfrm>
          <a:prstGeom prst="rect">
            <a:avLst/>
          </a:prstGeom>
          <a:noFill/>
          <a:ln/>
        </p:spPr>
        <p:txBody>
          <a:bodyPr wrap="square" lIns="0" tIns="0" rIns="0" bIns="0" rtlCol="0" anchor="ctr"/>
          <a:lstStyle/>
          <a:p>
            <a:pPr>
              <a:lnSpc>
                <a:spcPct val="130000"/>
              </a:lnSpc>
            </a:pPr>
            <a:r>
              <a:rPr lang="en-US" sz="1200" dirty="0">
                <a:solidFill>
                  <a:srgbClr val="86868B"/>
                </a:solidFill>
                <a:latin typeface="Liter" pitchFamily="34" charset="0"/>
                <a:ea typeface="Liter" pitchFamily="34" charset="-122"/>
                <a:cs typeface="Liter" pitchFamily="34" charset="-120"/>
              </a:rPr>
              <a:t>Attention</a:t>
            </a:r>
            <a:endParaRPr lang="en-US" sz="1600" dirty="0"/>
          </a:p>
        </p:txBody>
      </p:sp>
      <p:sp>
        <p:nvSpPr>
          <p:cNvPr id="23" name="Shape 21"/>
          <p:cNvSpPr/>
          <p:nvPr/>
        </p:nvSpPr>
        <p:spPr>
          <a:xfrm>
            <a:off x="4511040" y="2415546"/>
            <a:ext cx="3171825" cy="838200"/>
          </a:xfrm>
          <a:custGeom>
            <a:avLst/>
            <a:gdLst/>
            <a:ahLst/>
            <a:cxnLst/>
            <a:rect l="l" t="t" r="r" b="b"/>
            <a:pathLst>
              <a:path w="3171825" h="838200">
                <a:moveTo>
                  <a:pt x="114297" y="0"/>
                </a:moveTo>
                <a:lnTo>
                  <a:pt x="3057528" y="0"/>
                </a:lnTo>
                <a:cubicBezTo>
                  <a:pt x="3120653" y="0"/>
                  <a:pt x="3171825" y="51172"/>
                  <a:pt x="3171825" y="114297"/>
                </a:cubicBezTo>
                <a:lnTo>
                  <a:pt x="3171825" y="723903"/>
                </a:lnTo>
                <a:cubicBezTo>
                  <a:pt x="3171825" y="787028"/>
                  <a:pt x="3120653" y="838200"/>
                  <a:pt x="3057528" y="838200"/>
                </a:cubicBezTo>
                <a:lnTo>
                  <a:pt x="114297" y="838200"/>
                </a:lnTo>
                <a:cubicBezTo>
                  <a:pt x="51172" y="838200"/>
                  <a:pt x="0" y="787028"/>
                  <a:pt x="0" y="723903"/>
                </a:cubicBezTo>
                <a:lnTo>
                  <a:pt x="0" y="114297"/>
                </a:lnTo>
                <a:cubicBezTo>
                  <a:pt x="0" y="51172"/>
                  <a:pt x="51172" y="0"/>
                  <a:pt x="114297" y="0"/>
                </a:cubicBezTo>
                <a:close/>
              </a:path>
            </a:pathLst>
          </a:custGeom>
          <a:solidFill>
            <a:srgbClr val="EF6C00">
              <a:alpha val="10196"/>
            </a:srgbClr>
          </a:solidFill>
          <a:ln/>
        </p:spPr>
      </p:sp>
      <p:sp>
        <p:nvSpPr>
          <p:cNvPr id="24" name="Text 22"/>
          <p:cNvSpPr/>
          <p:nvPr/>
        </p:nvSpPr>
        <p:spPr>
          <a:xfrm>
            <a:off x="4663440" y="2567946"/>
            <a:ext cx="2943225" cy="228600"/>
          </a:xfrm>
          <a:prstGeom prst="rect">
            <a:avLst/>
          </a:prstGeom>
          <a:noFill/>
          <a:ln/>
        </p:spPr>
        <p:txBody>
          <a:bodyPr wrap="square" lIns="0" tIns="0" rIns="0" bIns="0" rtlCol="0" anchor="ctr"/>
          <a:lstStyle/>
          <a:p>
            <a:pPr>
              <a:lnSpc>
                <a:spcPct val="130000"/>
              </a:lnSpc>
            </a:pPr>
            <a:r>
              <a:rPr lang="en-US" sz="1200" dirty="0">
                <a:solidFill>
                  <a:srgbClr val="86868B"/>
                </a:solidFill>
                <a:latin typeface="Liter" pitchFamily="34" charset="0"/>
                <a:ea typeface="Liter" pitchFamily="34" charset="-122"/>
                <a:cs typeface="Liter" pitchFamily="34" charset="-120"/>
              </a:rPr>
              <a:t>Condition</a:t>
            </a:r>
            <a:endParaRPr lang="en-US" sz="1600" dirty="0"/>
          </a:p>
        </p:txBody>
      </p:sp>
      <p:sp>
        <p:nvSpPr>
          <p:cNvPr id="25" name="Text 23"/>
          <p:cNvSpPr/>
          <p:nvPr/>
        </p:nvSpPr>
        <p:spPr>
          <a:xfrm>
            <a:off x="4663440" y="2834646"/>
            <a:ext cx="2952750" cy="266700"/>
          </a:xfrm>
          <a:prstGeom prst="rect">
            <a:avLst/>
          </a:prstGeom>
          <a:noFill/>
          <a:ln/>
        </p:spPr>
        <p:txBody>
          <a:bodyPr wrap="square" lIns="0" tIns="0" rIns="0" bIns="0" rtlCol="0" anchor="ctr"/>
          <a:lstStyle/>
          <a:p>
            <a:pPr>
              <a:lnSpc>
                <a:spcPct val="130000"/>
              </a:lnSpc>
            </a:pPr>
            <a:r>
              <a:rPr lang="en-US" sz="1350" dirty="0">
                <a:solidFill>
                  <a:srgbClr val="1D1D1D"/>
                </a:solidFill>
                <a:latin typeface="MiSans" pitchFamily="34" charset="0"/>
                <a:ea typeface="MiSans" pitchFamily="34" charset="-122"/>
                <a:cs typeface="MiSans" pitchFamily="34" charset="-120"/>
              </a:rPr>
              <a:t>30% &lt; waterLevel ≤ 50%</a:t>
            </a:r>
            <a:endParaRPr lang="en-US" sz="1600" dirty="0"/>
          </a:p>
        </p:txBody>
      </p:sp>
      <p:sp>
        <p:nvSpPr>
          <p:cNvPr id="26" name="Text 24"/>
          <p:cNvSpPr/>
          <p:nvPr/>
        </p:nvSpPr>
        <p:spPr>
          <a:xfrm>
            <a:off x="4511040" y="3406146"/>
            <a:ext cx="3248025" cy="228600"/>
          </a:xfrm>
          <a:prstGeom prst="rect">
            <a:avLst/>
          </a:prstGeom>
          <a:noFill/>
          <a:ln/>
        </p:spPr>
        <p:txBody>
          <a:bodyPr wrap="square" lIns="0" tIns="0" rIns="0" bIns="0" rtlCol="0" anchor="ctr"/>
          <a:lstStyle/>
          <a:p>
            <a:pPr>
              <a:lnSpc>
                <a:spcPct val="130000"/>
              </a:lnSpc>
            </a:pPr>
            <a:r>
              <a:rPr lang="en-US" sz="1200" dirty="0">
                <a:solidFill>
                  <a:srgbClr val="86868B"/>
                </a:solidFill>
                <a:latin typeface="Liter" pitchFamily="34" charset="0"/>
                <a:ea typeface="Liter" pitchFamily="34" charset="-122"/>
                <a:cs typeface="Liter" pitchFamily="34" charset="-120"/>
              </a:rPr>
              <a:t>LED Verte: OFF</a:t>
            </a:r>
            <a:endParaRPr lang="en-US" sz="1600" dirty="0"/>
          </a:p>
        </p:txBody>
      </p:sp>
      <p:sp>
        <p:nvSpPr>
          <p:cNvPr id="27" name="Text 25"/>
          <p:cNvSpPr/>
          <p:nvPr/>
        </p:nvSpPr>
        <p:spPr>
          <a:xfrm>
            <a:off x="4511040" y="3710946"/>
            <a:ext cx="3248025" cy="228600"/>
          </a:xfrm>
          <a:prstGeom prst="rect">
            <a:avLst/>
          </a:prstGeom>
          <a:noFill/>
          <a:ln/>
        </p:spPr>
        <p:txBody>
          <a:bodyPr wrap="square" lIns="0" tIns="0" rIns="0" bIns="0" rtlCol="0" anchor="ctr"/>
          <a:lstStyle/>
          <a:p>
            <a:pPr>
              <a:lnSpc>
                <a:spcPct val="130000"/>
              </a:lnSpc>
            </a:pPr>
            <a:r>
              <a:rPr lang="en-US" sz="1200" dirty="0">
                <a:solidFill>
                  <a:srgbClr val="86868B"/>
                </a:solidFill>
                <a:latin typeface="Liter" pitchFamily="34" charset="0"/>
                <a:ea typeface="Liter" pitchFamily="34" charset="-122"/>
                <a:cs typeface="Liter" pitchFamily="34" charset="-120"/>
              </a:rPr>
              <a:t>LED Jaune: </a:t>
            </a:r>
            <a:r>
              <a:rPr lang="en-US" sz="1200" b="1" dirty="0">
                <a:solidFill>
                  <a:srgbClr val="EF6C00"/>
                </a:solidFill>
                <a:latin typeface="Liter" pitchFamily="34" charset="0"/>
                <a:ea typeface="Liter" pitchFamily="34" charset="-122"/>
                <a:cs typeface="Liter" pitchFamily="34" charset="-120"/>
              </a:rPr>
              <a:t>ON</a:t>
            </a:r>
            <a:endParaRPr lang="en-US" sz="1600" dirty="0"/>
          </a:p>
        </p:txBody>
      </p:sp>
      <p:sp>
        <p:nvSpPr>
          <p:cNvPr id="28" name="Text 26"/>
          <p:cNvSpPr/>
          <p:nvPr/>
        </p:nvSpPr>
        <p:spPr>
          <a:xfrm>
            <a:off x="4511040" y="4015746"/>
            <a:ext cx="3248025" cy="228600"/>
          </a:xfrm>
          <a:prstGeom prst="rect">
            <a:avLst/>
          </a:prstGeom>
          <a:noFill/>
          <a:ln/>
        </p:spPr>
        <p:txBody>
          <a:bodyPr wrap="square" lIns="0" tIns="0" rIns="0" bIns="0" rtlCol="0" anchor="ctr"/>
          <a:lstStyle/>
          <a:p>
            <a:pPr>
              <a:lnSpc>
                <a:spcPct val="130000"/>
              </a:lnSpc>
            </a:pPr>
            <a:r>
              <a:rPr lang="en-US" sz="1200" dirty="0">
                <a:solidFill>
                  <a:srgbClr val="86868B"/>
                </a:solidFill>
                <a:latin typeface="Liter" pitchFamily="34" charset="0"/>
                <a:ea typeface="Liter" pitchFamily="34" charset="-122"/>
                <a:cs typeface="Liter" pitchFamily="34" charset="-120"/>
              </a:rPr>
              <a:t>LED Rouge: OFF</a:t>
            </a:r>
            <a:endParaRPr lang="en-US" sz="1600" dirty="0"/>
          </a:p>
        </p:txBody>
      </p:sp>
      <p:sp>
        <p:nvSpPr>
          <p:cNvPr id="29" name="Text 27"/>
          <p:cNvSpPr/>
          <p:nvPr/>
        </p:nvSpPr>
        <p:spPr>
          <a:xfrm>
            <a:off x="4511040" y="4320546"/>
            <a:ext cx="3248025" cy="228600"/>
          </a:xfrm>
          <a:prstGeom prst="rect">
            <a:avLst/>
          </a:prstGeom>
          <a:noFill/>
          <a:ln/>
        </p:spPr>
        <p:txBody>
          <a:bodyPr wrap="square" lIns="0" tIns="0" rIns="0" bIns="0" rtlCol="0" anchor="ctr"/>
          <a:lstStyle/>
          <a:p>
            <a:pPr>
              <a:lnSpc>
                <a:spcPct val="130000"/>
              </a:lnSpc>
            </a:pPr>
            <a:r>
              <a:rPr lang="en-US" sz="1200" dirty="0">
                <a:solidFill>
                  <a:srgbClr val="86868B"/>
                </a:solidFill>
                <a:latin typeface="Liter" pitchFamily="34" charset="0"/>
                <a:ea typeface="Liter" pitchFamily="34" charset="-122"/>
                <a:cs typeface="Liter" pitchFamily="34" charset="-120"/>
              </a:rPr>
              <a:t>Buzzer: Silencieux</a:t>
            </a:r>
            <a:endParaRPr lang="en-US" sz="1600" dirty="0"/>
          </a:p>
        </p:txBody>
      </p:sp>
      <p:sp>
        <p:nvSpPr>
          <p:cNvPr id="30" name="Shape 28"/>
          <p:cNvSpPr/>
          <p:nvPr/>
        </p:nvSpPr>
        <p:spPr>
          <a:xfrm>
            <a:off x="4511040" y="5162556"/>
            <a:ext cx="3171825" cy="7620"/>
          </a:xfrm>
          <a:custGeom>
            <a:avLst/>
            <a:gdLst/>
            <a:ahLst/>
            <a:cxnLst/>
            <a:rect l="l" t="t" r="r" b="b"/>
            <a:pathLst>
              <a:path w="3171825" h="7620">
                <a:moveTo>
                  <a:pt x="0" y="0"/>
                </a:moveTo>
                <a:lnTo>
                  <a:pt x="3171825" y="0"/>
                </a:lnTo>
                <a:lnTo>
                  <a:pt x="3171825" y="7620"/>
                </a:lnTo>
                <a:lnTo>
                  <a:pt x="0" y="7620"/>
                </a:lnTo>
                <a:lnTo>
                  <a:pt x="0" y="0"/>
                </a:lnTo>
                <a:close/>
              </a:path>
            </a:pathLst>
          </a:custGeom>
          <a:solidFill>
            <a:srgbClr val="E5E5E5"/>
          </a:solidFill>
          <a:ln/>
        </p:spPr>
      </p:sp>
      <p:sp>
        <p:nvSpPr>
          <p:cNvPr id="31" name="Text 29"/>
          <p:cNvSpPr/>
          <p:nvPr/>
        </p:nvSpPr>
        <p:spPr>
          <a:xfrm>
            <a:off x="4511040" y="5318764"/>
            <a:ext cx="3248025" cy="228600"/>
          </a:xfrm>
          <a:prstGeom prst="rect">
            <a:avLst/>
          </a:prstGeom>
          <a:noFill/>
          <a:ln/>
        </p:spPr>
        <p:txBody>
          <a:bodyPr wrap="square" lIns="0" tIns="0" rIns="0" bIns="0" rtlCol="0" anchor="ctr"/>
          <a:lstStyle/>
          <a:p>
            <a:pPr>
              <a:lnSpc>
                <a:spcPct val="130000"/>
              </a:lnSpc>
            </a:pPr>
            <a:r>
              <a:rPr lang="en-US" sz="1200" dirty="0">
                <a:solidFill>
                  <a:srgbClr val="86868B"/>
                </a:solidFill>
                <a:latin typeface="Liter" pitchFamily="34" charset="0"/>
                <a:ea typeface="Liter" pitchFamily="34" charset="-122"/>
                <a:cs typeface="Liter" pitchFamily="34" charset="-120"/>
              </a:rPr>
              <a:t>Surveillance recommandée</a:t>
            </a:r>
            <a:endParaRPr lang="en-US" sz="1600" dirty="0"/>
          </a:p>
        </p:txBody>
      </p:sp>
      <p:sp>
        <p:nvSpPr>
          <p:cNvPr id="32" name="Shape 30"/>
          <p:cNvSpPr/>
          <p:nvPr/>
        </p:nvSpPr>
        <p:spPr>
          <a:xfrm>
            <a:off x="8161020" y="1379220"/>
            <a:ext cx="3644265" cy="4406265"/>
          </a:xfrm>
          <a:custGeom>
            <a:avLst/>
            <a:gdLst/>
            <a:ahLst/>
            <a:cxnLst/>
            <a:rect l="l" t="t" r="r" b="b"/>
            <a:pathLst>
              <a:path w="3644265" h="4406265">
                <a:moveTo>
                  <a:pt x="152403" y="0"/>
                </a:moveTo>
                <a:lnTo>
                  <a:pt x="3491862" y="0"/>
                </a:lnTo>
                <a:cubicBezTo>
                  <a:pt x="3576032" y="0"/>
                  <a:pt x="3644265" y="68233"/>
                  <a:pt x="3644265" y="152403"/>
                </a:cubicBezTo>
                <a:lnTo>
                  <a:pt x="3644265" y="4253862"/>
                </a:lnTo>
                <a:cubicBezTo>
                  <a:pt x="3644265" y="4338032"/>
                  <a:pt x="3576032" y="4406265"/>
                  <a:pt x="3491862" y="4406265"/>
                </a:cubicBezTo>
                <a:lnTo>
                  <a:pt x="152403" y="4406265"/>
                </a:lnTo>
                <a:cubicBezTo>
                  <a:pt x="68233" y="4406265"/>
                  <a:pt x="0" y="4338032"/>
                  <a:pt x="0" y="4253862"/>
                </a:cubicBezTo>
                <a:lnTo>
                  <a:pt x="0" y="152403"/>
                </a:lnTo>
                <a:cubicBezTo>
                  <a:pt x="0" y="68290"/>
                  <a:pt x="68290" y="0"/>
                  <a:pt x="152403" y="0"/>
                </a:cubicBezTo>
                <a:close/>
              </a:path>
            </a:pathLst>
          </a:custGeom>
          <a:solidFill>
            <a:srgbClr val="FFFFFF"/>
          </a:solidFill>
          <a:ln w="20320">
            <a:solidFill>
              <a:srgbClr val="B71C1C"/>
            </a:solidFill>
            <a:prstDash val="solid"/>
          </a:ln>
        </p:spPr>
      </p:sp>
      <p:sp>
        <p:nvSpPr>
          <p:cNvPr id="33" name="Shape 31"/>
          <p:cNvSpPr/>
          <p:nvPr/>
        </p:nvSpPr>
        <p:spPr>
          <a:xfrm>
            <a:off x="8397240" y="1615446"/>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B71C1C"/>
          </a:solidFill>
          <a:ln/>
        </p:spPr>
      </p:sp>
      <p:sp>
        <p:nvSpPr>
          <p:cNvPr id="34" name="Shape 32"/>
          <p:cNvSpPr/>
          <p:nvPr/>
        </p:nvSpPr>
        <p:spPr>
          <a:xfrm>
            <a:off x="8561547" y="1777371"/>
            <a:ext cx="285750" cy="285750"/>
          </a:xfrm>
          <a:custGeom>
            <a:avLst/>
            <a:gdLst/>
            <a:ahLst/>
            <a:cxnLst/>
            <a:rect l="l" t="t" r="r" b="b"/>
            <a:pathLst>
              <a:path w="285750" h="285750">
                <a:moveTo>
                  <a:pt x="142875" y="285750"/>
                </a:moveTo>
                <a:cubicBezTo>
                  <a:pt x="221730" y="285750"/>
                  <a:pt x="285750" y="221730"/>
                  <a:pt x="285750" y="142875"/>
                </a:cubicBezTo>
                <a:cubicBezTo>
                  <a:pt x="285750" y="64020"/>
                  <a:pt x="221730" y="0"/>
                  <a:pt x="142875" y="0"/>
                </a:cubicBezTo>
                <a:cubicBezTo>
                  <a:pt x="64020" y="0"/>
                  <a:pt x="0" y="64020"/>
                  <a:pt x="0" y="142875"/>
                </a:cubicBezTo>
                <a:cubicBezTo>
                  <a:pt x="0" y="221730"/>
                  <a:pt x="64020" y="285750"/>
                  <a:pt x="142875" y="285750"/>
                </a:cubicBezTo>
                <a:close/>
                <a:moveTo>
                  <a:pt x="142875" y="75902"/>
                </a:moveTo>
                <a:cubicBezTo>
                  <a:pt x="150298" y="75902"/>
                  <a:pt x="156270" y="81874"/>
                  <a:pt x="156270" y="89297"/>
                </a:cubicBezTo>
                <a:lnTo>
                  <a:pt x="156270" y="151805"/>
                </a:lnTo>
                <a:cubicBezTo>
                  <a:pt x="156270" y="159227"/>
                  <a:pt x="150298" y="165199"/>
                  <a:pt x="142875" y="165199"/>
                </a:cubicBezTo>
                <a:cubicBezTo>
                  <a:pt x="135452" y="165199"/>
                  <a:pt x="129480" y="159227"/>
                  <a:pt x="129480" y="151805"/>
                </a:cubicBezTo>
                <a:lnTo>
                  <a:pt x="129480" y="89297"/>
                </a:lnTo>
                <a:cubicBezTo>
                  <a:pt x="129480" y="81874"/>
                  <a:pt x="135452" y="75902"/>
                  <a:pt x="142875" y="75902"/>
                </a:cubicBezTo>
                <a:close/>
                <a:moveTo>
                  <a:pt x="127974" y="196453"/>
                </a:moveTo>
                <a:cubicBezTo>
                  <a:pt x="127635" y="190922"/>
                  <a:pt x="130393" y="185659"/>
                  <a:pt x="135135" y="182791"/>
                </a:cubicBezTo>
                <a:cubicBezTo>
                  <a:pt x="139876" y="179923"/>
                  <a:pt x="145818" y="179923"/>
                  <a:pt x="150560" y="182791"/>
                </a:cubicBezTo>
                <a:cubicBezTo>
                  <a:pt x="155301" y="185659"/>
                  <a:pt x="158060" y="190922"/>
                  <a:pt x="157721" y="196453"/>
                </a:cubicBezTo>
                <a:cubicBezTo>
                  <a:pt x="158060" y="201984"/>
                  <a:pt x="155301" y="207247"/>
                  <a:pt x="150560" y="210115"/>
                </a:cubicBezTo>
                <a:cubicBezTo>
                  <a:pt x="145818" y="212983"/>
                  <a:pt x="139876" y="212983"/>
                  <a:pt x="135135" y="210115"/>
                </a:cubicBezTo>
                <a:cubicBezTo>
                  <a:pt x="130393" y="207247"/>
                  <a:pt x="127635" y="201984"/>
                  <a:pt x="127974" y="196453"/>
                </a:cubicBezTo>
                <a:close/>
              </a:path>
            </a:pathLst>
          </a:custGeom>
          <a:solidFill>
            <a:srgbClr val="FFFFFF"/>
          </a:solidFill>
          <a:ln/>
        </p:spPr>
      </p:sp>
      <p:sp>
        <p:nvSpPr>
          <p:cNvPr id="35" name="Text 33"/>
          <p:cNvSpPr/>
          <p:nvPr/>
        </p:nvSpPr>
        <p:spPr>
          <a:xfrm>
            <a:off x="9159240" y="1634496"/>
            <a:ext cx="1343025" cy="342900"/>
          </a:xfrm>
          <a:prstGeom prst="rect">
            <a:avLst/>
          </a:prstGeom>
          <a:noFill/>
          <a:ln/>
        </p:spPr>
        <p:txBody>
          <a:bodyPr wrap="square" lIns="0" tIns="0" rIns="0" bIns="0" rtlCol="0" anchor="ctr"/>
          <a:lstStyle/>
          <a:p>
            <a:pPr>
              <a:lnSpc>
                <a:spcPct val="100000"/>
              </a:lnSpc>
            </a:pPr>
            <a:r>
              <a:rPr lang="en-US" sz="2250" b="1" dirty="0">
                <a:solidFill>
                  <a:srgbClr val="B71C1C"/>
                </a:solidFill>
                <a:latin typeface="Liter" pitchFamily="34" charset="0"/>
                <a:ea typeface="Liter" pitchFamily="34" charset="-122"/>
                <a:cs typeface="Liter" pitchFamily="34" charset="-120"/>
              </a:rPr>
              <a:t>CRITIQUE</a:t>
            </a:r>
            <a:endParaRPr lang="en-US" sz="1600" dirty="0"/>
          </a:p>
        </p:txBody>
      </p:sp>
      <p:sp>
        <p:nvSpPr>
          <p:cNvPr id="36" name="Text 34"/>
          <p:cNvSpPr/>
          <p:nvPr/>
        </p:nvSpPr>
        <p:spPr>
          <a:xfrm>
            <a:off x="9159240" y="1977396"/>
            <a:ext cx="1276350" cy="228600"/>
          </a:xfrm>
          <a:prstGeom prst="rect">
            <a:avLst/>
          </a:prstGeom>
          <a:noFill/>
          <a:ln/>
        </p:spPr>
        <p:txBody>
          <a:bodyPr wrap="square" lIns="0" tIns="0" rIns="0" bIns="0" rtlCol="0" anchor="ctr"/>
          <a:lstStyle/>
          <a:p>
            <a:pPr>
              <a:lnSpc>
                <a:spcPct val="130000"/>
              </a:lnSpc>
            </a:pPr>
            <a:r>
              <a:rPr lang="en-US" sz="1200" dirty="0">
                <a:solidFill>
                  <a:srgbClr val="86868B"/>
                </a:solidFill>
                <a:latin typeface="Liter" pitchFamily="34" charset="0"/>
                <a:ea typeface="Liter" pitchFamily="34" charset="-122"/>
                <a:cs typeface="Liter" pitchFamily="34" charset="-120"/>
              </a:rPr>
              <a:t>Niveau élevé</a:t>
            </a:r>
            <a:endParaRPr lang="en-US" sz="1600" dirty="0"/>
          </a:p>
        </p:txBody>
      </p:sp>
      <p:sp>
        <p:nvSpPr>
          <p:cNvPr id="37" name="Shape 35"/>
          <p:cNvSpPr/>
          <p:nvPr/>
        </p:nvSpPr>
        <p:spPr>
          <a:xfrm>
            <a:off x="8397240" y="2415546"/>
            <a:ext cx="3171825" cy="838200"/>
          </a:xfrm>
          <a:custGeom>
            <a:avLst/>
            <a:gdLst/>
            <a:ahLst/>
            <a:cxnLst/>
            <a:rect l="l" t="t" r="r" b="b"/>
            <a:pathLst>
              <a:path w="3171825" h="838200">
                <a:moveTo>
                  <a:pt x="114297" y="0"/>
                </a:moveTo>
                <a:lnTo>
                  <a:pt x="3057528" y="0"/>
                </a:lnTo>
                <a:cubicBezTo>
                  <a:pt x="3120653" y="0"/>
                  <a:pt x="3171825" y="51172"/>
                  <a:pt x="3171825" y="114297"/>
                </a:cubicBezTo>
                <a:lnTo>
                  <a:pt x="3171825" y="723903"/>
                </a:lnTo>
                <a:cubicBezTo>
                  <a:pt x="3171825" y="787028"/>
                  <a:pt x="3120653" y="838200"/>
                  <a:pt x="3057528" y="838200"/>
                </a:cubicBezTo>
                <a:lnTo>
                  <a:pt x="114297" y="838200"/>
                </a:lnTo>
                <a:cubicBezTo>
                  <a:pt x="51172" y="838200"/>
                  <a:pt x="0" y="787028"/>
                  <a:pt x="0" y="723903"/>
                </a:cubicBezTo>
                <a:lnTo>
                  <a:pt x="0" y="114297"/>
                </a:lnTo>
                <a:cubicBezTo>
                  <a:pt x="0" y="51172"/>
                  <a:pt x="51172" y="0"/>
                  <a:pt x="114297" y="0"/>
                </a:cubicBezTo>
                <a:close/>
              </a:path>
            </a:pathLst>
          </a:custGeom>
          <a:solidFill>
            <a:srgbClr val="B71C1C">
              <a:alpha val="10196"/>
            </a:srgbClr>
          </a:solidFill>
          <a:ln/>
        </p:spPr>
      </p:sp>
      <p:sp>
        <p:nvSpPr>
          <p:cNvPr id="38" name="Text 36"/>
          <p:cNvSpPr/>
          <p:nvPr/>
        </p:nvSpPr>
        <p:spPr>
          <a:xfrm>
            <a:off x="8549640" y="2567946"/>
            <a:ext cx="2943225" cy="228600"/>
          </a:xfrm>
          <a:prstGeom prst="rect">
            <a:avLst/>
          </a:prstGeom>
          <a:noFill/>
          <a:ln/>
        </p:spPr>
        <p:txBody>
          <a:bodyPr wrap="square" lIns="0" tIns="0" rIns="0" bIns="0" rtlCol="0" anchor="ctr"/>
          <a:lstStyle/>
          <a:p>
            <a:pPr>
              <a:lnSpc>
                <a:spcPct val="130000"/>
              </a:lnSpc>
            </a:pPr>
            <a:r>
              <a:rPr lang="en-US" sz="1200" dirty="0">
                <a:solidFill>
                  <a:srgbClr val="86868B"/>
                </a:solidFill>
                <a:latin typeface="Liter" pitchFamily="34" charset="0"/>
                <a:ea typeface="Liter" pitchFamily="34" charset="-122"/>
                <a:cs typeface="Liter" pitchFamily="34" charset="-120"/>
              </a:rPr>
              <a:t>Condition</a:t>
            </a:r>
            <a:endParaRPr lang="en-US" sz="1600" dirty="0"/>
          </a:p>
        </p:txBody>
      </p:sp>
      <p:sp>
        <p:nvSpPr>
          <p:cNvPr id="39" name="Text 37"/>
          <p:cNvSpPr/>
          <p:nvPr/>
        </p:nvSpPr>
        <p:spPr>
          <a:xfrm>
            <a:off x="8549640" y="2834646"/>
            <a:ext cx="2952750" cy="266700"/>
          </a:xfrm>
          <a:prstGeom prst="rect">
            <a:avLst/>
          </a:prstGeom>
          <a:noFill/>
          <a:ln/>
        </p:spPr>
        <p:txBody>
          <a:bodyPr wrap="square" lIns="0" tIns="0" rIns="0" bIns="0" rtlCol="0" anchor="ctr"/>
          <a:lstStyle/>
          <a:p>
            <a:pPr>
              <a:lnSpc>
                <a:spcPct val="130000"/>
              </a:lnSpc>
            </a:pPr>
            <a:r>
              <a:rPr lang="en-US" sz="1350" dirty="0">
                <a:solidFill>
                  <a:srgbClr val="1D1D1D"/>
                </a:solidFill>
                <a:latin typeface="MiSans" pitchFamily="34" charset="0"/>
                <a:ea typeface="MiSans" pitchFamily="34" charset="-122"/>
                <a:cs typeface="MiSans" pitchFamily="34" charset="-120"/>
              </a:rPr>
              <a:t>waterLevel &gt; 50%</a:t>
            </a:r>
            <a:endParaRPr lang="en-US" sz="1600" dirty="0"/>
          </a:p>
        </p:txBody>
      </p:sp>
      <p:sp>
        <p:nvSpPr>
          <p:cNvPr id="40" name="Text 38"/>
          <p:cNvSpPr/>
          <p:nvPr/>
        </p:nvSpPr>
        <p:spPr>
          <a:xfrm>
            <a:off x="8397240" y="3406146"/>
            <a:ext cx="3248025" cy="228600"/>
          </a:xfrm>
          <a:prstGeom prst="rect">
            <a:avLst/>
          </a:prstGeom>
          <a:noFill/>
          <a:ln/>
        </p:spPr>
        <p:txBody>
          <a:bodyPr wrap="square" lIns="0" tIns="0" rIns="0" bIns="0" rtlCol="0" anchor="ctr"/>
          <a:lstStyle/>
          <a:p>
            <a:pPr>
              <a:lnSpc>
                <a:spcPct val="130000"/>
              </a:lnSpc>
            </a:pPr>
            <a:r>
              <a:rPr lang="en-US" sz="1200" dirty="0">
                <a:solidFill>
                  <a:srgbClr val="86868B"/>
                </a:solidFill>
                <a:latin typeface="Liter" pitchFamily="34" charset="0"/>
                <a:ea typeface="Liter" pitchFamily="34" charset="-122"/>
                <a:cs typeface="Liter" pitchFamily="34" charset="-120"/>
              </a:rPr>
              <a:t>LED Verte: OFF</a:t>
            </a:r>
            <a:endParaRPr lang="en-US" sz="1600" dirty="0"/>
          </a:p>
        </p:txBody>
      </p:sp>
      <p:sp>
        <p:nvSpPr>
          <p:cNvPr id="41" name="Text 39"/>
          <p:cNvSpPr/>
          <p:nvPr/>
        </p:nvSpPr>
        <p:spPr>
          <a:xfrm>
            <a:off x="8397240" y="3710946"/>
            <a:ext cx="3248025" cy="228600"/>
          </a:xfrm>
          <a:prstGeom prst="rect">
            <a:avLst/>
          </a:prstGeom>
          <a:noFill/>
          <a:ln/>
        </p:spPr>
        <p:txBody>
          <a:bodyPr wrap="square" lIns="0" tIns="0" rIns="0" bIns="0" rtlCol="0" anchor="ctr"/>
          <a:lstStyle/>
          <a:p>
            <a:pPr>
              <a:lnSpc>
                <a:spcPct val="130000"/>
              </a:lnSpc>
            </a:pPr>
            <a:r>
              <a:rPr lang="en-US" sz="1200" dirty="0">
                <a:solidFill>
                  <a:srgbClr val="86868B"/>
                </a:solidFill>
                <a:latin typeface="Liter" pitchFamily="34" charset="0"/>
                <a:ea typeface="Liter" pitchFamily="34" charset="-122"/>
                <a:cs typeface="Liter" pitchFamily="34" charset="-120"/>
              </a:rPr>
              <a:t>LED Jaune: OFF</a:t>
            </a:r>
            <a:endParaRPr lang="en-US" sz="1600" dirty="0"/>
          </a:p>
        </p:txBody>
      </p:sp>
      <p:sp>
        <p:nvSpPr>
          <p:cNvPr id="42" name="Text 40"/>
          <p:cNvSpPr/>
          <p:nvPr/>
        </p:nvSpPr>
        <p:spPr>
          <a:xfrm>
            <a:off x="8397240" y="4015746"/>
            <a:ext cx="3248025" cy="228600"/>
          </a:xfrm>
          <a:prstGeom prst="rect">
            <a:avLst/>
          </a:prstGeom>
          <a:noFill/>
          <a:ln/>
        </p:spPr>
        <p:txBody>
          <a:bodyPr wrap="square" lIns="0" tIns="0" rIns="0" bIns="0" rtlCol="0" anchor="ctr"/>
          <a:lstStyle/>
          <a:p>
            <a:pPr>
              <a:lnSpc>
                <a:spcPct val="130000"/>
              </a:lnSpc>
            </a:pPr>
            <a:r>
              <a:rPr lang="en-US" sz="1200" dirty="0">
                <a:solidFill>
                  <a:srgbClr val="86868B"/>
                </a:solidFill>
                <a:latin typeface="Liter" pitchFamily="34" charset="0"/>
                <a:ea typeface="Liter" pitchFamily="34" charset="-122"/>
                <a:cs typeface="Liter" pitchFamily="34" charset="-120"/>
              </a:rPr>
              <a:t>LED Rouge: </a:t>
            </a:r>
            <a:r>
              <a:rPr lang="en-US" sz="1200" b="1" dirty="0">
                <a:solidFill>
                  <a:srgbClr val="B71C1C"/>
                </a:solidFill>
                <a:latin typeface="Liter" pitchFamily="34" charset="0"/>
                <a:ea typeface="Liter" pitchFamily="34" charset="-122"/>
                <a:cs typeface="Liter" pitchFamily="34" charset="-120"/>
              </a:rPr>
              <a:t>ON</a:t>
            </a:r>
            <a:endParaRPr lang="en-US" sz="1600" dirty="0"/>
          </a:p>
        </p:txBody>
      </p:sp>
      <p:sp>
        <p:nvSpPr>
          <p:cNvPr id="43" name="Text 41"/>
          <p:cNvSpPr/>
          <p:nvPr/>
        </p:nvSpPr>
        <p:spPr>
          <a:xfrm>
            <a:off x="8397240" y="4320546"/>
            <a:ext cx="3248025" cy="228600"/>
          </a:xfrm>
          <a:prstGeom prst="rect">
            <a:avLst/>
          </a:prstGeom>
          <a:noFill/>
          <a:ln/>
        </p:spPr>
        <p:txBody>
          <a:bodyPr wrap="square" lIns="0" tIns="0" rIns="0" bIns="0" rtlCol="0" anchor="ctr"/>
          <a:lstStyle/>
          <a:p>
            <a:pPr>
              <a:lnSpc>
                <a:spcPct val="130000"/>
              </a:lnSpc>
            </a:pPr>
            <a:r>
              <a:rPr lang="en-US" sz="1200" dirty="0">
                <a:solidFill>
                  <a:srgbClr val="86868B"/>
                </a:solidFill>
                <a:latin typeface="Liter" pitchFamily="34" charset="0"/>
                <a:ea typeface="Liter" pitchFamily="34" charset="-122"/>
                <a:cs typeface="Liter" pitchFamily="34" charset="-120"/>
              </a:rPr>
              <a:t>Buzzer: </a:t>
            </a:r>
            <a:r>
              <a:rPr lang="en-US" sz="1200" b="1" dirty="0">
                <a:solidFill>
                  <a:srgbClr val="B71C1C"/>
                </a:solidFill>
                <a:latin typeface="Liter" pitchFamily="34" charset="0"/>
                <a:ea typeface="Liter" pitchFamily="34" charset="-122"/>
                <a:cs typeface="Liter" pitchFamily="34" charset="-120"/>
              </a:rPr>
              <a:t>Actif (120ms)</a:t>
            </a:r>
            <a:endParaRPr lang="en-US" sz="1600" dirty="0"/>
          </a:p>
        </p:txBody>
      </p:sp>
      <p:sp>
        <p:nvSpPr>
          <p:cNvPr id="44" name="Shape 42"/>
          <p:cNvSpPr/>
          <p:nvPr/>
        </p:nvSpPr>
        <p:spPr>
          <a:xfrm>
            <a:off x="8397240" y="5162556"/>
            <a:ext cx="3171825" cy="7620"/>
          </a:xfrm>
          <a:custGeom>
            <a:avLst/>
            <a:gdLst/>
            <a:ahLst/>
            <a:cxnLst/>
            <a:rect l="l" t="t" r="r" b="b"/>
            <a:pathLst>
              <a:path w="3171825" h="7620">
                <a:moveTo>
                  <a:pt x="0" y="0"/>
                </a:moveTo>
                <a:lnTo>
                  <a:pt x="3171825" y="0"/>
                </a:lnTo>
                <a:lnTo>
                  <a:pt x="3171825" y="7620"/>
                </a:lnTo>
                <a:lnTo>
                  <a:pt x="0" y="7620"/>
                </a:lnTo>
                <a:lnTo>
                  <a:pt x="0" y="0"/>
                </a:lnTo>
                <a:close/>
              </a:path>
            </a:pathLst>
          </a:custGeom>
          <a:solidFill>
            <a:srgbClr val="E5E5E5"/>
          </a:solidFill>
          <a:ln/>
        </p:spPr>
      </p:sp>
      <p:sp>
        <p:nvSpPr>
          <p:cNvPr id="45" name="Text 43"/>
          <p:cNvSpPr/>
          <p:nvPr/>
        </p:nvSpPr>
        <p:spPr>
          <a:xfrm>
            <a:off x="8397240" y="5318764"/>
            <a:ext cx="3248025" cy="228600"/>
          </a:xfrm>
          <a:prstGeom prst="rect">
            <a:avLst/>
          </a:prstGeom>
          <a:noFill/>
          <a:ln/>
        </p:spPr>
        <p:txBody>
          <a:bodyPr wrap="square" lIns="0" tIns="0" rIns="0" bIns="0" rtlCol="0" anchor="ctr"/>
          <a:lstStyle/>
          <a:p>
            <a:pPr>
              <a:lnSpc>
                <a:spcPct val="130000"/>
              </a:lnSpc>
            </a:pPr>
            <a:r>
              <a:rPr lang="en-US" sz="1200" dirty="0">
                <a:solidFill>
                  <a:srgbClr val="86868B"/>
                </a:solidFill>
                <a:latin typeface="Liter" pitchFamily="34" charset="0"/>
                <a:ea typeface="Liter" pitchFamily="34" charset="-122"/>
                <a:cs typeface="Liter" pitchFamily="34" charset="-120"/>
              </a:rPr>
              <a:t>Alarme sonore intermittente</a:t>
            </a:r>
            <a:endParaRPr lang="en-US" sz="1600" dirty="0"/>
          </a:p>
        </p:txBody>
      </p:sp>
      <p:sp>
        <p:nvSpPr>
          <p:cNvPr id="46" name="Shape 44"/>
          <p:cNvSpPr/>
          <p:nvPr/>
        </p:nvSpPr>
        <p:spPr>
          <a:xfrm>
            <a:off x="381000" y="5943600"/>
            <a:ext cx="11430000" cy="533400"/>
          </a:xfrm>
          <a:custGeom>
            <a:avLst/>
            <a:gdLst/>
            <a:ahLst/>
            <a:cxnLst/>
            <a:rect l="l" t="t" r="r" b="b"/>
            <a:pathLst>
              <a:path w="11430000" h="533400">
                <a:moveTo>
                  <a:pt x="114302" y="0"/>
                </a:moveTo>
                <a:lnTo>
                  <a:pt x="11315698" y="0"/>
                </a:lnTo>
                <a:cubicBezTo>
                  <a:pt x="11378783" y="0"/>
                  <a:pt x="11430000" y="51217"/>
                  <a:pt x="11430000" y="114302"/>
                </a:cubicBezTo>
                <a:lnTo>
                  <a:pt x="11430000" y="419098"/>
                </a:lnTo>
                <a:cubicBezTo>
                  <a:pt x="11430000" y="482183"/>
                  <a:pt x="11378783" y="533400"/>
                  <a:pt x="11315698" y="533400"/>
                </a:cubicBezTo>
                <a:lnTo>
                  <a:pt x="114302" y="533400"/>
                </a:lnTo>
                <a:cubicBezTo>
                  <a:pt x="51217" y="533400"/>
                  <a:pt x="0" y="482183"/>
                  <a:pt x="0" y="419098"/>
                </a:cubicBezTo>
                <a:lnTo>
                  <a:pt x="0" y="114302"/>
                </a:lnTo>
                <a:cubicBezTo>
                  <a:pt x="0" y="51217"/>
                  <a:pt x="51217" y="0"/>
                  <a:pt x="114302" y="0"/>
                </a:cubicBezTo>
                <a:close/>
              </a:path>
            </a:pathLst>
          </a:custGeom>
          <a:solidFill>
            <a:srgbClr val="F5F5F7"/>
          </a:solidFill>
          <a:ln/>
        </p:spPr>
      </p:sp>
      <p:sp>
        <p:nvSpPr>
          <p:cNvPr id="47" name="Shape 45"/>
          <p:cNvSpPr/>
          <p:nvPr/>
        </p:nvSpPr>
        <p:spPr>
          <a:xfrm>
            <a:off x="542925" y="6126482"/>
            <a:ext cx="171450" cy="152400"/>
          </a:xfrm>
          <a:custGeom>
            <a:avLst/>
            <a:gdLst/>
            <a:ahLst/>
            <a:cxnLst/>
            <a:rect l="l" t="t" r="r" b="b"/>
            <a:pathLst>
              <a:path w="171450" h="152400">
                <a:moveTo>
                  <a:pt x="107394" y="357"/>
                </a:moveTo>
                <a:cubicBezTo>
                  <a:pt x="102334" y="-1101"/>
                  <a:pt x="97066" y="1845"/>
                  <a:pt x="95607" y="6906"/>
                </a:cubicBezTo>
                <a:lnTo>
                  <a:pt x="57507" y="140256"/>
                </a:lnTo>
                <a:cubicBezTo>
                  <a:pt x="56049" y="145316"/>
                  <a:pt x="58995" y="150584"/>
                  <a:pt x="64056" y="152043"/>
                </a:cubicBezTo>
                <a:cubicBezTo>
                  <a:pt x="69116" y="153501"/>
                  <a:pt x="74384" y="150555"/>
                  <a:pt x="75843" y="145494"/>
                </a:cubicBezTo>
                <a:lnTo>
                  <a:pt x="113943" y="12144"/>
                </a:lnTo>
                <a:cubicBezTo>
                  <a:pt x="115401" y="7084"/>
                  <a:pt x="112455" y="1816"/>
                  <a:pt x="107394" y="357"/>
                </a:cubicBezTo>
                <a:close/>
                <a:moveTo>
                  <a:pt x="126623" y="40868"/>
                </a:moveTo>
                <a:cubicBezTo>
                  <a:pt x="122902" y="44589"/>
                  <a:pt x="122902" y="50631"/>
                  <a:pt x="126623" y="54352"/>
                </a:cubicBezTo>
                <a:lnTo>
                  <a:pt x="148471" y="76200"/>
                </a:lnTo>
                <a:lnTo>
                  <a:pt x="126623" y="98048"/>
                </a:lnTo>
                <a:cubicBezTo>
                  <a:pt x="122902" y="101769"/>
                  <a:pt x="122902" y="107811"/>
                  <a:pt x="126623" y="111532"/>
                </a:cubicBezTo>
                <a:cubicBezTo>
                  <a:pt x="130344" y="115253"/>
                  <a:pt x="136386" y="115253"/>
                  <a:pt x="140107" y="111532"/>
                </a:cubicBezTo>
                <a:lnTo>
                  <a:pt x="168682" y="82957"/>
                </a:lnTo>
                <a:cubicBezTo>
                  <a:pt x="172403" y="79236"/>
                  <a:pt x="172403" y="73194"/>
                  <a:pt x="168682" y="69473"/>
                </a:cubicBezTo>
                <a:lnTo>
                  <a:pt x="140107" y="40898"/>
                </a:lnTo>
                <a:cubicBezTo>
                  <a:pt x="136386" y="37177"/>
                  <a:pt x="130344" y="37177"/>
                  <a:pt x="126623" y="40898"/>
                </a:cubicBezTo>
                <a:close/>
                <a:moveTo>
                  <a:pt x="44857" y="40868"/>
                </a:moveTo>
                <a:cubicBezTo>
                  <a:pt x="41136" y="37147"/>
                  <a:pt x="35094" y="37147"/>
                  <a:pt x="31373" y="40868"/>
                </a:cubicBezTo>
                <a:lnTo>
                  <a:pt x="2798" y="69443"/>
                </a:lnTo>
                <a:cubicBezTo>
                  <a:pt x="-923" y="73164"/>
                  <a:pt x="-923" y="79206"/>
                  <a:pt x="2798" y="82927"/>
                </a:cubicBezTo>
                <a:lnTo>
                  <a:pt x="31373" y="111502"/>
                </a:lnTo>
                <a:cubicBezTo>
                  <a:pt x="35094" y="115223"/>
                  <a:pt x="41136" y="115223"/>
                  <a:pt x="44857" y="111502"/>
                </a:cubicBezTo>
                <a:cubicBezTo>
                  <a:pt x="48578" y="107781"/>
                  <a:pt x="48578" y="101739"/>
                  <a:pt x="44857" y="98018"/>
                </a:cubicBezTo>
                <a:lnTo>
                  <a:pt x="23009" y="76200"/>
                </a:lnTo>
                <a:lnTo>
                  <a:pt x="44827" y="54352"/>
                </a:lnTo>
                <a:cubicBezTo>
                  <a:pt x="48548" y="50631"/>
                  <a:pt x="48548" y="44589"/>
                  <a:pt x="44827" y="40868"/>
                </a:cubicBezTo>
                <a:close/>
              </a:path>
            </a:pathLst>
          </a:custGeom>
          <a:solidFill>
            <a:srgbClr val="0071E3"/>
          </a:solidFill>
          <a:ln/>
        </p:spPr>
      </p:sp>
      <p:sp>
        <p:nvSpPr>
          <p:cNvPr id="48" name="Text 46"/>
          <p:cNvSpPr/>
          <p:nvPr/>
        </p:nvSpPr>
        <p:spPr>
          <a:xfrm>
            <a:off x="781050" y="6096000"/>
            <a:ext cx="10953750" cy="228600"/>
          </a:xfrm>
          <a:prstGeom prst="rect">
            <a:avLst/>
          </a:prstGeom>
          <a:noFill/>
          <a:ln/>
        </p:spPr>
        <p:txBody>
          <a:bodyPr wrap="square" lIns="0" tIns="0" rIns="0" bIns="0" rtlCol="0" anchor="ctr"/>
          <a:lstStyle/>
          <a:p>
            <a:pPr>
              <a:lnSpc>
                <a:spcPct val="130000"/>
              </a:lnSpc>
            </a:pPr>
            <a:r>
              <a:rPr lang="en-US" sz="1200" b="1" dirty="0">
                <a:solidFill>
                  <a:srgbClr val="1D1D1D"/>
                </a:solidFill>
                <a:latin typeface="Liter" pitchFamily="34" charset="0"/>
                <a:ea typeface="Liter" pitchFamily="34" charset="-122"/>
                <a:cs typeface="Liter" pitchFamily="34" charset="-120"/>
              </a:rPr>
              <a:t>Fonction beepNonBlocking():</a:t>
            </a:r>
            <a:r>
              <a:rPr lang="en-US" sz="1200" dirty="0">
                <a:solidFill>
                  <a:srgbClr val="86868B"/>
                </a:solidFill>
                <a:latin typeface="Liter" pitchFamily="34" charset="0"/>
                <a:ea typeface="Liter" pitchFamily="34" charset="-122"/>
                <a:cs typeface="Liter" pitchFamily="34" charset="-120"/>
              </a:rPr>
              <a:t> Bascule l'état du buzzer toutes les 120ms sans bloquer la boucle principale</a:t>
            </a:r>
            <a:endParaRPr lang="en-US" sz="1600" dirty="0"/>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381000" y="1079181"/>
            <a:ext cx="2116574" cy="1737360"/>
          </a:xfrm>
          <a:prstGeom prst="rect">
            <a:avLst/>
          </a:prstGeom>
          <a:noFill/>
          <a:ln/>
        </p:spPr>
        <p:txBody>
          <a:bodyPr wrap="square" lIns="0" tIns="0" rIns="0" bIns="0" rtlCol="0" anchor="ctr"/>
          <a:lstStyle/>
          <a:p>
            <a:pPr>
              <a:lnSpc>
                <a:spcPct val="80000"/>
              </a:lnSpc>
            </a:pPr>
            <a:r>
              <a:rPr lang="en-US" sz="9600" b="1" dirty="0">
                <a:solidFill>
                  <a:srgbClr val="0071E3"/>
                </a:solidFill>
                <a:latin typeface="Liter" pitchFamily="34" charset="0"/>
                <a:ea typeface="Liter" pitchFamily="34" charset="-122"/>
                <a:cs typeface="Liter" pitchFamily="34" charset="-120"/>
              </a:rPr>
              <a:t>06</a:t>
            </a:r>
            <a:endParaRPr lang="en-US" sz="1600" dirty="0"/>
          </a:p>
        </p:txBody>
      </p:sp>
      <p:sp>
        <p:nvSpPr>
          <p:cNvPr id="3" name="Text 1"/>
          <p:cNvSpPr/>
          <p:nvPr/>
        </p:nvSpPr>
        <p:spPr>
          <a:xfrm>
            <a:off x="381000" y="2862263"/>
            <a:ext cx="11772900" cy="1714500"/>
          </a:xfrm>
          <a:prstGeom prst="rect">
            <a:avLst/>
          </a:prstGeom>
          <a:noFill/>
          <a:ln/>
        </p:spPr>
        <p:txBody>
          <a:bodyPr wrap="square" lIns="0" tIns="0" rIns="0" bIns="0" rtlCol="0" anchor="ctr"/>
          <a:lstStyle/>
          <a:p>
            <a:pPr>
              <a:lnSpc>
                <a:spcPct val="100000"/>
              </a:lnSpc>
            </a:pPr>
            <a:r>
              <a:rPr lang="en-US" sz="5400" b="1" dirty="0">
                <a:solidFill>
                  <a:srgbClr val="1D1D1D"/>
                </a:solidFill>
                <a:latin typeface="Liter" pitchFamily="34" charset="0"/>
                <a:ea typeface="Liter" pitchFamily="34" charset="-122"/>
                <a:cs typeface="Liter" pitchFamily="34" charset="-120"/>
              </a:rPr>
              <a:t>Tableau de bord</a:t>
            </a:r>
            <a:endParaRPr lang="en-US" sz="1600" dirty="0"/>
          </a:p>
          <a:p>
            <a:pPr>
              <a:lnSpc>
                <a:spcPct val="100000"/>
              </a:lnSpc>
            </a:pPr>
            <a:r>
              <a:rPr lang="en-US" sz="5400" b="1" dirty="0">
                <a:solidFill>
                  <a:srgbClr val="1D1D1D"/>
                </a:solidFill>
                <a:latin typeface="Liter" pitchFamily="34" charset="0"/>
                <a:ea typeface="Liter" pitchFamily="34" charset="-122"/>
                <a:cs typeface="Liter" pitchFamily="34" charset="-120"/>
              </a:rPr>
              <a:t>web</a:t>
            </a:r>
            <a:endParaRPr lang="en-US" sz="1600" dirty="0"/>
          </a:p>
        </p:txBody>
      </p:sp>
      <p:sp>
        <p:nvSpPr>
          <p:cNvPr id="4" name="Shape 2"/>
          <p:cNvSpPr/>
          <p:nvPr/>
        </p:nvSpPr>
        <p:spPr>
          <a:xfrm>
            <a:off x="381000" y="4805363"/>
            <a:ext cx="1219200" cy="38100"/>
          </a:xfrm>
          <a:custGeom>
            <a:avLst/>
            <a:gdLst/>
            <a:ahLst/>
            <a:cxnLst/>
            <a:rect l="l" t="t" r="r" b="b"/>
            <a:pathLst>
              <a:path w="1219200" h="38100">
                <a:moveTo>
                  <a:pt x="0" y="0"/>
                </a:moveTo>
                <a:lnTo>
                  <a:pt x="1219200" y="0"/>
                </a:lnTo>
                <a:lnTo>
                  <a:pt x="1219200" y="38100"/>
                </a:lnTo>
                <a:lnTo>
                  <a:pt x="0" y="38100"/>
                </a:lnTo>
                <a:lnTo>
                  <a:pt x="0" y="0"/>
                </a:lnTo>
                <a:close/>
              </a:path>
            </a:pathLst>
          </a:custGeom>
          <a:solidFill>
            <a:srgbClr val="0071E3"/>
          </a:solidFill>
          <a:ln/>
        </p:spPr>
      </p:sp>
      <p:sp>
        <p:nvSpPr>
          <p:cNvPr id="5" name="Text 3"/>
          <p:cNvSpPr/>
          <p:nvPr/>
        </p:nvSpPr>
        <p:spPr>
          <a:xfrm>
            <a:off x="381000" y="5148263"/>
            <a:ext cx="7429500" cy="371475"/>
          </a:xfrm>
          <a:prstGeom prst="rect">
            <a:avLst/>
          </a:prstGeom>
          <a:noFill/>
          <a:ln/>
        </p:spPr>
        <p:txBody>
          <a:bodyPr wrap="square" lIns="0" tIns="0" rIns="0" bIns="0" rtlCol="0" anchor="ctr"/>
          <a:lstStyle/>
          <a:p>
            <a:pPr>
              <a:lnSpc>
                <a:spcPct val="140000"/>
              </a:lnSpc>
            </a:pPr>
            <a:r>
              <a:rPr lang="en-US" sz="1800" dirty="0">
                <a:solidFill>
                  <a:srgbClr val="86868B"/>
                </a:solidFill>
                <a:latin typeface="Liter" pitchFamily="34" charset="0"/>
                <a:ea typeface="Liter" pitchFamily="34" charset="-122"/>
                <a:cs typeface="Liter" pitchFamily="34" charset="-120"/>
              </a:rPr>
              <a:t>Interface de monitoring à distance via WiFi</a:t>
            </a:r>
            <a:endParaRPr lang="en-US" sz="1600" dirty="0"/>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346364" y="346364"/>
            <a:ext cx="11559886" cy="173182"/>
          </a:xfrm>
          <a:prstGeom prst="rect">
            <a:avLst/>
          </a:prstGeom>
          <a:noFill/>
          <a:ln/>
        </p:spPr>
        <p:txBody>
          <a:bodyPr wrap="square" lIns="0" tIns="0" rIns="0" bIns="0" rtlCol="0" anchor="ctr"/>
          <a:lstStyle/>
          <a:p>
            <a:pPr>
              <a:lnSpc>
                <a:spcPct val="120000"/>
              </a:lnSpc>
            </a:pPr>
            <a:r>
              <a:rPr lang="en-US" sz="955" b="1" kern="0" spc="95" dirty="0">
                <a:solidFill>
                  <a:srgbClr val="86868B"/>
                </a:solidFill>
                <a:latin typeface="Liter" pitchFamily="34" charset="0"/>
                <a:ea typeface="Liter" pitchFamily="34" charset="-122"/>
                <a:cs typeface="Liter" pitchFamily="34" charset="-120"/>
              </a:rPr>
              <a:t>06 / SERVEUR WEB</a:t>
            </a:r>
            <a:endParaRPr lang="en-US" sz="1600" dirty="0"/>
          </a:p>
        </p:txBody>
      </p:sp>
      <p:sp>
        <p:nvSpPr>
          <p:cNvPr id="3" name="Text 1"/>
          <p:cNvSpPr/>
          <p:nvPr/>
        </p:nvSpPr>
        <p:spPr>
          <a:xfrm>
            <a:off x="346364" y="623455"/>
            <a:ext cx="11707091" cy="415636"/>
          </a:xfrm>
          <a:prstGeom prst="rect">
            <a:avLst/>
          </a:prstGeom>
          <a:noFill/>
          <a:ln/>
        </p:spPr>
        <p:txBody>
          <a:bodyPr wrap="square" lIns="0" tIns="0" rIns="0" bIns="0" rtlCol="0" anchor="ctr"/>
          <a:lstStyle/>
          <a:p>
            <a:pPr>
              <a:lnSpc>
                <a:spcPct val="80000"/>
              </a:lnSpc>
            </a:pPr>
            <a:r>
              <a:rPr lang="en-US" sz="3273" b="1" dirty="0">
                <a:solidFill>
                  <a:srgbClr val="1D1D1D"/>
                </a:solidFill>
                <a:latin typeface="Liter" pitchFamily="34" charset="0"/>
                <a:ea typeface="Liter" pitchFamily="34" charset="-122"/>
                <a:cs typeface="Liter" pitchFamily="34" charset="-120"/>
              </a:rPr>
              <a:t>Serveur web embarqué</a:t>
            </a:r>
            <a:endParaRPr lang="en-US" sz="1600" dirty="0"/>
          </a:p>
        </p:txBody>
      </p:sp>
      <p:sp>
        <p:nvSpPr>
          <p:cNvPr id="4" name="Text 2"/>
          <p:cNvSpPr/>
          <p:nvPr/>
        </p:nvSpPr>
        <p:spPr>
          <a:xfrm>
            <a:off x="346364" y="1246909"/>
            <a:ext cx="5715000" cy="277091"/>
          </a:xfrm>
          <a:prstGeom prst="rect">
            <a:avLst/>
          </a:prstGeom>
          <a:noFill/>
          <a:ln/>
        </p:spPr>
        <p:txBody>
          <a:bodyPr wrap="square" lIns="0" tIns="0" rIns="0" bIns="0" rtlCol="0" anchor="ctr"/>
          <a:lstStyle/>
          <a:p>
            <a:pPr>
              <a:lnSpc>
                <a:spcPct val="110000"/>
              </a:lnSpc>
            </a:pPr>
            <a:r>
              <a:rPr lang="en-US" sz="1636" b="1" dirty="0">
                <a:solidFill>
                  <a:srgbClr val="1D1D1D"/>
                </a:solidFill>
                <a:latin typeface="Liter" pitchFamily="34" charset="0"/>
                <a:ea typeface="Liter" pitchFamily="34" charset="-122"/>
                <a:cs typeface="Liter" pitchFamily="34" charset="-120"/>
              </a:rPr>
              <a:t>Architecture du serveur</a:t>
            </a:r>
            <a:endParaRPr lang="en-US" sz="1600" dirty="0"/>
          </a:p>
        </p:txBody>
      </p:sp>
      <p:sp>
        <p:nvSpPr>
          <p:cNvPr id="5" name="Shape 3"/>
          <p:cNvSpPr/>
          <p:nvPr/>
        </p:nvSpPr>
        <p:spPr>
          <a:xfrm>
            <a:off x="349827" y="1665899"/>
            <a:ext cx="5600700" cy="803564"/>
          </a:xfrm>
          <a:custGeom>
            <a:avLst/>
            <a:gdLst/>
            <a:ahLst/>
            <a:cxnLst/>
            <a:rect l="l" t="t" r="r" b="b"/>
            <a:pathLst>
              <a:path w="5600700" h="803564">
                <a:moveTo>
                  <a:pt x="103909" y="0"/>
                </a:moveTo>
                <a:lnTo>
                  <a:pt x="5496791" y="0"/>
                </a:lnTo>
                <a:cubicBezTo>
                  <a:pt x="5554178" y="0"/>
                  <a:pt x="5600700" y="46522"/>
                  <a:pt x="5600700" y="103909"/>
                </a:cubicBezTo>
                <a:lnTo>
                  <a:pt x="5600700" y="699655"/>
                </a:lnTo>
                <a:cubicBezTo>
                  <a:pt x="5600700" y="757042"/>
                  <a:pt x="5554178" y="803564"/>
                  <a:pt x="5496791" y="803564"/>
                </a:cubicBezTo>
                <a:lnTo>
                  <a:pt x="103909" y="803564"/>
                </a:lnTo>
                <a:cubicBezTo>
                  <a:pt x="46522" y="803564"/>
                  <a:pt x="0" y="757042"/>
                  <a:pt x="0" y="699655"/>
                </a:cubicBezTo>
                <a:lnTo>
                  <a:pt x="0" y="103909"/>
                </a:lnTo>
                <a:cubicBezTo>
                  <a:pt x="0" y="46560"/>
                  <a:pt x="46560" y="0"/>
                  <a:pt x="103909" y="0"/>
                </a:cubicBezTo>
                <a:close/>
              </a:path>
            </a:pathLst>
          </a:custGeom>
          <a:solidFill>
            <a:srgbClr val="FFFFFF"/>
          </a:solidFill>
          <a:ln w="10160">
            <a:solidFill>
              <a:srgbClr val="E5E5E5"/>
            </a:solidFill>
            <a:prstDash val="solid"/>
          </a:ln>
        </p:spPr>
      </p:sp>
      <p:sp>
        <p:nvSpPr>
          <p:cNvPr id="6" name="Shape 4"/>
          <p:cNvSpPr/>
          <p:nvPr/>
        </p:nvSpPr>
        <p:spPr>
          <a:xfrm>
            <a:off x="524308" y="1842551"/>
            <a:ext cx="151534" cy="173182"/>
          </a:xfrm>
          <a:custGeom>
            <a:avLst/>
            <a:gdLst/>
            <a:ahLst/>
            <a:cxnLst/>
            <a:rect l="l" t="t" r="r" b="b"/>
            <a:pathLst>
              <a:path w="151534" h="173182">
                <a:moveTo>
                  <a:pt x="21648" y="10824"/>
                </a:moveTo>
                <a:cubicBezTo>
                  <a:pt x="9708" y="10824"/>
                  <a:pt x="0" y="20532"/>
                  <a:pt x="0" y="32472"/>
                </a:cubicBezTo>
                <a:lnTo>
                  <a:pt x="0" y="54119"/>
                </a:lnTo>
                <a:cubicBezTo>
                  <a:pt x="0" y="66059"/>
                  <a:pt x="9708" y="75767"/>
                  <a:pt x="21648" y="75767"/>
                </a:cubicBezTo>
                <a:lnTo>
                  <a:pt x="129886" y="75767"/>
                </a:lnTo>
                <a:cubicBezTo>
                  <a:pt x="141826" y="75767"/>
                  <a:pt x="151534" y="66059"/>
                  <a:pt x="151534" y="54119"/>
                </a:cubicBezTo>
                <a:lnTo>
                  <a:pt x="151534" y="32472"/>
                </a:lnTo>
                <a:cubicBezTo>
                  <a:pt x="151534" y="20532"/>
                  <a:pt x="141826" y="10824"/>
                  <a:pt x="129886" y="10824"/>
                </a:cubicBezTo>
                <a:lnTo>
                  <a:pt x="21648" y="10824"/>
                </a:lnTo>
                <a:close/>
                <a:moveTo>
                  <a:pt x="94709" y="35178"/>
                </a:moveTo>
                <a:cubicBezTo>
                  <a:pt x="99189" y="35178"/>
                  <a:pt x="102827" y="38815"/>
                  <a:pt x="102827" y="43295"/>
                </a:cubicBezTo>
                <a:cubicBezTo>
                  <a:pt x="102827" y="47776"/>
                  <a:pt x="99189" y="51413"/>
                  <a:pt x="94709" y="51413"/>
                </a:cubicBezTo>
                <a:cubicBezTo>
                  <a:pt x="90228" y="51413"/>
                  <a:pt x="86591" y="47776"/>
                  <a:pt x="86591" y="43295"/>
                </a:cubicBezTo>
                <a:cubicBezTo>
                  <a:pt x="86591" y="38815"/>
                  <a:pt x="90228" y="35178"/>
                  <a:pt x="94709" y="35178"/>
                </a:cubicBezTo>
                <a:close/>
                <a:moveTo>
                  <a:pt x="113651" y="43295"/>
                </a:moveTo>
                <a:cubicBezTo>
                  <a:pt x="113651" y="38815"/>
                  <a:pt x="117288" y="35178"/>
                  <a:pt x="121768" y="35178"/>
                </a:cubicBezTo>
                <a:cubicBezTo>
                  <a:pt x="126249" y="35178"/>
                  <a:pt x="129886" y="38815"/>
                  <a:pt x="129886" y="43295"/>
                </a:cubicBezTo>
                <a:cubicBezTo>
                  <a:pt x="129886" y="47776"/>
                  <a:pt x="126249" y="51413"/>
                  <a:pt x="121768" y="51413"/>
                </a:cubicBezTo>
                <a:cubicBezTo>
                  <a:pt x="117288" y="51413"/>
                  <a:pt x="113651" y="47776"/>
                  <a:pt x="113651" y="43295"/>
                </a:cubicBezTo>
                <a:close/>
                <a:moveTo>
                  <a:pt x="21648" y="97415"/>
                </a:moveTo>
                <a:cubicBezTo>
                  <a:pt x="9708" y="97415"/>
                  <a:pt x="0" y="107122"/>
                  <a:pt x="0" y="119063"/>
                </a:cubicBezTo>
                <a:lnTo>
                  <a:pt x="0" y="140710"/>
                </a:lnTo>
                <a:cubicBezTo>
                  <a:pt x="0" y="152650"/>
                  <a:pt x="9708" y="162358"/>
                  <a:pt x="21648" y="162358"/>
                </a:cubicBezTo>
                <a:lnTo>
                  <a:pt x="129886" y="162358"/>
                </a:lnTo>
                <a:cubicBezTo>
                  <a:pt x="141826" y="162358"/>
                  <a:pt x="151534" y="152650"/>
                  <a:pt x="151534" y="140710"/>
                </a:cubicBezTo>
                <a:lnTo>
                  <a:pt x="151534" y="119063"/>
                </a:lnTo>
                <a:cubicBezTo>
                  <a:pt x="151534" y="107122"/>
                  <a:pt x="141826" y="97415"/>
                  <a:pt x="129886" y="97415"/>
                </a:cubicBezTo>
                <a:lnTo>
                  <a:pt x="21648" y="97415"/>
                </a:lnTo>
                <a:close/>
                <a:moveTo>
                  <a:pt x="94709" y="121768"/>
                </a:moveTo>
                <a:cubicBezTo>
                  <a:pt x="99189" y="121768"/>
                  <a:pt x="102827" y="125406"/>
                  <a:pt x="102827" y="129886"/>
                </a:cubicBezTo>
                <a:cubicBezTo>
                  <a:pt x="102827" y="134367"/>
                  <a:pt x="99189" y="138004"/>
                  <a:pt x="94709" y="138004"/>
                </a:cubicBezTo>
                <a:cubicBezTo>
                  <a:pt x="90228" y="138004"/>
                  <a:pt x="86591" y="134367"/>
                  <a:pt x="86591" y="129886"/>
                </a:cubicBezTo>
                <a:cubicBezTo>
                  <a:pt x="86591" y="125406"/>
                  <a:pt x="90228" y="121768"/>
                  <a:pt x="94709" y="121768"/>
                </a:cubicBezTo>
                <a:close/>
                <a:moveTo>
                  <a:pt x="113651" y="129886"/>
                </a:moveTo>
                <a:cubicBezTo>
                  <a:pt x="113651" y="125406"/>
                  <a:pt x="117288" y="121768"/>
                  <a:pt x="121768" y="121768"/>
                </a:cubicBezTo>
                <a:cubicBezTo>
                  <a:pt x="126249" y="121768"/>
                  <a:pt x="129886" y="125406"/>
                  <a:pt x="129886" y="129886"/>
                </a:cubicBezTo>
                <a:cubicBezTo>
                  <a:pt x="129886" y="134367"/>
                  <a:pt x="126249" y="138004"/>
                  <a:pt x="121768" y="138004"/>
                </a:cubicBezTo>
                <a:cubicBezTo>
                  <a:pt x="117288" y="138004"/>
                  <a:pt x="113651" y="134367"/>
                  <a:pt x="113651" y="129886"/>
                </a:cubicBezTo>
                <a:close/>
              </a:path>
            </a:pathLst>
          </a:custGeom>
          <a:solidFill>
            <a:srgbClr val="0071E3"/>
          </a:solidFill>
          <a:ln/>
        </p:spPr>
      </p:sp>
      <p:sp>
        <p:nvSpPr>
          <p:cNvPr id="7" name="Text 5"/>
          <p:cNvSpPr/>
          <p:nvPr/>
        </p:nvSpPr>
        <p:spPr>
          <a:xfrm>
            <a:off x="812223" y="1807915"/>
            <a:ext cx="839932" cy="242455"/>
          </a:xfrm>
          <a:prstGeom prst="rect">
            <a:avLst/>
          </a:prstGeom>
          <a:noFill/>
          <a:ln/>
        </p:spPr>
        <p:txBody>
          <a:bodyPr wrap="square" lIns="0" tIns="0" rIns="0" bIns="0" rtlCol="0" anchor="ctr"/>
          <a:lstStyle/>
          <a:p>
            <a:pPr>
              <a:lnSpc>
                <a:spcPct val="130000"/>
              </a:lnSpc>
            </a:pPr>
            <a:r>
              <a:rPr lang="en-US" sz="1227" b="1" dirty="0">
                <a:solidFill>
                  <a:srgbClr val="1D1D1D"/>
                </a:solidFill>
                <a:latin typeface="Liter" pitchFamily="34" charset="0"/>
                <a:ea typeface="Liter" pitchFamily="34" charset="-122"/>
                <a:cs typeface="Liter" pitchFamily="34" charset="-120"/>
              </a:rPr>
              <a:t>WiFiServer</a:t>
            </a:r>
            <a:endParaRPr lang="en-US" sz="1600" dirty="0"/>
          </a:p>
        </p:txBody>
      </p:sp>
      <p:sp>
        <p:nvSpPr>
          <p:cNvPr id="8" name="Text 6"/>
          <p:cNvSpPr/>
          <p:nvPr/>
        </p:nvSpPr>
        <p:spPr>
          <a:xfrm>
            <a:off x="491836" y="2119642"/>
            <a:ext cx="5385955" cy="207818"/>
          </a:xfrm>
          <a:prstGeom prst="rect">
            <a:avLst/>
          </a:prstGeom>
          <a:noFill/>
          <a:ln/>
        </p:spPr>
        <p:txBody>
          <a:bodyPr wrap="square" lIns="0" tIns="0" rIns="0" bIns="0" rtlCol="0" anchor="ctr"/>
          <a:lstStyle/>
          <a:p>
            <a:pPr>
              <a:lnSpc>
                <a:spcPct val="130000"/>
              </a:lnSpc>
            </a:pPr>
            <a:r>
              <a:rPr lang="en-US" sz="1091" dirty="0">
                <a:solidFill>
                  <a:srgbClr val="86868B"/>
                </a:solidFill>
                <a:latin typeface="Liter" pitchFamily="34" charset="0"/>
                <a:ea typeface="Liter" pitchFamily="34" charset="-122"/>
                <a:cs typeface="Liter" pitchFamily="34" charset="-120"/>
              </a:rPr>
              <a:t>Serveur HTTP sur port 80, écoute des connexions entrantes</a:t>
            </a:r>
            <a:endParaRPr lang="en-US" sz="1600" dirty="0"/>
          </a:p>
        </p:txBody>
      </p:sp>
      <p:sp>
        <p:nvSpPr>
          <p:cNvPr id="9" name="Shape 7"/>
          <p:cNvSpPr/>
          <p:nvPr/>
        </p:nvSpPr>
        <p:spPr>
          <a:xfrm>
            <a:off x="349827" y="2580304"/>
            <a:ext cx="5600700" cy="803564"/>
          </a:xfrm>
          <a:custGeom>
            <a:avLst/>
            <a:gdLst/>
            <a:ahLst/>
            <a:cxnLst/>
            <a:rect l="l" t="t" r="r" b="b"/>
            <a:pathLst>
              <a:path w="5600700" h="803564">
                <a:moveTo>
                  <a:pt x="103909" y="0"/>
                </a:moveTo>
                <a:lnTo>
                  <a:pt x="5496791" y="0"/>
                </a:lnTo>
                <a:cubicBezTo>
                  <a:pt x="5554178" y="0"/>
                  <a:pt x="5600700" y="46522"/>
                  <a:pt x="5600700" y="103909"/>
                </a:cubicBezTo>
                <a:lnTo>
                  <a:pt x="5600700" y="699655"/>
                </a:lnTo>
                <a:cubicBezTo>
                  <a:pt x="5600700" y="757042"/>
                  <a:pt x="5554178" y="803564"/>
                  <a:pt x="5496791" y="803564"/>
                </a:cubicBezTo>
                <a:lnTo>
                  <a:pt x="103909" y="803564"/>
                </a:lnTo>
                <a:cubicBezTo>
                  <a:pt x="46522" y="803564"/>
                  <a:pt x="0" y="757042"/>
                  <a:pt x="0" y="699655"/>
                </a:cubicBezTo>
                <a:lnTo>
                  <a:pt x="0" y="103909"/>
                </a:lnTo>
                <a:cubicBezTo>
                  <a:pt x="0" y="46560"/>
                  <a:pt x="46560" y="0"/>
                  <a:pt x="103909" y="0"/>
                </a:cubicBezTo>
                <a:close/>
              </a:path>
            </a:pathLst>
          </a:custGeom>
          <a:solidFill>
            <a:srgbClr val="FFFFFF"/>
          </a:solidFill>
          <a:ln w="10160">
            <a:solidFill>
              <a:srgbClr val="E5E5E5"/>
            </a:solidFill>
            <a:prstDash val="solid"/>
          </a:ln>
        </p:spPr>
      </p:sp>
      <p:sp>
        <p:nvSpPr>
          <p:cNvPr id="10" name="Shape 8"/>
          <p:cNvSpPr/>
          <p:nvPr/>
        </p:nvSpPr>
        <p:spPr>
          <a:xfrm>
            <a:off x="513484" y="2756948"/>
            <a:ext cx="173182" cy="173182"/>
          </a:xfrm>
          <a:custGeom>
            <a:avLst/>
            <a:gdLst/>
            <a:ahLst/>
            <a:cxnLst/>
            <a:rect l="l" t="t" r="r" b="b"/>
            <a:pathLst>
              <a:path w="173182" h="173182">
                <a:moveTo>
                  <a:pt x="86591" y="0"/>
                </a:moveTo>
                <a:cubicBezTo>
                  <a:pt x="134382" y="0"/>
                  <a:pt x="173182" y="38800"/>
                  <a:pt x="173182" y="86591"/>
                </a:cubicBezTo>
                <a:cubicBezTo>
                  <a:pt x="173182" y="134382"/>
                  <a:pt x="134382" y="173182"/>
                  <a:pt x="86591" y="173182"/>
                </a:cubicBezTo>
                <a:cubicBezTo>
                  <a:pt x="38800" y="173182"/>
                  <a:pt x="0" y="134382"/>
                  <a:pt x="0" y="86591"/>
                </a:cubicBezTo>
                <a:cubicBezTo>
                  <a:pt x="0" y="38800"/>
                  <a:pt x="38800" y="0"/>
                  <a:pt x="86591" y="0"/>
                </a:cubicBezTo>
                <a:close/>
                <a:moveTo>
                  <a:pt x="78473" y="40589"/>
                </a:moveTo>
                <a:lnTo>
                  <a:pt x="78473" y="86591"/>
                </a:lnTo>
                <a:cubicBezTo>
                  <a:pt x="78473" y="89297"/>
                  <a:pt x="79826" y="91834"/>
                  <a:pt x="82092" y="93356"/>
                </a:cubicBezTo>
                <a:lnTo>
                  <a:pt x="114564" y="115004"/>
                </a:lnTo>
                <a:cubicBezTo>
                  <a:pt x="118285" y="117507"/>
                  <a:pt x="123324" y="116492"/>
                  <a:pt x="125827" y="112737"/>
                </a:cubicBezTo>
                <a:cubicBezTo>
                  <a:pt x="128330" y="108983"/>
                  <a:pt x="127316" y="103977"/>
                  <a:pt x="123561" y="101474"/>
                </a:cubicBezTo>
                <a:lnTo>
                  <a:pt x="94709" y="82261"/>
                </a:lnTo>
                <a:lnTo>
                  <a:pt x="94709" y="40589"/>
                </a:lnTo>
                <a:cubicBezTo>
                  <a:pt x="94709" y="36091"/>
                  <a:pt x="91090" y="32472"/>
                  <a:pt x="86591" y="32472"/>
                </a:cubicBezTo>
                <a:cubicBezTo>
                  <a:pt x="82092" y="32472"/>
                  <a:pt x="78473" y="36091"/>
                  <a:pt x="78473" y="40589"/>
                </a:cubicBezTo>
                <a:close/>
              </a:path>
            </a:pathLst>
          </a:custGeom>
          <a:solidFill>
            <a:srgbClr val="0071E3"/>
          </a:solidFill>
          <a:ln/>
        </p:spPr>
      </p:sp>
      <p:sp>
        <p:nvSpPr>
          <p:cNvPr id="11" name="Text 9"/>
          <p:cNvSpPr/>
          <p:nvPr/>
        </p:nvSpPr>
        <p:spPr>
          <a:xfrm>
            <a:off x="812223" y="2722312"/>
            <a:ext cx="1463386" cy="242455"/>
          </a:xfrm>
          <a:prstGeom prst="rect">
            <a:avLst/>
          </a:prstGeom>
          <a:noFill/>
          <a:ln/>
        </p:spPr>
        <p:txBody>
          <a:bodyPr wrap="square" lIns="0" tIns="0" rIns="0" bIns="0" rtlCol="0" anchor="ctr"/>
          <a:lstStyle/>
          <a:p>
            <a:pPr>
              <a:lnSpc>
                <a:spcPct val="130000"/>
              </a:lnSpc>
            </a:pPr>
            <a:r>
              <a:rPr lang="en-US" sz="1227" b="1" dirty="0">
                <a:solidFill>
                  <a:srgbClr val="1D1D1D"/>
                </a:solidFill>
                <a:latin typeface="Liter" pitchFamily="34" charset="0"/>
                <a:ea typeface="Liter" pitchFamily="34" charset="-122"/>
                <a:cs typeface="Liter" pitchFamily="34" charset="-120"/>
              </a:rPr>
              <a:t>Timeout 2 secondes</a:t>
            </a:r>
            <a:endParaRPr lang="en-US" sz="1600" dirty="0"/>
          </a:p>
        </p:txBody>
      </p:sp>
      <p:sp>
        <p:nvSpPr>
          <p:cNvPr id="12" name="Text 10"/>
          <p:cNvSpPr/>
          <p:nvPr/>
        </p:nvSpPr>
        <p:spPr>
          <a:xfrm>
            <a:off x="491836" y="3034039"/>
            <a:ext cx="5385955" cy="207818"/>
          </a:xfrm>
          <a:prstGeom prst="rect">
            <a:avLst/>
          </a:prstGeom>
          <a:noFill/>
          <a:ln/>
        </p:spPr>
        <p:txBody>
          <a:bodyPr wrap="square" lIns="0" tIns="0" rIns="0" bIns="0" rtlCol="0" anchor="ctr"/>
          <a:lstStyle/>
          <a:p>
            <a:pPr>
              <a:lnSpc>
                <a:spcPct val="130000"/>
              </a:lnSpc>
            </a:pPr>
            <a:r>
              <a:rPr lang="en-US" sz="1091" dirty="0">
                <a:solidFill>
                  <a:srgbClr val="86868B"/>
                </a:solidFill>
                <a:latin typeface="Liter" pitchFamily="34" charset="0"/>
                <a:ea typeface="Liter" pitchFamily="34" charset="-122"/>
                <a:cs typeface="Liter" pitchFamily="34" charset="-120"/>
              </a:rPr>
              <a:t>Gestion des délais d'attente pour éviter les blocages</a:t>
            </a:r>
            <a:endParaRPr lang="en-US" sz="1600" dirty="0"/>
          </a:p>
        </p:txBody>
      </p:sp>
      <p:sp>
        <p:nvSpPr>
          <p:cNvPr id="13" name="Shape 11"/>
          <p:cNvSpPr/>
          <p:nvPr/>
        </p:nvSpPr>
        <p:spPr>
          <a:xfrm>
            <a:off x="349827" y="3494701"/>
            <a:ext cx="5600700" cy="803564"/>
          </a:xfrm>
          <a:custGeom>
            <a:avLst/>
            <a:gdLst/>
            <a:ahLst/>
            <a:cxnLst/>
            <a:rect l="l" t="t" r="r" b="b"/>
            <a:pathLst>
              <a:path w="5600700" h="803564">
                <a:moveTo>
                  <a:pt x="103909" y="0"/>
                </a:moveTo>
                <a:lnTo>
                  <a:pt x="5496791" y="0"/>
                </a:lnTo>
                <a:cubicBezTo>
                  <a:pt x="5554178" y="0"/>
                  <a:pt x="5600700" y="46522"/>
                  <a:pt x="5600700" y="103909"/>
                </a:cubicBezTo>
                <a:lnTo>
                  <a:pt x="5600700" y="699655"/>
                </a:lnTo>
                <a:cubicBezTo>
                  <a:pt x="5600700" y="757042"/>
                  <a:pt x="5554178" y="803564"/>
                  <a:pt x="5496791" y="803564"/>
                </a:cubicBezTo>
                <a:lnTo>
                  <a:pt x="103909" y="803564"/>
                </a:lnTo>
                <a:cubicBezTo>
                  <a:pt x="46522" y="803564"/>
                  <a:pt x="0" y="757042"/>
                  <a:pt x="0" y="699655"/>
                </a:cubicBezTo>
                <a:lnTo>
                  <a:pt x="0" y="103909"/>
                </a:lnTo>
                <a:cubicBezTo>
                  <a:pt x="0" y="46560"/>
                  <a:pt x="46560" y="0"/>
                  <a:pt x="103909" y="0"/>
                </a:cubicBezTo>
                <a:close/>
              </a:path>
            </a:pathLst>
          </a:custGeom>
          <a:solidFill>
            <a:srgbClr val="FFFFFF"/>
          </a:solidFill>
          <a:ln w="10160">
            <a:solidFill>
              <a:srgbClr val="E5E5E5"/>
            </a:solidFill>
            <a:prstDash val="solid"/>
          </a:ln>
        </p:spPr>
      </p:sp>
      <p:sp>
        <p:nvSpPr>
          <p:cNvPr id="14" name="Shape 12"/>
          <p:cNvSpPr/>
          <p:nvPr/>
        </p:nvSpPr>
        <p:spPr>
          <a:xfrm>
            <a:off x="513484" y="3671345"/>
            <a:ext cx="173182" cy="173182"/>
          </a:xfrm>
          <a:custGeom>
            <a:avLst/>
            <a:gdLst/>
            <a:ahLst/>
            <a:cxnLst/>
            <a:rect l="l" t="t" r="r" b="b"/>
            <a:pathLst>
              <a:path w="173182" h="173182">
                <a:moveTo>
                  <a:pt x="22290" y="77289"/>
                </a:moveTo>
                <a:cubicBezTo>
                  <a:pt x="26789" y="45832"/>
                  <a:pt x="53883" y="21648"/>
                  <a:pt x="86591" y="21648"/>
                </a:cubicBezTo>
                <a:cubicBezTo>
                  <a:pt x="104518" y="21648"/>
                  <a:pt x="120754" y="28920"/>
                  <a:pt x="132525" y="40657"/>
                </a:cubicBezTo>
                <a:cubicBezTo>
                  <a:pt x="132592" y="40725"/>
                  <a:pt x="132660" y="40792"/>
                  <a:pt x="132728" y="40860"/>
                </a:cubicBezTo>
                <a:lnTo>
                  <a:pt x="135298" y="43295"/>
                </a:lnTo>
                <a:lnTo>
                  <a:pt x="119096" y="43295"/>
                </a:lnTo>
                <a:cubicBezTo>
                  <a:pt x="113109" y="43295"/>
                  <a:pt x="108272" y="48132"/>
                  <a:pt x="108272" y="54119"/>
                </a:cubicBezTo>
                <a:cubicBezTo>
                  <a:pt x="108272" y="60106"/>
                  <a:pt x="113109" y="64943"/>
                  <a:pt x="119096" y="64943"/>
                </a:cubicBezTo>
                <a:lnTo>
                  <a:pt x="162392" y="64943"/>
                </a:lnTo>
                <a:cubicBezTo>
                  <a:pt x="168379" y="64943"/>
                  <a:pt x="173216" y="60106"/>
                  <a:pt x="173216" y="54119"/>
                </a:cubicBezTo>
                <a:lnTo>
                  <a:pt x="173216" y="10824"/>
                </a:lnTo>
                <a:cubicBezTo>
                  <a:pt x="173216" y="4837"/>
                  <a:pt x="168379" y="0"/>
                  <a:pt x="162392" y="0"/>
                </a:cubicBezTo>
                <a:cubicBezTo>
                  <a:pt x="156405" y="0"/>
                  <a:pt x="151568" y="4837"/>
                  <a:pt x="151568" y="10824"/>
                </a:cubicBezTo>
                <a:lnTo>
                  <a:pt x="151568" y="28886"/>
                </a:lnTo>
                <a:lnTo>
                  <a:pt x="147746" y="25267"/>
                </a:lnTo>
                <a:cubicBezTo>
                  <a:pt x="132085" y="9674"/>
                  <a:pt x="110437" y="0"/>
                  <a:pt x="86591" y="0"/>
                </a:cubicBezTo>
                <a:cubicBezTo>
                  <a:pt x="42957" y="0"/>
                  <a:pt x="6866" y="32269"/>
                  <a:pt x="879" y="74245"/>
                </a:cubicBezTo>
                <a:cubicBezTo>
                  <a:pt x="34" y="80164"/>
                  <a:pt x="4127" y="85644"/>
                  <a:pt x="10046" y="86489"/>
                </a:cubicBezTo>
                <a:cubicBezTo>
                  <a:pt x="15965" y="87335"/>
                  <a:pt x="21445" y="83208"/>
                  <a:pt x="22290" y="77323"/>
                </a:cubicBezTo>
                <a:close/>
                <a:moveTo>
                  <a:pt x="172302" y="98937"/>
                </a:moveTo>
                <a:cubicBezTo>
                  <a:pt x="173148" y="93018"/>
                  <a:pt x="169021" y="87538"/>
                  <a:pt x="163136" y="86692"/>
                </a:cubicBezTo>
                <a:cubicBezTo>
                  <a:pt x="157250" y="85847"/>
                  <a:pt x="151737" y="89973"/>
                  <a:pt x="150891" y="95859"/>
                </a:cubicBezTo>
                <a:cubicBezTo>
                  <a:pt x="146393" y="127316"/>
                  <a:pt x="119299" y="151500"/>
                  <a:pt x="86591" y="151500"/>
                </a:cubicBezTo>
                <a:cubicBezTo>
                  <a:pt x="68664" y="151500"/>
                  <a:pt x="52428" y="144228"/>
                  <a:pt x="40657" y="132491"/>
                </a:cubicBezTo>
                <a:cubicBezTo>
                  <a:pt x="40589" y="132423"/>
                  <a:pt x="40522" y="132356"/>
                  <a:pt x="40454" y="132288"/>
                </a:cubicBezTo>
                <a:lnTo>
                  <a:pt x="37884" y="129853"/>
                </a:lnTo>
                <a:lnTo>
                  <a:pt x="54085" y="129853"/>
                </a:lnTo>
                <a:cubicBezTo>
                  <a:pt x="60072" y="129853"/>
                  <a:pt x="64909" y="125016"/>
                  <a:pt x="64909" y="119029"/>
                </a:cubicBezTo>
                <a:cubicBezTo>
                  <a:pt x="64909" y="113042"/>
                  <a:pt x="60072" y="108205"/>
                  <a:pt x="54085" y="108205"/>
                </a:cubicBezTo>
                <a:lnTo>
                  <a:pt x="10824" y="108239"/>
                </a:lnTo>
                <a:cubicBezTo>
                  <a:pt x="7949" y="108239"/>
                  <a:pt x="5175" y="109389"/>
                  <a:pt x="3146" y="111452"/>
                </a:cubicBezTo>
                <a:cubicBezTo>
                  <a:pt x="1116" y="113515"/>
                  <a:pt x="-34" y="116255"/>
                  <a:pt x="0" y="119164"/>
                </a:cubicBezTo>
                <a:lnTo>
                  <a:pt x="338" y="162121"/>
                </a:lnTo>
                <a:cubicBezTo>
                  <a:pt x="372" y="168108"/>
                  <a:pt x="5277" y="172911"/>
                  <a:pt x="11264" y="172844"/>
                </a:cubicBezTo>
                <a:cubicBezTo>
                  <a:pt x="17251" y="172776"/>
                  <a:pt x="22054" y="167905"/>
                  <a:pt x="21986" y="161918"/>
                </a:cubicBezTo>
                <a:lnTo>
                  <a:pt x="21851" y="144499"/>
                </a:lnTo>
                <a:lnTo>
                  <a:pt x="25470" y="147915"/>
                </a:lnTo>
                <a:cubicBezTo>
                  <a:pt x="41131" y="163508"/>
                  <a:pt x="62745" y="173182"/>
                  <a:pt x="86591" y="173182"/>
                </a:cubicBezTo>
                <a:cubicBezTo>
                  <a:pt x="130225" y="173182"/>
                  <a:pt x="166315" y="140913"/>
                  <a:pt x="172302" y="98937"/>
                </a:cubicBezTo>
                <a:close/>
              </a:path>
            </a:pathLst>
          </a:custGeom>
          <a:solidFill>
            <a:srgbClr val="0071E3"/>
          </a:solidFill>
          <a:ln/>
        </p:spPr>
      </p:sp>
      <p:sp>
        <p:nvSpPr>
          <p:cNvPr id="15" name="Text 13"/>
          <p:cNvSpPr/>
          <p:nvPr/>
        </p:nvSpPr>
        <p:spPr>
          <a:xfrm>
            <a:off x="812223" y="3636708"/>
            <a:ext cx="1030432" cy="242455"/>
          </a:xfrm>
          <a:prstGeom prst="rect">
            <a:avLst/>
          </a:prstGeom>
          <a:noFill/>
          <a:ln/>
        </p:spPr>
        <p:txBody>
          <a:bodyPr wrap="square" lIns="0" tIns="0" rIns="0" bIns="0" rtlCol="0" anchor="ctr"/>
          <a:lstStyle/>
          <a:p>
            <a:pPr>
              <a:lnSpc>
                <a:spcPct val="130000"/>
              </a:lnSpc>
            </a:pPr>
            <a:r>
              <a:rPr lang="en-US" sz="1227" b="1" dirty="0">
                <a:solidFill>
                  <a:srgbClr val="1D1D1D"/>
                </a:solidFill>
                <a:latin typeface="Liter" pitchFamily="34" charset="0"/>
                <a:ea typeface="Liter" pitchFamily="34" charset="-122"/>
                <a:cs typeface="Liter" pitchFamily="34" charset="-120"/>
              </a:rPr>
              <a:t>Non-bloquant</a:t>
            </a:r>
            <a:endParaRPr lang="en-US" sz="1600" dirty="0"/>
          </a:p>
        </p:txBody>
      </p:sp>
      <p:sp>
        <p:nvSpPr>
          <p:cNvPr id="16" name="Text 14"/>
          <p:cNvSpPr/>
          <p:nvPr/>
        </p:nvSpPr>
        <p:spPr>
          <a:xfrm>
            <a:off x="491836" y="3948436"/>
            <a:ext cx="5385955" cy="207818"/>
          </a:xfrm>
          <a:prstGeom prst="rect">
            <a:avLst/>
          </a:prstGeom>
          <a:noFill/>
          <a:ln/>
        </p:spPr>
        <p:txBody>
          <a:bodyPr wrap="square" lIns="0" tIns="0" rIns="0" bIns="0" rtlCol="0" anchor="ctr"/>
          <a:lstStyle/>
          <a:p>
            <a:pPr>
              <a:lnSpc>
                <a:spcPct val="130000"/>
              </a:lnSpc>
            </a:pPr>
            <a:r>
              <a:rPr lang="en-US" sz="1091" dirty="0">
                <a:solidFill>
                  <a:srgbClr val="86868B"/>
                </a:solidFill>
                <a:latin typeface="Liter" pitchFamily="34" charset="0"/>
                <a:ea typeface="Liter" pitchFamily="34" charset="-122"/>
                <a:cs typeface="Liter" pitchFamily="34" charset="-120"/>
              </a:rPr>
              <a:t>handleWebClient() intégré dans la boucle principale</a:t>
            </a:r>
            <a:endParaRPr lang="en-US" sz="1600" dirty="0"/>
          </a:p>
        </p:txBody>
      </p:sp>
      <p:sp>
        <p:nvSpPr>
          <p:cNvPr id="17" name="Text 15"/>
          <p:cNvSpPr/>
          <p:nvPr/>
        </p:nvSpPr>
        <p:spPr>
          <a:xfrm>
            <a:off x="346364" y="4474915"/>
            <a:ext cx="5715000" cy="277091"/>
          </a:xfrm>
          <a:prstGeom prst="rect">
            <a:avLst/>
          </a:prstGeom>
          <a:noFill/>
          <a:ln/>
        </p:spPr>
        <p:txBody>
          <a:bodyPr wrap="square" lIns="0" tIns="0" rIns="0" bIns="0" rtlCol="0" anchor="ctr"/>
          <a:lstStyle/>
          <a:p>
            <a:pPr>
              <a:lnSpc>
                <a:spcPct val="110000"/>
              </a:lnSpc>
            </a:pPr>
            <a:r>
              <a:rPr lang="en-US" sz="1636" b="1" dirty="0">
                <a:solidFill>
                  <a:srgbClr val="1D1D1D"/>
                </a:solidFill>
                <a:latin typeface="Liter" pitchFamily="34" charset="0"/>
                <a:ea typeface="Liter" pitchFamily="34" charset="-122"/>
                <a:cs typeface="Liter" pitchFamily="34" charset="-120"/>
              </a:rPr>
              <a:t>Endpoints disponibles</a:t>
            </a:r>
            <a:endParaRPr lang="en-US" sz="1600" dirty="0"/>
          </a:p>
        </p:txBody>
      </p:sp>
      <p:sp>
        <p:nvSpPr>
          <p:cNvPr id="18" name="Shape 16"/>
          <p:cNvSpPr/>
          <p:nvPr/>
        </p:nvSpPr>
        <p:spPr>
          <a:xfrm>
            <a:off x="349827" y="4893905"/>
            <a:ext cx="5600700" cy="803564"/>
          </a:xfrm>
          <a:custGeom>
            <a:avLst/>
            <a:gdLst/>
            <a:ahLst/>
            <a:cxnLst/>
            <a:rect l="l" t="t" r="r" b="b"/>
            <a:pathLst>
              <a:path w="5600700" h="803564">
                <a:moveTo>
                  <a:pt x="103909" y="0"/>
                </a:moveTo>
                <a:lnTo>
                  <a:pt x="5496791" y="0"/>
                </a:lnTo>
                <a:cubicBezTo>
                  <a:pt x="5554178" y="0"/>
                  <a:pt x="5600700" y="46522"/>
                  <a:pt x="5600700" y="103909"/>
                </a:cubicBezTo>
                <a:lnTo>
                  <a:pt x="5600700" y="699655"/>
                </a:lnTo>
                <a:cubicBezTo>
                  <a:pt x="5600700" y="757042"/>
                  <a:pt x="5554178" y="803564"/>
                  <a:pt x="5496791" y="803564"/>
                </a:cubicBezTo>
                <a:lnTo>
                  <a:pt x="103909" y="803564"/>
                </a:lnTo>
                <a:cubicBezTo>
                  <a:pt x="46522" y="803564"/>
                  <a:pt x="0" y="757042"/>
                  <a:pt x="0" y="699655"/>
                </a:cubicBezTo>
                <a:lnTo>
                  <a:pt x="0" y="103909"/>
                </a:lnTo>
                <a:cubicBezTo>
                  <a:pt x="0" y="46560"/>
                  <a:pt x="46560" y="0"/>
                  <a:pt x="103909" y="0"/>
                </a:cubicBezTo>
                <a:close/>
              </a:path>
            </a:pathLst>
          </a:custGeom>
          <a:solidFill>
            <a:srgbClr val="0071E3">
              <a:alpha val="10196"/>
            </a:srgbClr>
          </a:solidFill>
          <a:ln w="10160">
            <a:solidFill>
              <a:srgbClr val="0071E3"/>
            </a:solidFill>
            <a:prstDash val="solid"/>
          </a:ln>
        </p:spPr>
      </p:sp>
      <p:sp>
        <p:nvSpPr>
          <p:cNvPr id="19" name="Shape 17"/>
          <p:cNvSpPr/>
          <p:nvPr/>
        </p:nvSpPr>
        <p:spPr>
          <a:xfrm>
            <a:off x="491836" y="5035912"/>
            <a:ext cx="441614" cy="242455"/>
          </a:xfrm>
          <a:custGeom>
            <a:avLst/>
            <a:gdLst/>
            <a:ahLst/>
            <a:cxnLst/>
            <a:rect l="l" t="t" r="r" b="b"/>
            <a:pathLst>
              <a:path w="441614" h="242455">
                <a:moveTo>
                  <a:pt x="34637" y="0"/>
                </a:moveTo>
                <a:lnTo>
                  <a:pt x="406977" y="0"/>
                </a:lnTo>
                <a:cubicBezTo>
                  <a:pt x="426093" y="0"/>
                  <a:pt x="441614" y="15520"/>
                  <a:pt x="441614" y="34637"/>
                </a:cubicBezTo>
                <a:lnTo>
                  <a:pt x="441614" y="207817"/>
                </a:lnTo>
                <a:cubicBezTo>
                  <a:pt x="441614" y="226947"/>
                  <a:pt x="426106" y="242455"/>
                  <a:pt x="406977" y="242455"/>
                </a:cubicBezTo>
                <a:lnTo>
                  <a:pt x="34637" y="242455"/>
                </a:lnTo>
                <a:cubicBezTo>
                  <a:pt x="15520" y="242455"/>
                  <a:pt x="0" y="226934"/>
                  <a:pt x="0" y="207817"/>
                </a:cubicBezTo>
                <a:lnTo>
                  <a:pt x="0" y="34637"/>
                </a:lnTo>
                <a:cubicBezTo>
                  <a:pt x="0" y="15520"/>
                  <a:pt x="15520" y="0"/>
                  <a:pt x="34637" y="0"/>
                </a:cubicBezTo>
                <a:close/>
              </a:path>
            </a:pathLst>
          </a:custGeom>
          <a:solidFill>
            <a:srgbClr val="0071E3"/>
          </a:solidFill>
          <a:ln/>
        </p:spPr>
      </p:sp>
      <p:sp>
        <p:nvSpPr>
          <p:cNvPr id="20" name="Text 18"/>
          <p:cNvSpPr/>
          <p:nvPr/>
        </p:nvSpPr>
        <p:spPr>
          <a:xfrm>
            <a:off x="491836" y="5035912"/>
            <a:ext cx="502227" cy="242455"/>
          </a:xfrm>
          <a:prstGeom prst="rect">
            <a:avLst/>
          </a:prstGeom>
          <a:noFill/>
          <a:ln/>
        </p:spPr>
        <p:txBody>
          <a:bodyPr wrap="square" lIns="103909" tIns="34636" rIns="103909" bIns="34636" rtlCol="0" anchor="ctr"/>
          <a:lstStyle/>
          <a:p>
            <a:pPr>
              <a:lnSpc>
                <a:spcPct val="120000"/>
              </a:lnSpc>
            </a:pPr>
            <a:r>
              <a:rPr lang="en-US" sz="955" b="1" dirty="0">
                <a:solidFill>
                  <a:srgbClr val="FFFFFF"/>
                </a:solidFill>
                <a:latin typeface="Liter" pitchFamily="34" charset="0"/>
                <a:ea typeface="Liter" pitchFamily="34" charset="-122"/>
                <a:cs typeface="Liter" pitchFamily="34" charset="-120"/>
              </a:rPr>
              <a:t>GET</a:t>
            </a:r>
            <a:endParaRPr lang="en-US" sz="1600" dirty="0"/>
          </a:p>
        </p:txBody>
      </p:sp>
      <p:sp>
        <p:nvSpPr>
          <p:cNvPr id="21" name="Text 19"/>
          <p:cNvSpPr/>
          <p:nvPr/>
        </p:nvSpPr>
        <p:spPr>
          <a:xfrm>
            <a:off x="1033030" y="5035912"/>
            <a:ext cx="164523" cy="242455"/>
          </a:xfrm>
          <a:prstGeom prst="rect">
            <a:avLst/>
          </a:prstGeom>
          <a:noFill/>
          <a:ln/>
        </p:spPr>
        <p:txBody>
          <a:bodyPr wrap="square" lIns="0" tIns="0" rIns="0" bIns="0" rtlCol="0" anchor="ctr"/>
          <a:lstStyle/>
          <a:p>
            <a:pPr>
              <a:lnSpc>
                <a:spcPct val="130000"/>
              </a:lnSpc>
            </a:pPr>
            <a:r>
              <a:rPr lang="en-US" sz="1227" dirty="0">
                <a:solidFill>
                  <a:srgbClr val="1D1D1D"/>
                </a:solidFill>
                <a:latin typeface="MiSans" pitchFamily="34" charset="0"/>
                <a:ea typeface="MiSans" pitchFamily="34" charset="-122"/>
                <a:cs typeface="MiSans" pitchFamily="34" charset="-120"/>
              </a:rPr>
              <a:t>/</a:t>
            </a:r>
            <a:endParaRPr lang="en-US" sz="1600" dirty="0"/>
          </a:p>
        </p:txBody>
      </p:sp>
      <p:sp>
        <p:nvSpPr>
          <p:cNvPr id="22" name="Text 20"/>
          <p:cNvSpPr/>
          <p:nvPr/>
        </p:nvSpPr>
        <p:spPr>
          <a:xfrm>
            <a:off x="491836" y="5347640"/>
            <a:ext cx="5385955" cy="207818"/>
          </a:xfrm>
          <a:prstGeom prst="rect">
            <a:avLst/>
          </a:prstGeom>
          <a:noFill/>
          <a:ln/>
        </p:spPr>
        <p:txBody>
          <a:bodyPr wrap="square" lIns="0" tIns="0" rIns="0" bIns="0" rtlCol="0" anchor="ctr"/>
          <a:lstStyle/>
          <a:p>
            <a:pPr>
              <a:lnSpc>
                <a:spcPct val="130000"/>
              </a:lnSpc>
            </a:pPr>
            <a:r>
              <a:rPr lang="en-US" sz="1091" dirty="0">
                <a:solidFill>
                  <a:srgbClr val="86868B"/>
                </a:solidFill>
                <a:latin typeface="Liter" pitchFamily="34" charset="0"/>
                <a:ea typeface="Liter" pitchFamily="34" charset="-122"/>
                <a:cs typeface="Liter" pitchFamily="34" charset="-120"/>
              </a:rPr>
              <a:t>Page HTML du dashboard avec interface utilisateur complète</a:t>
            </a:r>
            <a:endParaRPr lang="en-US" sz="1600" dirty="0"/>
          </a:p>
        </p:txBody>
      </p:sp>
      <p:sp>
        <p:nvSpPr>
          <p:cNvPr id="23" name="Shape 21"/>
          <p:cNvSpPr/>
          <p:nvPr/>
        </p:nvSpPr>
        <p:spPr>
          <a:xfrm>
            <a:off x="349827" y="5808302"/>
            <a:ext cx="5600700" cy="803564"/>
          </a:xfrm>
          <a:custGeom>
            <a:avLst/>
            <a:gdLst/>
            <a:ahLst/>
            <a:cxnLst/>
            <a:rect l="l" t="t" r="r" b="b"/>
            <a:pathLst>
              <a:path w="5600700" h="803564">
                <a:moveTo>
                  <a:pt x="103909" y="0"/>
                </a:moveTo>
                <a:lnTo>
                  <a:pt x="5496791" y="0"/>
                </a:lnTo>
                <a:cubicBezTo>
                  <a:pt x="5554178" y="0"/>
                  <a:pt x="5600700" y="46522"/>
                  <a:pt x="5600700" y="103909"/>
                </a:cubicBezTo>
                <a:lnTo>
                  <a:pt x="5600700" y="699655"/>
                </a:lnTo>
                <a:cubicBezTo>
                  <a:pt x="5600700" y="757042"/>
                  <a:pt x="5554178" y="803564"/>
                  <a:pt x="5496791" y="803564"/>
                </a:cubicBezTo>
                <a:lnTo>
                  <a:pt x="103909" y="803564"/>
                </a:lnTo>
                <a:cubicBezTo>
                  <a:pt x="46522" y="803564"/>
                  <a:pt x="0" y="757042"/>
                  <a:pt x="0" y="699655"/>
                </a:cubicBezTo>
                <a:lnTo>
                  <a:pt x="0" y="103909"/>
                </a:lnTo>
                <a:cubicBezTo>
                  <a:pt x="0" y="46560"/>
                  <a:pt x="46560" y="0"/>
                  <a:pt x="103909" y="0"/>
                </a:cubicBezTo>
                <a:close/>
              </a:path>
            </a:pathLst>
          </a:custGeom>
          <a:solidFill>
            <a:srgbClr val="0071E3">
              <a:alpha val="10196"/>
            </a:srgbClr>
          </a:solidFill>
          <a:ln w="10160">
            <a:solidFill>
              <a:srgbClr val="0071E3"/>
            </a:solidFill>
            <a:prstDash val="solid"/>
          </a:ln>
        </p:spPr>
      </p:sp>
      <p:sp>
        <p:nvSpPr>
          <p:cNvPr id="24" name="Shape 22"/>
          <p:cNvSpPr/>
          <p:nvPr/>
        </p:nvSpPr>
        <p:spPr>
          <a:xfrm>
            <a:off x="491836" y="5950309"/>
            <a:ext cx="441614" cy="242455"/>
          </a:xfrm>
          <a:custGeom>
            <a:avLst/>
            <a:gdLst/>
            <a:ahLst/>
            <a:cxnLst/>
            <a:rect l="l" t="t" r="r" b="b"/>
            <a:pathLst>
              <a:path w="441614" h="242455">
                <a:moveTo>
                  <a:pt x="34637" y="0"/>
                </a:moveTo>
                <a:lnTo>
                  <a:pt x="406977" y="0"/>
                </a:lnTo>
                <a:cubicBezTo>
                  <a:pt x="426093" y="0"/>
                  <a:pt x="441614" y="15520"/>
                  <a:pt x="441614" y="34637"/>
                </a:cubicBezTo>
                <a:lnTo>
                  <a:pt x="441614" y="207817"/>
                </a:lnTo>
                <a:cubicBezTo>
                  <a:pt x="441614" y="226947"/>
                  <a:pt x="426106" y="242455"/>
                  <a:pt x="406977" y="242455"/>
                </a:cubicBezTo>
                <a:lnTo>
                  <a:pt x="34637" y="242455"/>
                </a:lnTo>
                <a:cubicBezTo>
                  <a:pt x="15520" y="242455"/>
                  <a:pt x="0" y="226934"/>
                  <a:pt x="0" y="207817"/>
                </a:cubicBezTo>
                <a:lnTo>
                  <a:pt x="0" y="34637"/>
                </a:lnTo>
                <a:cubicBezTo>
                  <a:pt x="0" y="15520"/>
                  <a:pt x="15520" y="0"/>
                  <a:pt x="34637" y="0"/>
                </a:cubicBezTo>
                <a:close/>
              </a:path>
            </a:pathLst>
          </a:custGeom>
          <a:solidFill>
            <a:srgbClr val="0071E3"/>
          </a:solidFill>
          <a:ln/>
        </p:spPr>
      </p:sp>
      <p:sp>
        <p:nvSpPr>
          <p:cNvPr id="25" name="Text 23"/>
          <p:cNvSpPr/>
          <p:nvPr/>
        </p:nvSpPr>
        <p:spPr>
          <a:xfrm>
            <a:off x="491836" y="5950309"/>
            <a:ext cx="502227" cy="242455"/>
          </a:xfrm>
          <a:prstGeom prst="rect">
            <a:avLst/>
          </a:prstGeom>
          <a:noFill/>
          <a:ln/>
        </p:spPr>
        <p:txBody>
          <a:bodyPr wrap="square" lIns="103909" tIns="34636" rIns="103909" bIns="34636" rtlCol="0" anchor="ctr"/>
          <a:lstStyle/>
          <a:p>
            <a:pPr>
              <a:lnSpc>
                <a:spcPct val="120000"/>
              </a:lnSpc>
            </a:pPr>
            <a:r>
              <a:rPr lang="en-US" sz="955" b="1" dirty="0">
                <a:solidFill>
                  <a:srgbClr val="FFFFFF"/>
                </a:solidFill>
                <a:latin typeface="Liter" pitchFamily="34" charset="0"/>
                <a:ea typeface="Liter" pitchFamily="34" charset="-122"/>
                <a:cs typeface="Liter" pitchFamily="34" charset="-120"/>
              </a:rPr>
              <a:t>GET</a:t>
            </a:r>
            <a:endParaRPr lang="en-US" sz="1600" dirty="0"/>
          </a:p>
        </p:txBody>
      </p:sp>
      <p:sp>
        <p:nvSpPr>
          <p:cNvPr id="26" name="Text 24"/>
          <p:cNvSpPr/>
          <p:nvPr/>
        </p:nvSpPr>
        <p:spPr>
          <a:xfrm>
            <a:off x="1033030" y="5950309"/>
            <a:ext cx="1021773" cy="242455"/>
          </a:xfrm>
          <a:prstGeom prst="rect">
            <a:avLst/>
          </a:prstGeom>
          <a:noFill/>
          <a:ln/>
        </p:spPr>
        <p:txBody>
          <a:bodyPr wrap="square" lIns="0" tIns="0" rIns="0" bIns="0" rtlCol="0" anchor="ctr"/>
          <a:lstStyle/>
          <a:p>
            <a:pPr>
              <a:lnSpc>
                <a:spcPct val="130000"/>
              </a:lnSpc>
            </a:pPr>
            <a:r>
              <a:rPr lang="en-US" sz="1227" dirty="0">
                <a:solidFill>
                  <a:srgbClr val="1D1D1D"/>
                </a:solidFill>
                <a:latin typeface="MiSans" pitchFamily="34" charset="0"/>
                <a:ea typeface="MiSans" pitchFamily="34" charset="-122"/>
                <a:cs typeface="MiSans" pitchFamily="34" charset="-120"/>
              </a:rPr>
              <a:t>/api/status</a:t>
            </a:r>
            <a:endParaRPr lang="en-US" sz="1600" dirty="0"/>
          </a:p>
        </p:txBody>
      </p:sp>
      <p:sp>
        <p:nvSpPr>
          <p:cNvPr id="27" name="Text 25"/>
          <p:cNvSpPr/>
          <p:nvPr/>
        </p:nvSpPr>
        <p:spPr>
          <a:xfrm>
            <a:off x="491836" y="6262036"/>
            <a:ext cx="5385955" cy="207818"/>
          </a:xfrm>
          <a:prstGeom prst="rect">
            <a:avLst/>
          </a:prstGeom>
          <a:noFill/>
          <a:ln/>
        </p:spPr>
        <p:txBody>
          <a:bodyPr wrap="square" lIns="0" tIns="0" rIns="0" bIns="0" rtlCol="0" anchor="ctr"/>
          <a:lstStyle/>
          <a:p>
            <a:pPr>
              <a:lnSpc>
                <a:spcPct val="130000"/>
              </a:lnSpc>
            </a:pPr>
            <a:r>
              <a:rPr lang="en-US" sz="1091" dirty="0">
                <a:solidFill>
                  <a:srgbClr val="86868B"/>
                </a:solidFill>
                <a:latin typeface="Liter" pitchFamily="34" charset="0"/>
                <a:ea typeface="Liter" pitchFamily="34" charset="-122"/>
                <a:cs typeface="Liter" pitchFamily="34" charset="-120"/>
              </a:rPr>
              <a:t>API REST retournant les données en format JSON temps réel</a:t>
            </a:r>
            <a:endParaRPr lang="en-US" sz="1600" dirty="0"/>
          </a:p>
        </p:txBody>
      </p:sp>
      <p:sp>
        <p:nvSpPr>
          <p:cNvPr id="28" name="Text 26"/>
          <p:cNvSpPr/>
          <p:nvPr/>
        </p:nvSpPr>
        <p:spPr>
          <a:xfrm>
            <a:off x="6234545" y="1246909"/>
            <a:ext cx="5715000" cy="277091"/>
          </a:xfrm>
          <a:prstGeom prst="rect">
            <a:avLst/>
          </a:prstGeom>
          <a:noFill/>
          <a:ln/>
        </p:spPr>
        <p:txBody>
          <a:bodyPr wrap="square" lIns="0" tIns="0" rIns="0" bIns="0" rtlCol="0" anchor="ctr"/>
          <a:lstStyle/>
          <a:p>
            <a:pPr>
              <a:lnSpc>
                <a:spcPct val="110000"/>
              </a:lnSpc>
            </a:pPr>
            <a:r>
              <a:rPr lang="en-US" sz="1636" b="1" dirty="0">
                <a:solidFill>
                  <a:srgbClr val="1D1D1D"/>
                </a:solidFill>
                <a:latin typeface="Liter" pitchFamily="34" charset="0"/>
                <a:ea typeface="Liter" pitchFamily="34" charset="-122"/>
                <a:cs typeface="Liter" pitchFamily="34" charset="-120"/>
              </a:rPr>
              <a:t>Structure JSON /api/status</a:t>
            </a:r>
            <a:endParaRPr lang="en-US" sz="1600" dirty="0"/>
          </a:p>
        </p:txBody>
      </p:sp>
      <p:sp>
        <p:nvSpPr>
          <p:cNvPr id="29" name="Shape 27"/>
          <p:cNvSpPr/>
          <p:nvPr/>
        </p:nvSpPr>
        <p:spPr>
          <a:xfrm>
            <a:off x="6234545" y="1662436"/>
            <a:ext cx="5611091" cy="3108614"/>
          </a:xfrm>
          <a:custGeom>
            <a:avLst/>
            <a:gdLst/>
            <a:ahLst/>
            <a:cxnLst/>
            <a:rect l="l" t="t" r="r" b="b"/>
            <a:pathLst>
              <a:path w="5611091" h="3108614">
                <a:moveTo>
                  <a:pt x="138551" y="0"/>
                </a:moveTo>
                <a:lnTo>
                  <a:pt x="5472540" y="0"/>
                </a:lnTo>
                <a:cubicBezTo>
                  <a:pt x="5549060" y="0"/>
                  <a:pt x="5611091" y="62031"/>
                  <a:pt x="5611091" y="138551"/>
                </a:cubicBezTo>
                <a:lnTo>
                  <a:pt x="5611091" y="2970063"/>
                </a:lnTo>
                <a:cubicBezTo>
                  <a:pt x="5611091" y="3046582"/>
                  <a:pt x="5549060" y="3108614"/>
                  <a:pt x="5472540" y="3108614"/>
                </a:cubicBezTo>
                <a:lnTo>
                  <a:pt x="138551" y="3108614"/>
                </a:lnTo>
                <a:cubicBezTo>
                  <a:pt x="62031" y="3108614"/>
                  <a:pt x="0" y="3046582"/>
                  <a:pt x="0" y="2970063"/>
                </a:cubicBezTo>
                <a:lnTo>
                  <a:pt x="0" y="138551"/>
                </a:lnTo>
                <a:cubicBezTo>
                  <a:pt x="0" y="62031"/>
                  <a:pt x="62031" y="0"/>
                  <a:pt x="138551" y="0"/>
                </a:cubicBezTo>
                <a:close/>
              </a:path>
            </a:pathLst>
          </a:custGeom>
          <a:solidFill>
            <a:srgbClr val="1D1D1D"/>
          </a:solidFill>
          <a:ln/>
        </p:spPr>
      </p:sp>
      <p:sp>
        <p:nvSpPr>
          <p:cNvPr id="30" name="Text 28"/>
          <p:cNvSpPr/>
          <p:nvPr/>
        </p:nvSpPr>
        <p:spPr>
          <a:xfrm>
            <a:off x="6407727" y="1863328"/>
            <a:ext cx="2326806" cy="2699472"/>
          </a:xfrm>
          <a:prstGeom prst="rect">
            <a:avLst/>
          </a:prstGeom>
          <a:noFill/>
          <a:ln/>
        </p:spPr>
        <p:txBody>
          <a:bodyPr wrap="square" lIns="0" tIns="0" rIns="0" bIns="0" rtlCol="0" anchor="ctr"/>
          <a:lstStyle/>
          <a:p>
            <a:pPr>
              <a:lnSpc>
                <a:spcPct val="140000"/>
              </a:lnSpc>
            </a:pPr>
            <a:r>
              <a:rPr lang="en-US" sz="955" dirty="0">
                <a:solidFill>
                  <a:srgbClr val="FAFAFA"/>
                </a:solidFill>
                <a:latin typeface="MiSans" pitchFamily="34" charset="0"/>
                <a:ea typeface="MiSans" pitchFamily="34" charset="-122"/>
                <a:cs typeface="MiSans" pitchFamily="34" charset="-120"/>
              </a:rPr>
              <a:t>{ "calibrated": true, "state": "NORMAL", "waterLevelCm": 75.42, "distanceCm": 24.58, "fillPercent": 75.4, "normalThresholdCm": 70.00, "alertThresholdCm": 50.00, "criticalThresholdCm": 30.00, "calibrationDistanceCm": 100.00, "criticalAlarm": true, "uptimeSec": 3600, "sinceLastMeasureSec": 0 }</a:t>
            </a:r>
            <a:endParaRPr lang="en-US" sz="1600" dirty="0"/>
          </a:p>
        </p:txBody>
      </p:sp>
      <p:sp>
        <p:nvSpPr>
          <p:cNvPr id="31" name="Text 29"/>
          <p:cNvSpPr/>
          <p:nvPr/>
        </p:nvSpPr>
        <p:spPr>
          <a:xfrm>
            <a:off x="6234545" y="4939901"/>
            <a:ext cx="5715000" cy="277091"/>
          </a:xfrm>
          <a:prstGeom prst="rect">
            <a:avLst/>
          </a:prstGeom>
          <a:noFill/>
          <a:ln/>
        </p:spPr>
        <p:txBody>
          <a:bodyPr wrap="square" lIns="0" tIns="0" rIns="0" bIns="0" rtlCol="0" anchor="ctr"/>
          <a:lstStyle/>
          <a:p>
            <a:pPr>
              <a:lnSpc>
                <a:spcPct val="110000"/>
              </a:lnSpc>
            </a:pPr>
            <a:r>
              <a:rPr lang="en-US" sz="1636" b="1" dirty="0">
                <a:solidFill>
                  <a:srgbClr val="1D1D1D"/>
                </a:solidFill>
                <a:latin typeface="Liter" pitchFamily="34" charset="0"/>
                <a:ea typeface="Liter" pitchFamily="34" charset="-122"/>
                <a:cs typeface="Liter" pitchFamily="34" charset="-120"/>
              </a:rPr>
              <a:t>Mise à jour automatique</a:t>
            </a:r>
            <a:endParaRPr lang="en-US" sz="1600" dirty="0"/>
          </a:p>
        </p:txBody>
      </p:sp>
      <p:sp>
        <p:nvSpPr>
          <p:cNvPr id="32" name="Shape 30"/>
          <p:cNvSpPr/>
          <p:nvPr/>
        </p:nvSpPr>
        <p:spPr>
          <a:xfrm>
            <a:off x="6238009" y="5358900"/>
            <a:ext cx="5600700" cy="1496291"/>
          </a:xfrm>
          <a:custGeom>
            <a:avLst/>
            <a:gdLst/>
            <a:ahLst/>
            <a:cxnLst/>
            <a:rect l="l" t="t" r="r" b="b"/>
            <a:pathLst>
              <a:path w="5600700" h="1496291">
                <a:moveTo>
                  <a:pt x="138542" y="0"/>
                </a:moveTo>
                <a:lnTo>
                  <a:pt x="5462158" y="0"/>
                </a:lnTo>
                <a:cubicBezTo>
                  <a:pt x="5538673" y="0"/>
                  <a:pt x="5600700" y="62027"/>
                  <a:pt x="5600700" y="138542"/>
                </a:cubicBezTo>
                <a:lnTo>
                  <a:pt x="5600700" y="1357749"/>
                </a:lnTo>
                <a:cubicBezTo>
                  <a:pt x="5600700" y="1434264"/>
                  <a:pt x="5538673" y="1496291"/>
                  <a:pt x="5462158" y="1496291"/>
                </a:cubicBezTo>
                <a:lnTo>
                  <a:pt x="138542" y="1496291"/>
                </a:lnTo>
                <a:cubicBezTo>
                  <a:pt x="62078" y="1496291"/>
                  <a:pt x="0" y="1434213"/>
                  <a:pt x="0" y="1357749"/>
                </a:cubicBezTo>
                <a:lnTo>
                  <a:pt x="0" y="138542"/>
                </a:lnTo>
                <a:cubicBezTo>
                  <a:pt x="0" y="62078"/>
                  <a:pt x="62078" y="0"/>
                  <a:pt x="138542" y="0"/>
                </a:cubicBezTo>
                <a:close/>
              </a:path>
            </a:pathLst>
          </a:custGeom>
          <a:solidFill>
            <a:srgbClr val="FFFFFF"/>
          </a:solidFill>
          <a:ln w="10160">
            <a:solidFill>
              <a:srgbClr val="E5E5E5"/>
            </a:solidFill>
            <a:prstDash val="solid"/>
          </a:ln>
        </p:spPr>
      </p:sp>
      <p:sp>
        <p:nvSpPr>
          <p:cNvPr id="33" name="Text 31"/>
          <p:cNvSpPr/>
          <p:nvPr/>
        </p:nvSpPr>
        <p:spPr>
          <a:xfrm>
            <a:off x="6414654" y="5535544"/>
            <a:ext cx="5316682" cy="207818"/>
          </a:xfrm>
          <a:prstGeom prst="rect">
            <a:avLst/>
          </a:prstGeom>
          <a:noFill/>
          <a:ln/>
        </p:spPr>
        <p:txBody>
          <a:bodyPr wrap="square" lIns="0" tIns="0" rIns="0" bIns="0" rtlCol="0" anchor="ctr"/>
          <a:lstStyle/>
          <a:p>
            <a:pPr>
              <a:lnSpc>
                <a:spcPct val="130000"/>
              </a:lnSpc>
            </a:pPr>
            <a:r>
              <a:rPr lang="en-US" sz="1091" dirty="0">
                <a:solidFill>
                  <a:srgbClr val="86868B"/>
                </a:solidFill>
                <a:latin typeface="Liter" pitchFamily="34" charset="0"/>
                <a:ea typeface="Liter" pitchFamily="34" charset="-122"/>
                <a:cs typeface="Liter" pitchFamily="34" charset="-120"/>
              </a:rPr>
              <a:t>Le dashboard JavaScript rafraîchit les données toutes les 2 secondes:</a:t>
            </a:r>
            <a:endParaRPr lang="en-US" sz="1600" dirty="0"/>
          </a:p>
        </p:txBody>
      </p:sp>
      <p:sp>
        <p:nvSpPr>
          <p:cNvPr id="34" name="Shape 32"/>
          <p:cNvSpPr/>
          <p:nvPr/>
        </p:nvSpPr>
        <p:spPr>
          <a:xfrm>
            <a:off x="6414654" y="5881907"/>
            <a:ext cx="5247409" cy="450273"/>
          </a:xfrm>
          <a:custGeom>
            <a:avLst/>
            <a:gdLst/>
            <a:ahLst/>
            <a:cxnLst/>
            <a:rect l="l" t="t" r="r" b="b"/>
            <a:pathLst>
              <a:path w="5247409" h="450273">
                <a:moveTo>
                  <a:pt x="103909" y="0"/>
                </a:moveTo>
                <a:lnTo>
                  <a:pt x="5143500" y="0"/>
                </a:lnTo>
                <a:cubicBezTo>
                  <a:pt x="5200887" y="0"/>
                  <a:pt x="5247409" y="46522"/>
                  <a:pt x="5247409" y="103909"/>
                </a:cubicBezTo>
                <a:lnTo>
                  <a:pt x="5247409" y="346363"/>
                </a:lnTo>
                <a:cubicBezTo>
                  <a:pt x="5247409" y="403751"/>
                  <a:pt x="5200887" y="450273"/>
                  <a:pt x="5143500" y="450273"/>
                </a:cubicBezTo>
                <a:lnTo>
                  <a:pt x="103909" y="450273"/>
                </a:lnTo>
                <a:cubicBezTo>
                  <a:pt x="46522" y="450273"/>
                  <a:pt x="0" y="403751"/>
                  <a:pt x="0" y="346363"/>
                </a:cubicBezTo>
                <a:lnTo>
                  <a:pt x="0" y="103909"/>
                </a:lnTo>
                <a:cubicBezTo>
                  <a:pt x="0" y="46560"/>
                  <a:pt x="46560" y="0"/>
                  <a:pt x="103909" y="0"/>
                </a:cubicBezTo>
                <a:close/>
              </a:path>
            </a:pathLst>
          </a:custGeom>
          <a:solidFill>
            <a:srgbClr val="F5F5F7"/>
          </a:solidFill>
          <a:ln/>
        </p:spPr>
      </p:sp>
      <p:sp>
        <p:nvSpPr>
          <p:cNvPr id="35" name="Text 33"/>
          <p:cNvSpPr/>
          <p:nvPr/>
        </p:nvSpPr>
        <p:spPr>
          <a:xfrm>
            <a:off x="6553200" y="6020453"/>
            <a:ext cx="5030932" cy="173182"/>
          </a:xfrm>
          <a:prstGeom prst="rect">
            <a:avLst/>
          </a:prstGeom>
          <a:noFill/>
          <a:ln/>
        </p:spPr>
        <p:txBody>
          <a:bodyPr wrap="square" lIns="0" tIns="0" rIns="0" bIns="0" rtlCol="0" anchor="ctr"/>
          <a:lstStyle/>
          <a:p>
            <a:pPr>
              <a:lnSpc>
                <a:spcPct val="120000"/>
              </a:lnSpc>
            </a:pPr>
            <a:r>
              <a:rPr lang="en-US" sz="955" dirty="0">
                <a:solidFill>
                  <a:srgbClr val="1D1D1D"/>
                </a:solidFill>
                <a:latin typeface="MiSans" pitchFamily="34" charset="0"/>
                <a:ea typeface="MiSans" pitchFamily="34" charset="-122"/>
                <a:cs typeface="MiSans" pitchFamily="34" charset="-120"/>
              </a:rPr>
              <a:t>setInterval(refreshStatus, 2000);</a:t>
            </a:r>
            <a:endParaRPr lang="en-US" sz="1600" dirty="0"/>
          </a:p>
        </p:txBody>
      </p:sp>
      <p:sp>
        <p:nvSpPr>
          <p:cNvPr id="36" name="Shape 34"/>
          <p:cNvSpPr/>
          <p:nvPr/>
        </p:nvSpPr>
        <p:spPr>
          <a:xfrm>
            <a:off x="6440632" y="6505362"/>
            <a:ext cx="121227" cy="138545"/>
          </a:xfrm>
          <a:custGeom>
            <a:avLst/>
            <a:gdLst/>
            <a:ahLst/>
            <a:cxnLst/>
            <a:rect l="l" t="t" r="r" b="b"/>
            <a:pathLst>
              <a:path w="121227" h="138545">
                <a:moveTo>
                  <a:pt x="91678" y="-2679"/>
                </a:moveTo>
                <a:cubicBezTo>
                  <a:pt x="94898" y="-352"/>
                  <a:pt x="96089" y="3870"/>
                  <a:pt x="94628" y="7550"/>
                </a:cubicBezTo>
                <a:lnTo>
                  <a:pt x="73413" y="60614"/>
                </a:lnTo>
                <a:lnTo>
                  <a:pt x="112568" y="60614"/>
                </a:lnTo>
                <a:cubicBezTo>
                  <a:pt x="116221" y="60614"/>
                  <a:pt x="119468" y="62887"/>
                  <a:pt x="120713" y="66323"/>
                </a:cubicBezTo>
                <a:cubicBezTo>
                  <a:pt x="121958" y="69760"/>
                  <a:pt x="120903" y="73602"/>
                  <a:pt x="118115" y="75929"/>
                </a:cubicBezTo>
                <a:lnTo>
                  <a:pt x="40184" y="140873"/>
                </a:lnTo>
                <a:cubicBezTo>
                  <a:pt x="37126" y="143416"/>
                  <a:pt x="32769" y="143551"/>
                  <a:pt x="29549" y="141224"/>
                </a:cubicBezTo>
                <a:cubicBezTo>
                  <a:pt x="26329" y="138897"/>
                  <a:pt x="25138" y="134676"/>
                  <a:pt x="26600" y="130996"/>
                </a:cubicBezTo>
                <a:lnTo>
                  <a:pt x="47814" y="77932"/>
                </a:lnTo>
                <a:lnTo>
                  <a:pt x="8659" y="77932"/>
                </a:lnTo>
                <a:cubicBezTo>
                  <a:pt x="5006" y="77932"/>
                  <a:pt x="1759" y="75659"/>
                  <a:pt x="514" y="72222"/>
                </a:cubicBezTo>
                <a:cubicBezTo>
                  <a:pt x="-731" y="68786"/>
                  <a:pt x="325" y="64943"/>
                  <a:pt x="3112" y="62616"/>
                </a:cubicBezTo>
                <a:lnTo>
                  <a:pt x="81044" y="-2327"/>
                </a:lnTo>
                <a:cubicBezTo>
                  <a:pt x="84101" y="-4871"/>
                  <a:pt x="88458" y="-5006"/>
                  <a:pt x="91678" y="-2679"/>
                </a:cubicBezTo>
                <a:close/>
              </a:path>
            </a:pathLst>
          </a:custGeom>
          <a:solidFill>
            <a:srgbClr val="0071E3"/>
          </a:solidFill>
          <a:ln/>
        </p:spPr>
      </p:sp>
      <p:sp>
        <p:nvSpPr>
          <p:cNvPr id="37" name="Text 35"/>
          <p:cNvSpPr/>
          <p:nvPr/>
        </p:nvSpPr>
        <p:spPr>
          <a:xfrm>
            <a:off x="6691745" y="6470726"/>
            <a:ext cx="2008909" cy="207818"/>
          </a:xfrm>
          <a:prstGeom prst="rect">
            <a:avLst/>
          </a:prstGeom>
          <a:noFill/>
          <a:ln/>
        </p:spPr>
        <p:txBody>
          <a:bodyPr wrap="square" lIns="0" tIns="0" rIns="0" bIns="0" rtlCol="0" anchor="ctr"/>
          <a:lstStyle/>
          <a:p>
            <a:pPr>
              <a:lnSpc>
                <a:spcPct val="130000"/>
              </a:lnSpc>
            </a:pPr>
            <a:r>
              <a:rPr lang="en-US" sz="1091" dirty="0">
                <a:solidFill>
                  <a:srgbClr val="86868B"/>
                </a:solidFill>
                <a:latin typeface="Liter" pitchFamily="34" charset="0"/>
                <a:ea typeface="Liter" pitchFamily="34" charset="-122"/>
                <a:cs typeface="Liter" pitchFamily="34" charset="-120"/>
              </a:rPr>
              <a:t>Fetch API avec cache: 'no-store'</a:t>
            </a:r>
            <a:endParaRPr lang="en-US" sz="1600" dirty="0"/>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351608" y="351608"/>
            <a:ext cx="11550316" cy="175804"/>
          </a:xfrm>
          <a:prstGeom prst="rect">
            <a:avLst/>
          </a:prstGeom>
          <a:noFill/>
          <a:ln/>
        </p:spPr>
        <p:txBody>
          <a:bodyPr wrap="square" lIns="0" tIns="0" rIns="0" bIns="0" rtlCol="0" anchor="ctr"/>
          <a:lstStyle/>
          <a:p>
            <a:pPr>
              <a:lnSpc>
                <a:spcPct val="120000"/>
              </a:lnSpc>
            </a:pPr>
            <a:r>
              <a:rPr lang="en-US" sz="969" b="1" kern="0" spc="97" dirty="0">
                <a:solidFill>
                  <a:srgbClr val="86868B"/>
                </a:solidFill>
                <a:latin typeface="Liter" pitchFamily="34" charset="0"/>
                <a:ea typeface="Liter" pitchFamily="34" charset="-122"/>
                <a:cs typeface="Liter" pitchFamily="34" charset="-120"/>
              </a:rPr>
              <a:t>06 / INTERFACE</a:t>
            </a:r>
            <a:endParaRPr lang="en-US" sz="1600" dirty="0"/>
          </a:p>
        </p:txBody>
      </p:sp>
      <p:sp>
        <p:nvSpPr>
          <p:cNvPr id="3" name="Text 1"/>
          <p:cNvSpPr/>
          <p:nvPr/>
        </p:nvSpPr>
        <p:spPr>
          <a:xfrm>
            <a:off x="351608" y="632894"/>
            <a:ext cx="11699749" cy="421929"/>
          </a:xfrm>
          <a:prstGeom prst="rect">
            <a:avLst/>
          </a:prstGeom>
          <a:noFill/>
          <a:ln/>
        </p:spPr>
        <p:txBody>
          <a:bodyPr wrap="square" lIns="0" tIns="0" rIns="0" bIns="0" rtlCol="0" anchor="ctr"/>
          <a:lstStyle/>
          <a:p>
            <a:pPr>
              <a:lnSpc>
                <a:spcPct val="80000"/>
              </a:lnSpc>
            </a:pPr>
            <a:r>
              <a:rPr lang="en-US" sz="3322" b="1" dirty="0">
                <a:solidFill>
                  <a:srgbClr val="1D1D1D"/>
                </a:solidFill>
                <a:latin typeface="Liter" pitchFamily="34" charset="0"/>
                <a:ea typeface="Liter" pitchFamily="34" charset="-122"/>
                <a:cs typeface="Liter" pitchFamily="34" charset="-120"/>
              </a:rPr>
              <a:t>Interface utilisateur du dashboard</a:t>
            </a:r>
            <a:endParaRPr lang="en-US" sz="1600" dirty="0"/>
          </a:p>
        </p:txBody>
      </p:sp>
      <p:pic>
        <p:nvPicPr>
          <p:cNvPr id="4" name="Image 0"/>
          <p:cNvPicPr>
            <a:picLocks noChangeAspect="1"/>
          </p:cNvPicPr>
          <p:nvPr/>
        </p:nvPicPr>
        <p:blipFill>
          <a:blip r:embed="rId3"/>
          <a:srcRect t="67" b="-1"/>
          <a:stretch>
            <a:fillRect/>
          </a:stretch>
        </p:blipFill>
        <p:spPr>
          <a:xfrm>
            <a:off x="342818" y="1242144"/>
            <a:ext cx="4005361" cy="5553694"/>
          </a:xfrm>
          <a:prstGeom prst="roundRect">
            <a:avLst>
              <a:gd name="adj" fmla="val 3150"/>
            </a:avLst>
          </a:prstGeom>
        </p:spPr>
      </p:pic>
      <p:sp>
        <p:nvSpPr>
          <p:cNvPr id="5" name="Text 2"/>
          <p:cNvSpPr/>
          <p:nvPr/>
        </p:nvSpPr>
        <p:spPr>
          <a:xfrm>
            <a:off x="5030299" y="1265788"/>
            <a:ext cx="6909093" cy="281286"/>
          </a:xfrm>
          <a:prstGeom prst="rect">
            <a:avLst/>
          </a:prstGeom>
          <a:noFill/>
          <a:ln/>
        </p:spPr>
        <p:txBody>
          <a:bodyPr wrap="square" lIns="0" tIns="0" rIns="0" bIns="0" rtlCol="0" anchor="ctr"/>
          <a:lstStyle/>
          <a:p>
            <a:pPr>
              <a:lnSpc>
                <a:spcPct val="110000"/>
              </a:lnSpc>
            </a:pPr>
            <a:r>
              <a:rPr lang="en-US" sz="1661" b="1" dirty="0">
                <a:solidFill>
                  <a:srgbClr val="1D1D1D"/>
                </a:solidFill>
                <a:latin typeface="Liter" pitchFamily="34" charset="0"/>
                <a:ea typeface="Liter" pitchFamily="34" charset="-122"/>
                <a:cs typeface="Liter" pitchFamily="34" charset="-120"/>
              </a:rPr>
              <a:t>Design moderne et responsive</a:t>
            </a:r>
            <a:endParaRPr lang="en-US" sz="1600" dirty="0"/>
          </a:p>
        </p:txBody>
      </p:sp>
      <p:sp>
        <p:nvSpPr>
          <p:cNvPr id="6" name="Shape 3"/>
          <p:cNvSpPr/>
          <p:nvPr/>
        </p:nvSpPr>
        <p:spPr>
          <a:xfrm>
            <a:off x="5033815" y="1691122"/>
            <a:ext cx="3329726" cy="1132177"/>
          </a:xfrm>
          <a:custGeom>
            <a:avLst/>
            <a:gdLst/>
            <a:ahLst/>
            <a:cxnLst/>
            <a:rect l="l" t="t" r="r" b="b"/>
            <a:pathLst>
              <a:path w="3329726" h="1132177">
                <a:moveTo>
                  <a:pt x="105485" y="0"/>
                </a:moveTo>
                <a:lnTo>
                  <a:pt x="3224241" y="0"/>
                </a:lnTo>
                <a:cubicBezTo>
                  <a:pt x="3282499" y="0"/>
                  <a:pt x="3329726" y="47227"/>
                  <a:pt x="3329726" y="105485"/>
                </a:cubicBezTo>
                <a:lnTo>
                  <a:pt x="3329726" y="1026692"/>
                </a:lnTo>
                <a:cubicBezTo>
                  <a:pt x="3329726" y="1084950"/>
                  <a:pt x="3282499" y="1132177"/>
                  <a:pt x="3224241" y="1132177"/>
                </a:cubicBezTo>
                <a:lnTo>
                  <a:pt x="105485" y="1132177"/>
                </a:lnTo>
                <a:cubicBezTo>
                  <a:pt x="47227" y="1132177"/>
                  <a:pt x="0" y="1084950"/>
                  <a:pt x="0" y="1026692"/>
                </a:cubicBezTo>
                <a:lnTo>
                  <a:pt x="0" y="105485"/>
                </a:lnTo>
                <a:cubicBezTo>
                  <a:pt x="0" y="47227"/>
                  <a:pt x="47227" y="0"/>
                  <a:pt x="105485" y="0"/>
                </a:cubicBezTo>
                <a:close/>
              </a:path>
            </a:pathLst>
          </a:custGeom>
          <a:solidFill>
            <a:srgbClr val="FFFFFF"/>
          </a:solidFill>
          <a:ln w="10160">
            <a:solidFill>
              <a:srgbClr val="E5E5E5"/>
            </a:solidFill>
            <a:prstDash val="solid"/>
          </a:ln>
        </p:spPr>
      </p:sp>
      <p:sp>
        <p:nvSpPr>
          <p:cNvPr id="7" name="Shape 4"/>
          <p:cNvSpPr/>
          <p:nvPr/>
        </p:nvSpPr>
        <p:spPr>
          <a:xfrm>
            <a:off x="5177974" y="1835288"/>
            <a:ext cx="351608" cy="351608"/>
          </a:xfrm>
          <a:custGeom>
            <a:avLst/>
            <a:gdLst/>
            <a:ahLst/>
            <a:cxnLst/>
            <a:rect l="l" t="t" r="r" b="b"/>
            <a:pathLst>
              <a:path w="351608" h="351608">
                <a:moveTo>
                  <a:pt x="70322" y="0"/>
                </a:moveTo>
                <a:lnTo>
                  <a:pt x="281286" y="0"/>
                </a:lnTo>
                <a:cubicBezTo>
                  <a:pt x="320098" y="0"/>
                  <a:pt x="351608" y="31510"/>
                  <a:pt x="351608" y="70322"/>
                </a:cubicBezTo>
                <a:lnTo>
                  <a:pt x="351608" y="281286"/>
                </a:lnTo>
                <a:cubicBezTo>
                  <a:pt x="351608" y="320098"/>
                  <a:pt x="320098" y="351608"/>
                  <a:pt x="281286" y="351608"/>
                </a:cubicBezTo>
                <a:lnTo>
                  <a:pt x="70322" y="351608"/>
                </a:lnTo>
                <a:cubicBezTo>
                  <a:pt x="31510" y="351608"/>
                  <a:pt x="0" y="320098"/>
                  <a:pt x="0" y="281286"/>
                </a:cubicBezTo>
                <a:lnTo>
                  <a:pt x="0" y="70322"/>
                </a:lnTo>
                <a:cubicBezTo>
                  <a:pt x="0" y="31510"/>
                  <a:pt x="31510" y="0"/>
                  <a:pt x="70322" y="0"/>
                </a:cubicBezTo>
                <a:close/>
              </a:path>
            </a:pathLst>
          </a:custGeom>
          <a:solidFill>
            <a:srgbClr val="0071E3">
              <a:alpha val="10196"/>
            </a:srgbClr>
          </a:solidFill>
          <a:ln/>
        </p:spPr>
      </p:sp>
      <p:sp>
        <p:nvSpPr>
          <p:cNvPr id="8" name="Shape 5"/>
          <p:cNvSpPr/>
          <p:nvPr/>
        </p:nvSpPr>
        <p:spPr>
          <a:xfrm>
            <a:off x="5283456" y="1940770"/>
            <a:ext cx="140643" cy="140643"/>
          </a:xfrm>
          <a:custGeom>
            <a:avLst/>
            <a:gdLst/>
            <a:ahLst/>
            <a:cxnLst/>
            <a:rect l="l" t="t" r="r" b="b"/>
            <a:pathLst>
              <a:path w="140643" h="140643">
                <a:moveTo>
                  <a:pt x="140643" y="70322"/>
                </a:moveTo>
                <a:cubicBezTo>
                  <a:pt x="140643" y="70569"/>
                  <a:pt x="140643" y="70816"/>
                  <a:pt x="140643" y="71063"/>
                </a:cubicBezTo>
                <a:cubicBezTo>
                  <a:pt x="140533" y="81090"/>
                  <a:pt x="131413" y="87902"/>
                  <a:pt x="121387" y="87902"/>
                </a:cubicBezTo>
                <a:lnTo>
                  <a:pt x="94495" y="87902"/>
                </a:lnTo>
                <a:cubicBezTo>
                  <a:pt x="87215" y="87902"/>
                  <a:pt x="81309" y="93808"/>
                  <a:pt x="81309" y="101087"/>
                </a:cubicBezTo>
                <a:cubicBezTo>
                  <a:pt x="81309" y="102021"/>
                  <a:pt x="81419" y="102928"/>
                  <a:pt x="81584" y="103807"/>
                </a:cubicBezTo>
                <a:cubicBezTo>
                  <a:pt x="82161" y="106609"/>
                  <a:pt x="83370" y="109301"/>
                  <a:pt x="84551" y="112020"/>
                </a:cubicBezTo>
                <a:cubicBezTo>
                  <a:pt x="86226" y="115811"/>
                  <a:pt x="87874" y="119574"/>
                  <a:pt x="87874" y="123557"/>
                </a:cubicBezTo>
                <a:cubicBezTo>
                  <a:pt x="87874" y="132292"/>
                  <a:pt x="81941" y="140231"/>
                  <a:pt x="73206" y="140588"/>
                </a:cubicBezTo>
                <a:cubicBezTo>
                  <a:pt x="72244" y="140616"/>
                  <a:pt x="71283" y="140643"/>
                  <a:pt x="70294" y="140643"/>
                </a:cubicBezTo>
                <a:cubicBezTo>
                  <a:pt x="31452" y="140643"/>
                  <a:pt x="-27" y="109163"/>
                  <a:pt x="-27" y="70322"/>
                </a:cubicBezTo>
                <a:cubicBezTo>
                  <a:pt x="-27" y="31480"/>
                  <a:pt x="31480" y="0"/>
                  <a:pt x="70322" y="0"/>
                </a:cubicBezTo>
                <a:cubicBezTo>
                  <a:pt x="109163" y="0"/>
                  <a:pt x="140643" y="31480"/>
                  <a:pt x="140643" y="70322"/>
                </a:cubicBezTo>
                <a:close/>
                <a:moveTo>
                  <a:pt x="35161" y="79112"/>
                </a:moveTo>
                <a:cubicBezTo>
                  <a:pt x="35161" y="74260"/>
                  <a:pt x="31222" y="70322"/>
                  <a:pt x="26371" y="70322"/>
                </a:cubicBezTo>
                <a:cubicBezTo>
                  <a:pt x="21519" y="70322"/>
                  <a:pt x="17580" y="74260"/>
                  <a:pt x="17580" y="79112"/>
                </a:cubicBezTo>
                <a:cubicBezTo>
                  <a:pt x="17580" y="83963"/>
                  <a:pt x="21519" y="87902"/>
                  <a:pt x="26371" y="87902"/>
                </a:cubicBezTo>
                <a:cubicBezTo>
                  <a:pt x="31222" y="87902"/>
                  <a:pt x="35161" y="83963"/>
                  <a:pt x="35161" y="79112"/>
                </a:cubicBezTo>
                <a:close/>
                <a:moveTo>
                  <a:pt x="35161" y="52741"/>
                </a:moveTo>
                <a:cubicBezTo>
                  <a:pt x="40012" y="52741"/>
                  <a:pt x="43951" y="48802"/>
                  <a:pt x="43951" y="43951"/>
                </a:cubicBezTo>
                <a:cubicBezTo>
                  <a:pt x="43951" y="39100"/>
                  <a:pt x="40012" y="35161"/>
                  <a:pt x="35161" y="35161"/>
                </a:cubicBezTo>
                <a:cubicBezTo>
                  <a:pt x="30309" y="35161"/>
                  <a:pt x="26371" y="39100"/>
                  <a:pt x="26371" y="43951"/>
                </a:cubicBezTo>
                <a:cubicBezTo>
                  <a:pt x="26371" y="48802"/>
                  <a:pt x="30309" y="52741"/>
                  <a:pt x="35161" y="52741"/>
                </a:cubicBezTo>
                <a:close/>
                <a:moveTo>
                  <a:pt x="79112" y="26371"/>
                </a:moveTo>
                <a:cubicBezTo>
                  <a:pt x="79112" y="21519"/>
                  <a:pt x="75173" y="17580"/>
                  <a:pt x="70322" y="17580"/>
                </a:cubicBezTo>
                <a:cubicBezTo>
                  <a:pt x="65470" y="17580"/>
                  <a:pt x="61531" y="21519"/>
                  <a:pt x="61531" y="26371"/>
                </a:cubicBezTo>
                <a:cubicBezTo>
                  <a:pt x="61531" y="31222"/>
                  <a:pt x="65470" y="35161"/>
                  <a:pt x="70322" y="35161"/>
                </a:cubicBezTo>
                <a:cubicBezTo>
                  <a:pt x="75173" y="35161"/>
                  <a:pt x="79112" y="31222"/>
                  <a:pt x="79112" y="26371"/>
                </a:cubicBezTo>
                <a:close/>
                <a:moveTo>
                  <a:pt x="105482" y="52741"/>
                </a:moveTo>
                <a:cubicBezTo>
                  <a:pt x="110334" y="52741"/>
                  <a:pt x="114273" y="48802"/>
                  <a:pt x="114273" y="43951"/>
                </a:cubicBezTo>
                <a:cubicBezTo>
                  <a:pt x="114273" y="39100"/>
                  <a:pt x="110334" y="35161"/>
                  <a:pt x="105482" y="35161"/>
                </a:cubicBezTo>
                <a:cubicBezTo>
                  <a:pt x="100631" y="35161"/>
                  <a:pt x="96692" y="39100"/>
                  <a:pt x="96692" y="43951"/>
                </a:cubicBezTo>
                <a:cubicBezTo>
                  <a:pt x="96692" y="48802"/>
                  <a:pt x="100631" y="52741"/>
                  <a:pt x="105482" y="52741"/>
                </a:cubicBezTo>
                <a:close/>
              </a:path>
            </a:pathLst>
          </a:custGeom>
          <a:solidFill>
            <a:srgbClr val="0071E3"/>
          </a:solidFill>
          <a:ln/>
        </p:spPr>
      </p:sp>
      <p:sp>
        <p:nvSpPr>
          <p:cNvPr id="9" name="Text 6"/>
          <p:cNvSpPr/>
          <p:nvPr/>
        </p:nvSpPr>
        <p:spPr>
          <a:xfrm>
            <a:off x="5635064" y="1888029"/>
            <a:ext cx="1406431" cy="246125"/>
          </a:xfrm>
          <a:prstGeom prst="rect">
            <a:avLst/>
          </a:prstGeom>
          <a:noFill/>
          <a:ln/>
        </p:spPr>
        <p:txBody>
          <a:bodyPr wrap="square" lIns="0" tIns="0" rIns="0" bIns="0" rtlCol="0" anchor="ctr"/>
          <a:lstStyle/>
          <a:p>
            <a:pPr>
              <a:lnSpc>
                <a:spcPct val="130000"/>
              </a:lnSpc>
            </a:pPr>
            <a:r>
              <a:rPr lang="en-US" sz="1246" b="1" dirty="0">
                <a:solidFill>
                  <a:srgbClr val="1D1D1D"/>
                </a:solidFill>
                <a:latin typeface="Liter" pitchFamily="34" charset="0"/>
                <a:ea typeface="Liter" pitchFamily="34" charset="-122"/>
                <a:cs typeface="Liter" pitchFamily="34" charset="-120"/>
              </a:rPr>
              <a:t>Palette de couleurs</a:t>
            </a:r>
            <a:endParaRPr lang="en-US" sz="1600" dirty="0"/>
          </a:p>
        </p:txBody>
      </p:sp>
      <p:sp>
        <p:nvSpPr>
          <p:cNvPr id="10" name="Text 7"/>
          <p:cNvSpPr/>
          <p:nvPr/>
        </p:nvSpPr>
        <p:spPr>
          <a:xfrm>
            <a:off x="5177974" y="2257217"/>
            <a:ext cx="3111729" cy="421929"/>
          </a:xfrm>
          <a:prstGeom prst="rect">
            <a:avLst/>
          </a:prstGeom>
          <a:noFill/>
          <a:ln/>
        </p:spPr>
        <p:txBody>
          <a:bodyPr wrap="square" lIns="0" tIns="0" rIns="0" bIns="0" rtlCol="0" anchor="ctr"/>
          <a:lstStyle/>
          <a:p>
            <a:pPr>
              <a:lnSpc>
                <a:spcPct val="130000"/>
              </a:lnSpc>
            </a:pPr>
            <a:r>
              <a:rPr lang="en-US" sz="1107" dirty="0">
                <a:solidFill>
                  <a:srgbClr val="86868B"/>
                </a:solidFill>
                <a:latin typeface="Liter" pitchFamily="34" charset="0"/>
                <a:ea typeface="Liter" pitchFamily="34" charset="-122"/>
                <a:cs typeface="Liter" pitchFamily="34" charset="-120"/>
              </a:rPr>
              <a:t>Thème clair avec variables CSS personnalisées (paper, ink, panel, card)</a:t>
            </a:r>
            <a:endParaRPr lang="en-US" sz="1600" dirty="0"/>
          </a:p>
        </p:txBody>
      </p:sp>
      <p:sp>
        <p:nvSpPr>
          <p:cNvPr id="11" name="Shape 8"/>
          <p:cNvSpPr/>
          <p:nvPr/>
        </p:nvSpPr>
        <p:spPr>
          <a:xfrm>
            <a:off x="8507590" y="1691122"/>
            <a:ext cx="3329726" cy="1132177"/>
          </a:xfrm>
          <a:custGeom>
            <a:avLst/>
            <a:gdLst/>
            <a:ahLst/>
            <a:cxnLst/>
            <a:rect l="l" t="t" r="r" b="b"/>
            <a:pathLst>
              <a:path w="3329726" h="1132177">
                <a:moveTo>
                  <a:pt x="105485" y="0"/>
                </a:moveTo>
                <a:lnTo>
                  <a:pt x="3224241" y="0"/>
                </a:lnTo>
                <a:cubicBezTo>
                  <a:pt x="3282499" y="0"/>
                  <a:pt x="3329726" y="47227"/>
                  <a:pt x="3329726" y="105485"/>
                </a:cubicBezTo>
                <a:lnTo>
                  <a:pt x="3329726" y="1026692"/>
                </a:lnTo>
                <a:cubicBezTo>
                  <a:pt x="3329726" y="1084950"/>
                  <a:pt x="3282499" y="1132177"/>
                  <a:pt x="3224241" y="1132177"/>
                </a:cubicBezTo>
                <a:lnTo>
                  <a:pt x="105485" y="1132177"/>
                </a:lnTo>
                <a:cubicBezTo>
                  <a:pt x="47227" y="1132177"/>
                  <a:pt x="0" y="1084950"/>
                  <a:pt x="0" y="1026692"/>
                </a:cubicBezTo>
                <a:lnTo>
                  <a:pt x="0" y="105485"/>
                </a:lnTo>
                <a:cubicBezTo>
                  <a:pt x="0" y="47227"/>
                  <a:pt x="47227" y="0"/>
                  <a:pt x="105485" y="0"/>
                </a:cubicBezTo>
                <a:close/>
              </a:path>
            </a:pathLst>
          </a:custGeom>
          <a:solidFill>
            <a:srgbClr val="FFFFFF"/>
          </a:solidFill>
          <a:ln w="10160">
            <a:solidFill>
              <a:srgbClr val="E5E5E5"/>
            </a:solidFill>
            <a:prstDash val="solid"/>
          </a:ln>
        </p:spPr>
      </p:sp>
      <p:sp>
        <p:nvSpPr>
          <p:cNvPr id="12" name="Shape 9"/>
          <p:cNvSpPr/>
          <p:nvPr/>
        </p:nvSpPr>
        <p:spPr>
          <a:xfrm>
            <a:off x="8651749" y="1835288"/>
            <a:ext cx="351608" cy="351608"/>
          </a:xfrm>
          <a:custGeom>
            <a:avLst/>
            <a:gdLst/>
            <a:ahLst/>
            <a:cxnLst/>
            <a:rect l="l" t="t" r="r" b="b"/>
            <a:pathLst>
              <a:path w="351608" h="351608">
                <a:moveTo>
                  <a:pt x="70322" y="0"/>
                </a:moveTo>
                <a:lnTo>
                  <a:pt x="281286" y="0"/>
                </a:lnTo>
                <a:cubicBezTo>
                  <a:pt x="320098" y="0"/>
                  <a:pt x="351608" y="31510"/>
                  <a:pt x="351608" y="70322"/>
                </a:cubicBezTo>
                <a:lnTo>
                  <a:pt x="351608" y="281286"/>
                </a:lnTo>
                <a:cubicBezTo>
                  <a:pt x="351608" y="320098"/>
                  <a:pt x="320098" y="351608"/>
                  <a:pt x="281286" y="351608"/>
                </a:cubicBezTo>
                <a:lnTo>
                  <a:pt x="70322" y="351608"/>
                </a:lnTo>
                <a:cubicBezTo>
                  <a:pt x="31510" y="351608"/>
                  <a:pt x="0" y="320098"/>
                  <a:pt x="0" y="281286"/>
                </a:cubicBezTo>
                <a:lnTo>
                  <a:pt x="0" y="70322"/>
                </a:lnTo>
                <a:cubicBezTo>
                  <a:pt x="0" y="31510"/>
                  <a:pt x="31510" y="0"/>
                  <a:pt x="70322" y="0"/>
                </a:cubicBezTo>
                <a:close/>
              </a:path>
            </a:pathLst>
          </a:custGeom>
          <a:solidFill>
            <a:srgbClr val="0071E3">
              <a:alpha val="10196"/>
            </a:srgbClr>
          </a:solidFill>
          <a:ln/>
        </p:spPr>
      </p:sp>
      <p:sp>
        <p:nvSpPr>
          <p:cNvPr id="13" name="Shape 10"/>
          <p:cNvSpPr/>
          <p:nvPr/>
        </p:nvSpPr>
        <p:spPr>
          <a:xfrm>
            <a:off x="8774812" y="1940770"/>
            <a:ext cx="105482" cy="140643"/>
          </a:xfrm>
          <a:custGeom>
            <a:avLst/>
            <a:gdLst/>
            <a:ahLst/>
            <a:cxnLst/>
            <a:rect l="l" t="t" r="r" b="b"/>
            <a:pathLst>
              <a:path w="105482" h="140643">
                <a:moveTo>
                  <a:pt x="4395" y="17580"/>
                </a:moveTo>
                <a:cubicBezTo>
                  <a:pt x="4395" y="7884"/>
                  <a:pt x="12279" y="0"/>
                  <a:pt x="21975" y="0"/>
                </a:cubicBezTo>
                <a:lnTo>
                  <a:pt x="83507" y="0"/>
                </a:lnTo>
                <a:cubicBezTo>
                  <a:pt x="93204" y="0"/>
                  <a:pt x="101087" y="7884"/>
                  <a:pt x="101087" y="17580"/>
                </a:cubicBezTo>
                <a:lnTo>
                  <a:pt x="101087" y="123063"/>
                </a:lnTo>
                <a:cubicBezTo>
                  <a:pt x="101087" y="132759"/>
                  <a:pt x="93204" y="140643"/>
                  <a:pt x="83507" y="140643"/>
                </a:cubicBezTo>
                <a:lnTo>
                  <a:pt x="21975" y="140643"/>
                </a:lnTo>
                <a:cubicBezTo>
                  <a:pt x="12279" y="140643"/>
                  <a:pt x="4395" y="132759"/>
                  <a:pt x="4395" y="123063"/>
                </a:cubicBezTo>
                <a:lnTo>
                  <a:pt x="4395" y="17580"/>
                </a:lnTo>
                <a:close/>
                <a:moveTo>
                  <a:pt x="21975" y="17580"/>
                </a:moveTo>
                <a:lnTo>
                  <a:pt x="21975" y="101087"/>
                </a:lnTo>
                <a:lnTo>
                  <a:pt x="83507" y="101087"/>
                </a:lnTo>
                <a:lnTo>
                  <a:pt x="83507" y="17580"/>
                </a:lnTo>
                <a:lnTo>
                  <a:pt x="21975" y="17580"/>
                </a:lnTo>
                <a:close/>
                <a:moveTo>
                  <a:pt x="52741" y="129655"/>
                </a:moveTo>
                <a:cubicBezTo>
                  <a:pt x="57603" y="129655"/>
                  <a:pt x="61531" y="125727"/>
                  <a:pt x="61531" y="120865"/>
                </a:cubicBezTo>
                <a:cubicBezTo>
                  <a:pt x="61531" y="116003"/>
                  <a:pt x="57603" y="112075"/>
                  <a:pt x="52741" y="112075"/>
                </a:cubicBezTo>
                <a:cubicBezTo>
                  <a:pt x="47879" y="112075"/>
                  <a:pt x="43951" y="116003"/>
                  <a:pt x="43951" y="120865"/>
                </a:cubicBezTo>
                <a:cubicBezTo>
                  <a:pt x="43951" y="125727"/>
                  <a:pt x="47879" y="129655"/>
                  <a:pt x="52741" y="129655"/>
                </a:cubicBezTo>
                <a:close/>
              </a:path>
            </a:pathLst>
          </a:custGeom>
          <a:solidFill>
            <a:srgbClr val="0071E3"/>
          </a:solidFill>
          <a:ln/>
        </p:spPr>
      </p:sp>
      <p:sp>
        <p:nvSpPr>
          <p:cNvPr id="14" name="Text 11"/>
          <p:cNvSpPr/>
          <p:nvPr/>
        </p:nvSpPr>
        <p:spPr>
          <a:xfrm>
            <a:off x="9108839" y="1888029"/>
            <a:ext cx="887810" cy="246125"/>
          </a:xfrm>
          <a:prstGeom prst="rect">
            <a:avLst/>
          </a:prstGeom>
          <a:noFill/>
          <a:ln/>
        </p:spPr>
        <p:txBody>
          <a:bodyPr wrap="square" lIns="0" tIns="0" rIns="0" bIns="0" rtlCol="0" anchor="ctr"/>
          <a:lstStyle/>
          <a:p>
            <a:pPr>
              <a:lnSpc>
                <a:spcPct val="130000"/>
              </a:lnSpc>
            </a:pPr>
            <a:r>
              <a:rPr lang="en-US" sz="1246" b="1" dirty="0">
                <a:solidFill>
                  <a:srgbClr val="1D1D1D"/>
                </a:solidFill>
                <a:latin typeface="Liter" pitchFamily="34" charset="0"/>
                <a:ea typeface="Liter" pitchFamily="34" charset="-122"/>
                <a:cs typeface="Liter" pitchFamily="34" charset="-120"/>
              </a:rPr>
              <a:t>Responsive</a:t>
            </a:r>
            <a:endParaRPr lang="en-US" sz="1600" dirty="0"/>
          </a:p>
        </p:txBody>
      </p:sp>
      <p:sp>
        <p:nvSpPr>
          <p:cNvPr id="15" name="Text 12"/>
          <p:cNvSpPr/>
          <p:nvPr/>
        </p:nvSpPr>
        <p:spPr>
          <a:xfrm>
            <a:off x="8651749" y="2257217"/>
            <a:ext cx="3111729" cy="421929"/>
          </a:xfrm>
          <a:prstGeom prst="rect">
            <a:avLst/>
          </a:prstGeom>
          <a:noFill/>
          <a:ln/>
        </p:spPr>
        <p:txBody>
          <a:bodyPr wrap="square" lIns="0" tIns="0" rIns="0" bIns="0" rtlCol="0" anchor="ctr"/>
          <a:lstStyle/>
          <a:p>
            <a:pPr>
              <a:lnSpc>
                <a:spcPct val="130000"/>
              </a:lnSpc>
            </a:pPr>
            <a:r>
              <a:rPr lang="en-US" sz="1107" dirty="0">
                <a:solidFill>
                  <a:srgbClr val="86868B"/>
                </a:solidFill>
                <a:latin typeface="Liter" pitchFamily="34" charset="0"/>
                <a:ea typeface="Liter" pitchFamily="34" charset="-122"/>
                <a:cs typeface="Liter" pitchFamily="34" charset="-120"/>
              </a:rPr>
              <a:t>Adaptation automatique pour mobile avec media queries CSS</a:t>
            </a:r>
            <a:endParaRPr lang="en-US" sz="1600" dirty="0"/>
          </a:p>
        </p:txBody>
      </p:sp>
      <p:sp>
        <p:nvSpPr>
          <p:cNvPr id="16" name="Text 13"/>
          <p:cNvSpPr/>
          <p:nvPr/>
        </p:nvSpPr>
        <p:spPr>
          <a:xfrm>
            <a:off x="5030299" y="2967463"/>
            <a:ext cx="6909093" cy="281286"/>
          </a:xfrm>
          <a:prstGeom prst="rect">
            <a:avLst/>
          </a:prstGeom>
          <a:noFill/>
          <a:ln/>
        </p:spPr>
        <p:txBody>
          <a:bodyPr wrap="square" lIns="0" tIns="0" rIns="0" bIns="0" rtlCol="0" anchor="ctr"/>
          <a:lstStyle/>
          <a:p>
            <a:pPr>
              <a:lnSpc>
                <a:spcPct val="110000"/>
              </a:lnSpc>
            </a:pPr>
            <a:r>
              <a:rPr lang="en-US" sz="1661" b="1" dirty="0">
                <a:solidFill>
                  <a:srgbClr val="1D1D1D"/>
                </a:solidFill>
                <a:latin typeface="Liter" pitchFamily="34" charset="0"/>
                <a:ea typeface="Liter" pitchFamily="34" charset="-122"/>
                <a:cs typeface="Liter" pitchFamily="34" charset="-120"/>
              </a:rPr>
              <a:t>Composants de l'interface</a:t>
            </a:r>
            <a:endParaRPr lang="en-US" sz="1600" dirty="0"/>
          </a:p>
        </p:txBody>
      </p:sp>
      <p:sp>
        <p:nvSpPr>
          <p:cNvPr id="17" name="Shape 14"/>
          <p:cNvSpPr/>
          <p:nvPr/>
        </p:nvSpPr>
        <p:spPr>
          <a:xfrm>
            <a:off x="5033815" y="3392797"/>
            <a:ext cx="6801853" cy="780569"/>
          </a:xfrm>
          <a:custGeom>
            <a:avLst/>
            <a:gdLst/>
            <a:ahLst/>
            <a:cxnLst/>
            <a:rect l="l" t="t" r="r" b="b"/>
            <a:pathLst>
              <a:path w="6801853" h="780569">
                <a:moveTo>
                  <a:pt x="105486" y="0"/>
                </a:moveTo>
                <a:lnTo>
                  <a:pt x="6696366" y="0"/>
                </a:lnTo>
                <a:cubicBezTo>
                  <a:pt x="6754625" y="0"/>
                  <a:pt x="6801853" y="47228"/>
                  <a:pt x="6801853" y="105486"/>
                </a:cubicBezTo>
                <a:lnTo>
                  <a:pt x="6801853" y="675083"/>
                </a:lnTo>
                <a:cubicBezTo>
                  <a:pt x="6801853" y="733342"/>
                  <a:pt x="6754625" y="780569"/>
                  <a:pt x="6696366" y="780569"/>
                </a:cubicBezTo>
                <a:lnTo>
                  <a:pt x="105486" y="780569"/>
                </a:lnTo>
                <a:cubicBezTo>
                  <a:pt x="47228" y="780569"/>
                  <a:pt x="0" y="733342"/>
                  <a:pt x="0" y="675083"/>
                </a:cubicBezTo>
                <a:lnTo>
                  <a:pt x="0" y="105486"/>
                </a:lnTo>
                <a:cubicBezTo>
                  <a:pt x="0" y="47267"/>
                  <a:pt x="47267" y="0"/>
                  <a:pt x="105486" y="0"/>
                </a:cubicBezTo>
                <a:close/>
              </a:path>
            </a:pathLst>
          </a:custGeom>
          <a:solidFill>
            <a:srgbClr val="FFFFFF"/>
          </a:solidFill>
          <a:ln w="10160">
            <a:solidFill>
              <a:srgbClr val="E5E5E5"/>
            </a:solidFill>
            <a:prstDash val="solid"/>
          </a:ln>
        </p:spPr>
      </p:sp>
      <p:sp>
        <p:nvSpPr>
          <p:cNvPr id="18" name="Shape 15"/>
          <p:cNvSpPr/>
          <p:nvPr/>
        </p:nvSpPr>
        <p:spPr>
          <a:xfrm>
            <a:off x="5177974" y="3572115"/>
            <a:ext cx="351608" cy="351608"/>
          </a:xfrm>
          <a:custGeom>
            <a:avLst/>
            <a:gdLst/>
            <a:ahLst/>
            <a:cxnLst/>
            <a:rect l="l" t="t" r="r" b="b"/>
            <a:pathLst>
              <a:path w="351608" h="351608">
                <a:moveTo>
                  <a:pt x="175804" y="0"/>
                </a:moveTo>
                <a:lnTo>
                  <a:pt x="175804" y="0"/>
                </a:lnTo>
                <a:cubicBezTo>
                  <a:pt x="272833" y="0"/>
                  <a:pt x="351608" y="78775"/>
                  <a:pt x="351608" y="175804"/>
                </a:cubicBezTo>
                <a:lnTo>
                  <a:pt x="351608" y="175804"/>
                </a:lnTo>
                <a:cubicBezTo>
                  <a:pt x="351608" y="272833"/>
                  <a:pt x="272833" y="351608"/>
                  <a:pt x="175804" y="351608"/>
                </a:cubicBezTo>
                <a:lnTo>
                  <a:pt x="175804" y="351608"/>
                </a:lnTo>
                <a:cubicBezTo>
                  <a:pt x="78775" y="351608"/>
                  <a:pt x="0" y="272833"/>
                  <a:pt x="0" y="175804"/>
                </a:cubicBezTo>
                <a:lnTo>
                  <a:pt x="0" y="175804"/>
                </a:lnTo>
                <a:cubicBezTo>
                  <a:pt x="0" y="78775"/>
                  <a:pt x="78775" y="0"/>
                  <a:pt x="175804" y="0"/>
                </a:cubicBezTo>
                <a:close/>
              </a:path>
            </a:pathLst>
          </a:custGeom>
          <a:solidFill>
            <a:srgbClr val="2E7D32">
              <a:alpha val="10196"/>
            </a:srgbClr>
          </a:solidFill>
          <a:ln/>
        </p:spPr>
      </p:sp>
      <p:sp>
        <p:nvSpPr>
          <p:cNvPr id="19" name="Shape 16"/>
          <p:cNvSpPr/>
          <p:nvPr/>
        </p:nvSpPr>
        <p:spPr>
          <a:xfrm>
            <a:off x="5283456" y="3677598"/>
            <a:ext cx="140643" cy="140643"/>
          </a:xfrm>
          <a:custGeom>
            <a:avLst/>
            <a:gdLst/>
            <a:ahLst/>
            <a:cxnLst/>
            <a:rect l="l" t="t" r="r" b="b"/>
            <a:pathLst>
              <a:path w="140643" h="140643">
                <a:moveTo>
                  <a:pt x="70322" y="140643"/>
                </a:moveTo>
                <a:cubicBezTo>
                  <a:pt x="109133" y="140643"/>
                  <a:pt x="140643" y="109133"/>
                  <a:pt x="140643" y="70322"/>
                </a:cubicBezTo>
                <a:cubicBezTo>
                  <a:pt x="140643" y="31510"/>
                  <a:pt x="109133" y="0"/>
                  <a:pt x="70322" y="0"/>
                </a:cubicBezTo>
                <a:cubicBezTo>
                  <a:pt x="31510" y="0"/>
                  <a:pt x="0" y="31510"/>
                  <a:pt x="0" y="70322"/>
                </a:cubicBezTo>
                <a:cubicBezTo>
                  <a:pt x="0" y="109133"/>
                  <a:pt x="31510" y="140643"/>
                  <a:pt x="70322" y="140643"/>
                </a:cubicBezTo>
                <a:close/>
                <a:moveTo>
                  <a:pt x="61531" y="43951"/>
                </a:moveTo>
                <a:cubicBezTo>
                  <a:pt x="61531" y="39100"/>
                  <a:pt x="65470" y="35161"/>
                  <a:pt x="70322" y="35161"/>
                </a:cubicBezTo>
                <a:cubicBezTo>
                  <a:pt x="75173" y="35161"/>
                  <a:pt x="79112" y="39100"/>
                  <a:pt x="79112" y="43951"/>
                </a:cubicBezTo>
                <a:cubicBezTo>
                  <a:pt x="79112" y="48802"/>
                  <a:pt x="75173" y="52741"/>
                  <a:pt x="70322" y="52741"/>
                </a:cubicBezTo>
                <a:cubicBezTo>
                  <a:pt x="65470" y="52741"/>
                  <a:pt x="61531" y="48802"/>
                  <a:pt x="61531" y="43951"/>
                </a:cubicBezTo>
                <a:close/>
                <a:moveTo>
                  <a:pt x="59334" y="61531"/>
                </a:moveTo>
                <a:lnTo>
                  <a:pt x="72519" y="61531"/>
                </a:lnTo>
                <a:cubicBezTo>
                  <a:pt x="76173" y="61531"/>
                  <a:pt x="79112" y="64471"/>
                  <a:pt x="79112" y="68124"/>
                </a:cubicBezTo>
                <a:lnTo>
                  <a:pt x="79112" y="92297"/>
                </a:lnTo>
                <a:lnTo>
                  <a:pt x="81309" y="92297"/>
                </a:lnTo>
                <a:cubicBezTo>
                  <a:pt x="84963" y="92297"/>
                  <a:pt x="87902" y="95236"/>
                  <a:pt x="87902" y="98890"/>
                </a:cubicBezTo>
                <a:cubicBezTo>
                  <a:pt x="87902" y="102543"/>
                  <a:pt x="84963" y="105482"/>
                  <a:pt x="81309" y="105482"/>
                </a:cubicBezTo>
                <a:lnTo>
                  <a:pt x="59334" y="105482"/>
                </a:lnTo>
                <a:cubicBezTo>
                  <a:pt x="55680" y="105482"/>
                  <a:pt x="52741" y="102543"/>
                  <a:pt x="52741" y="98890"/>
                </a:cubicBezTo>
                <a:cubicBezTo>
                  <a:pt x="52741" y="95236"/>
                  <a:pt x="55680" y="92297"/>
                  <a:pt x="59334" y="92297"/>
                </a:cubicBezTo>
                <a:lnTo>
                  <a:pt x="65926" y="92297"/>
                </a:lnTo>
                <a:lnTo>
                  <a:pt x="65926" y="74717"/>
                </a:lnTo>
                <a:lnTo>
                  <a:pt x="59334" y="74717"/>
                </a:lnTo>
                <a:cubicBezTo>
                  <a:pt x="55680" y="74717"/>
                  <a:pt x="52741" y="71777"/>
                  <a:pt x="52741" y="68124"/>
                </a:cubicBezTo>
                <a:cubicBezTo>
                  <a:pt x="52741" y="64471"/>
                  <a:pt x="55680" y="61531"/>
                  <a:pt x="59334" y="61531"/>
                </a:cubicBezTo>
                <a:close/>
              </a:path>
            </a:pathLst>
          </a:custGeom>
          <a:solidFill>
            <a:srgbClr val="2E7D32"/>
          </a:solidFill>
          <a:ln/>
        </p:spPr>
      </p:sp>
      <p:sp>
        <p:nvSpPr>
          <p:cNvPr id="20" name="Text 17"/>
          <p:cNvSpPr/>
          <p:nvPr/>
        </p:nvSpPr>
        <p:spPr>
          <a:xfrm>
            <a:off x="5670225" y="3536955"/>
            <a:ext cx="4236874" cy="246125"/>
          </a:xfrm>
          <a:prstGeom prst="rect">
            <a:avLst/>
          </a:prstGeom>
          <a:noFill/>
          <a:ln/>
        </p:spPr>
        <p:txBody>
          <a:bodyPr wrap="square" lIns="0" tIns="0" rIns="0" bIns="0" rtlCol="0" anchor="ctr"/>
          <a:lstStyle/>
          <a:p>
            <a:pPr>
              <a:lnSpc>
                <a:spcPct val="130000"/>
              </a:lnSpc>
            </a:pPr>
            <a:r>
              <a:rPr lang="en-US" sz="1246" b="1" dirty="0">
                <a:solidFill>
                  <a:srgbClr val="1D1D1D"/>
                </a:solidFill>
                <a:latin typeface="Liter" pitchFamily="34" charset="0"/>
                <a:ea typeface="Liter" pitchFamily="34" charset="-122"/>
                <a:cs typeface="Liter" pitchFamily="34" charset="-120"/>
              </a:rPr>
              <a:t>Pastille d'état</a:t>
            </a:r>
            <a:endParaRPr lang="en-US" sz="1600" dirty="0"/>
          </a:p>
        </p:txBody>
      </p:sp>
      <p:sp>
        <p:nvSpPr>
          <p:cNvPr id="21" name="Text 18"/>
          <p:cNvSpPr/>
          <p:nvPr/>
        </p:nvSpPr>
        <p:spPr>
          <a:xfrm>
            <a:off x="5670225" y="3818241"/>
            <a:ext cx="4228084" cy="210965"/>
          </a:xfrm>
          <a:prstGeom prst="rect">
            <a:avLst/>
          </a:prstGeom>
          <a:noFill/>
          <a:ln/>
        </p:spPr>
        <p:txBody>
          <a:bodyPr wrap="square" lIns="0" tIns="0" rIns="0" bIns="0" rtlCol="0" anchor="ctr"/>
          <a:lstStyle/>
          <a:p>
            <a:pPr>
              <a:lnSpc>
                <a:spcPct val="130000"/>
              </a:lnSpc>
            </a:pPr>
            <a:r>
              <a:rPr lang="en-US" sz="1107" dirty="0">
                <a:solidFill>
                  <a:srgbClr val="86868B"/>
                </a:solidFill>
                <a:latin typeface="Liter" pitchFamily="34" charset="0"/>
                <a:ea typeface="Liter" pitchFamily="34" charset="-122"/>
                <a:cs typeface="Liter" pitchFamily="34" charset="-120"/>
              </a:rPr>
              <a:t>Indicateur coloré (ok/warn/danger) avec le statut actuel du système</a:t>
            </a:r>
            <a:endParaRPr lang="en-US" sz="1600" dirty="0"/>
          </a:p>
        </p:txBody>
      </p:sp>
      <p:sp>
        <p:nvSpPr>
          <p:cNvPr id="22" name="Shape 19"/>
          <p:cNvSpPr/>
          <p:nvPr/>
        </p:nvSpPr>
        <p:spPr>
          <a:xfrm>
            <a:off x="5033815" y="4285877"/>
            <a:ext cx="6801853" cy="780569"/>
          </a:xfrm>
          <a:custGeom>
            <a:avLst/>
            <a:gdLst/>
            <a:ahLst/>
            <a:cxnLst/>
            <a:rect l="l" t="t" r="r" b="b"/>
            <a:pathLst>
              <a:path w="6801853" h="780569">
                <a:moveTo>
                  <a:pt x="105486" y="0"/>
                </a:moveTo>
                <a:lnTo>
                  <a:pt x="6696366" y="0"/>
                </a:lnTo>
                <a:cubicBezTo>
                  <a:pt x="6754625" y="0"/>
                  <a:pt x="6801853" y="47228"/>
                  <a:pt x="6801853" y="105486"/>
                </a:cubicBezTo>
                <a:lnTo>
                  <a:pt x="6801853" y="675083"/>
                </a:lnTo>
                <a:cubicBezTo>
                  <a:pt x="6801853" y="733342"/>
                  <a:pt x="6754625" y="780569"/>
                  <a:pt x="6696366" y="780569"/>
                </a:cubicBezTo>
                <a:lnTo>
                  <a:pt x="105486" y="780569"/>
                </a:lnTo>
                <a:cubicBezTo>
                  <a:pt x="47228" y="780569"/>
                  <a:pt x="0" y="733342"/>
                  <a:pt x="0" y="675083"/>
                </a:cubicBezTo>
                <a:lnTo>
                  <a:pt x="0" y="105486"/>
                </a:lnTo>
                <a:cubicBezTo>
                  <a:pt x="0" y="47267"/>
                  <a:pt x="47267" y="0"/>
                  <a:pt x="105486" y="0"/>
                </a:cubicBezTo>
                <a:close/>
              </a:path>
            </a:pathLst>
          </a:custGeom>
          <a:solidFill>
            <a:srgbClr val="FFFFFF"/>
          </a:solidFill>
          <a:ln w="10160">
            <a:solidFill>
              <a:srgbClr val="E5E5E5"/>
            </a:solidFill>
            <a:prstDash val="solid"/>
          </a:ln>
        </p:spPr>
      </p:sp>
      <p:sp>
        <p:nvSpPr>
          <p:cNvPr id="23" name="Shape 20"/>
          <p:cNvSpPr/>
          <p:nvPr/>
        </p:nvSpPr>
        <p:spPr>
          <a:xfrm>
            <a:off x="5177974" y="4465204"/>
            <a:ext cx="351608" cy="351608"/>
          </a:xfrm>
          <a:custGeom>
            <a:avLst/>
            <a:gdLst/>
            <a:ahLst/>
            <a:cxnLst/>
            <a:rect l="l" t="t" r="r" b="b"/>
            <a:pathLst>
              <a:path w="351608" h="351608">
                <a:moveTo>
                  <a:pt x="175804" y="0"/>
                </a:moveTo>
                <a:lnTo>
                  <a:pt x="175804" y="0"/>
                </a:lnTo>
                <a:cubicBezTo>
                  <a:pt x="272833" y="0"/>
                  <a:pt x="351608" y="78775"/>
                  <a:pt x="351608" y="175804"/>
                </a:cubicBezTo>
                <a:lnTo>
                  <a:pt x="351608" y="175804"/>
                </a:lnTo>
                <a:cubicBezTo>
                  <a:pt x="351608" y="272833"/>
                  <a:pt x="272833" y="351608"/>
                  <a:pt x="175804" y="351608"/>
                </a:cubicBezTo>
                <a:lnTo>
                  <a:pt x="175804" y="351608"/>
                </a:lnTo>
                <a:cubicBezTo>
                  <a:pt x="78775" y="351608"/>
                  <a:pt x="0" y="272833"/>
                  <a:pt x="0" y="175804"/>
                </a:cubicBezTo>
                <a:lnTo>
                  <a:pt x="0" y="175804"/>
                </a:lnTo>
                <a:cubicBezTo>
                  <a:pt x="0" y="78775"/>
                  <a:pt x="78775" y="0"/>
                  <a:pt x="175804" y="0"/>
                </a:cubicBezTo>
                <a:close/>
              </a:path>
            </a:pathLst>
          </a:custGeom>
          <a:solidFill>
            <a:srgbClr val="0071E3">
              <a:alpha val="10196"/>
            </a:srgbClr>
          </a:solidFill>
          <a:ln/>
        </p:spPr>
      </p:sp>
      <p:sp>
        <p:nvSpPr>
          <p:cNvPr id="24" name="Shape 21"/>
          <p:cNvSpPr/>
          <p:nvPr/>
        </p:nvSpPr>
        <p:spPr>
          <a:xfrm>
            <a:off x="5283456" y="4570687"/>
            <a:ext cx="140643" cy="140643"/>
          </a:xfrm>
          <a:custGeom>
            <a:avLst/>
            <a:gdLst/>
            <a:ahLst/>
            <a:cxnLst/>
            <a:rect l="l" t="t" r="r" b="b"/>
            <a:pathLst>
              <a:path w="140643" h="140643">
                <a:moveTo>
                  <a:pt x="8790" y="8790"/>
                </a:moveTo>
                <a:cubicBezTo>
                  <a:pt x="13652" y="8790"/>
                  <a:pt x="17580" y="12718"/>
                  <a:pt x="17580" y="17580"/>
                </a:cubicBezTo>
                <a:lnTo>
                  <a:pt x="17580" y="109877"/>
                </a:lnTo>
                <a:cubicBezTo>
                  <a:pt x="17580" y="112295"/>
                  <a:pt x="19558" y="114273"/>
                  <a:pt x="21975" y="114273"/>
                </a:cubicBezTo>
                <a:lnTo>
                  <a:pt x="131853" y="114273"/>
                </a:lnTo>
                <a:cubicBezTo>
                  <a:pt x="136715" y="114273"/>
                  <a:pt x="140643" y="118201"/>
                  <a:pt x="140643" y="123063"/>
                </a:cubicBezTo>
                <a:cubicBezTo>
                  <a:pt x="140643" y="127925"/>
                  <a:pt x="136715" y="131853"/>
                  <a:pt x="131853" y="131853"/>
                </a:cubicBezTo>
                <a:lnTo>
                  <a:pt x="21975" y="131853"/>
                </a:lnTo>
                <a:cubicBezTo>
                  <a:pt x="9834" y="131853"/>
                  <a:pt x="0" y="122019"/>
                  <a:pt x="0" y="109877"/>
                </a:cubicBezTo>
                <a:lnTo>
                  <a:pt x="0" y="17580"/>
                </a:lnTo>
                <a:cubicBezTo>
                  <a:pt x="0" y="12718"/>
                  <a:pt x="3928" y="8790"/>
                  <a:pt x="8790" y="8790"/>
                </a:cubicBezTo>
                <a:close/>
                <a:moveTo>
                  <a:pt x="35161" y="26371"/>
                </a:moveTo>
                <a:cubicBezTo>
                  <a:pt x="35161" y="21509"/>
                  <a:pt x="39089" y="17580"/>
                  <a:pt x="43951" y="17580"/>
                </a:cubicBezTo>
                <a:lnTo>
                  <a:pt x="96692" y="17580"/>
                </a:lnTo>
                <a:cubicBezTo>
                  <a:pt x="101554" y="17580"/>
                  <a:pt x="105482" y="21509"/>
                  <a:pt x="105482" y="26371"/>
                </a:cubicBezTo>
                <a:cubicBezTo>
                  <a:pt x="105482" y="31233"/>
                  <a:pt x="101554" y="35161"/>
                  <a:pt x="96692" y="35161"/>
                </a:cubicBezTo>
                <a:lnTo>
                  <a:pt x="43951" y="35161"/>
                </a:lnTo>
                <a:cubicBezTo>
                  <a:pt x="39089" y="35161"/>
                  <a:pt x="35161" y="31233"/>
                  <a:pt x="35161" y="26371"/>
                </a:cubicBezTo>
                <a:close/>
                <a:moveTo>
                  <a:pt x="43951" y="48346"/>
                </a:moveTo>
                <a:lnTo>
                  <a:pt x="79112" y="48346"/>
                </a:lnTo>
                <a:cubicBezTo>
                  <a:pt x="83974" y="48346"/>
                  <a:pt x="87902" y="52274"/>
                  <a:pt x="87902" y="57136"/>
                </a:cubicBezTo>
                <a:cubicBezTo>
                  <a:pt x="87902" y="61998"/>
                  <a:pt x="83974" y="65926"/>
                  <a:pt x="79112" y="65926"/>
                </a:cubicBezTo>
                <a:lnTo>
                  <a:pt x="43951" y="65926"/>
                </a:lnTo>
                <a:cubicBezTo>
                  <a:pt x="39089" y="65926"/>
                  <a:pt x="35161" y="61998"/>
                  <a:pt x="35161" y="57136"/>
                </a:cubicBezTo>
                <a:cubicBezTo>
                  <a:pt x="35161" y="52274"/>
                  <a:pt x="39089" y="48346"/>
                  <a:pt x="43951" y="48346"/>
                </a:cubicBezTo>
                <a:close/>
                <a:moveTo>
                  <a:pt x="43951" y="79112"/>
                </a:moveTo>
                <a:lnTo>
                  <a:pt x="114273" y="79112"/>
                </a:lnTo>
                <a:cubicBezTo>
                  <a:pt x="119135" y="79112"/>
                  <a:pt x="123063" y="83040"/>
                  <a:pt x="123063" y="87902"/>
                </a:cubicBezTo>
                <a:cubicBezTo>
                  <a:pt x="123063" y="92764"/>
                  <a:pt x="119135" y="96692"/>
                  <a:pt x="114273" y="96692"/>
                </a:cubicBezTo>
                <a:lnTo>
                  <a:pt x="43951" y="96692"/>
                </a:lnTo>
                <a:cubicBezTo>
                  <a:pt x="39089" y="96692"/>
                  <a:pt x="35161" y="92764"/>
                  <a:pt x="35161" y="87902"/>
                </a:cubicBezTo>
                <a:cubicBezTo>
                  <a:pt x="35161" y="83040"/>
                  <a:pt x="39089" y="79112"/>
                  <a:pt x="43951" y="79112"/>
                </a:cubicBezTo>
                <a:close/>
              </a:path>
            </a:pathLst>
          </a:custGeom>
          <a:solidFill>
            <a:srgbClr val="0071E3"/>
          </a:solidFill>
          <a:ln/>
        </p:spPr>
      </p:sp>
      <p:sp>
        <p:nvSpPr>
          <p:cNvPr id="25" name="Text 22"/>
          <p:cNvSpPr/>
          <p:nvPr/>
        </p:nvSpPr>
        <p:spPr>
          <a:xfrm>
            <a:off x="5670225" y="4430044"/>
            <a:ext cx="4359937" cy="246125"/>
          </a:xfrm>
          <a:prstGeom prst="rect">
            <a:avLst/>
          </a:prstGeom>
          <a:noFill/>
          <a:ln/>
        </p:spPr>
        <p:txBody>
          <a:bodyPr wrap="square" lIns="0" tIns="0" rIns="0" bIns="0" rtlCol="0" anchor="ctr"/>
          <a:lstStyle/>
          <a:p>
            <a:pPr>
              <a:lnSpc>
                <a:spcPct val="130000"/>
              </a:lnSpc>
            </a:pPr>
            <a:r>
              <a:rPr lang="en-US" sz="1246" b="1" dirty="0">
                <a:solidFill>
                  <a:srgbClr val="1D1D1D"/>
                </a:solidFill>
                <a:latin typeface="Liter" pitchFamily="34" charset="0"/>
                <a:ea typeface="Liter" pitchFamily="34" charset="-122"/>
                <a:cs typeface="Liter" pitchFamily="34" charset="-120"/>
              </a:rPr>
              <a:t>Cartes d'information</a:t>
            </a:r>
            <a:endParaRPr lang="en-US" sz="1600" dirty="0"/>
          </a:p>
        </p:txBody>
      </p:sp>
      <p:sp>
        <p:nvSpPr>
          <p:cNvPr id="26" name="Text 23"/>
          <p:cNvSpPr/>
          <p:nvPr/>
        </p:nvSpPr>
        <p:spPr>
          <a:xfrm>
            <a:off x="5670225" y="4711330"/>
            <a:ext cx="4351146" cy="210965"/>
          </a:xfrm>
          <a:prstGeom prst="rect">
            <a:avLst/>
          </a:prstGeom>
          <a:noFill/>
          <a:ln/>
        </p:spPr>
        <p:txBody>
          <a:bodyPr wrap="square" lIns="0" tIns="0" rIns="0" bIns="0" rtlCol="0" anchor="ctr"/>
          <a:lstStyle/>
          <a:p>
            <a:pPr>
              <a:lnSpc>
                <a:spcPct val="130000"/>
              </a:lnSpc>
            </a:pPr>
            <a:r>
              <a:rPr lang="en-US" sz="1107" dirty="0">
                <a:solidFill>
                  <a:srgbClr val="86868B"/>
                </a:solidFill>
                <a:latin typeface="Liter" pitchFamily="34" charset="0"/>
                <a:ea typeface="Liter" pitchFamily="34" charset="-122"/>
                <a:cs typeface="Liter" pitchFamily="34" charset="-120"/>
              </a:rPr>
              <a:t>Niveau d'eau (cm), taux de remplissage (%), distance capteur-surface</a:t>
            </a:r>
            <a:endParaRPr lang="en-US" sz="1600" dirty="0"/>
          </a:p>
        </p:txBody>
      </p:sp>
      <p:sp>
        <p:nvSpPr>
          <p:cNvPr id="27" name="Shape 24"/>
          <p:cNvSpPr/>
          <p:nvPr/>
        </p:nvSpPr>
        <p:spPr>
          <a:xfrm>
            <a:off x="5033815" y="5178966"/>
            <a:ext cx="6801853" cy="780569"/>
          </a:xfrm>
          <a:custGeom>
            <a:avLst/>
            <a:gdLst/>
            <a:ahLst/>
            <a:cxnLst/>
            <a:rect l="l" t="t" r="r" b="b"/>
            <a:pathLst>
              <a:path w="6801853" h="780569">
                <a:moveTo>
                  <a:pt x="105486" y="0"/>
                </a:moveTo>
                <a:lnTo>
                  <a:pt x="6696366" y="0"/>
                </a:lnTo>
                <a:cubicBezTo>
                  <a:pt x="6754625" y="0"/>
                  <a:pt x="6801853" y="47228"/>
                  <a:pt x="6801853" y="105486"/>
                </a:cubicBezTo>
                <a:lnTo>
                  <a:pt x="6801853" y="675083"/>
                </a:lnTo>
                <a:cubicBezTo>
                  <a:pt x="6801853" y="733342"/>
                  <a:pt x="6754625" y="780569"/>
                  <a:pt x="6696366" y="780569"/>
                </a:cubicBezTo>
                <a:lnTo>
                  <a:pt x="105486" y="780569"/>
                </a:lnTo>
                <a:cubicBezTo>
                  <a:pt x="47228" y="780569"/>
                  <a:pt x="0" y="733342"/>
                  <a:pt x="0" y="675083"/>
                </a:cubicBezTo>
                <a:lnTo>
                  <a:pt x="0" y="105486"/>
                </a:lnTo>
                <a:cubicBezTo>
                  <a:pt x="0" y="47267"/>
                  <a:pt x="47267" y="0"/>
                  <a:pt x="105486" y="0"/>
                </a:cubicBezTo>
                <a:close/>
              </a:path>
            </a:pathLst>
          </a:custGeom>
          <a:solidFill>
            <a:srgbClr val="FFFFFF"/>
          </a:solidFill>
          <a:ln w="10160">
            <a:solidFill>
              <a:srgbClr val="E5E5E5"/>
            </a:solidFill>
            <a:prstDash val="solid"/>
          </a:ln>
        </p:spPr>
      </p:sp>
      <p:sp>
        <p:nvSpPr>
          <p:cNvPr id="28" name="Shape 25"/>
          <p:cNvSpPr/>
          <p:nvPr/>
        </p:nvSpPr>
        <p:spPr>
          <a:xfrm>
            <a:off x="5177974" y="5358285"/>
            <a:ext cx="351608" cy="351608"/>
          </a:xfrm>
          <a:custGeom>
            <a:avLst/>
            <a:gdLst/>
            <a:ahLst/>
            <a:cxnLst/>
            <a:rect l="l" t="t" r="r" b="b"/>
            <a:pathLst>
              <a:path w="351608" h="351608">
                <a:moveTo>
                  <a:pt x="175804" y="0"/>
                </a:moveTo>
                <a:lnTo>
                  <a:pt x="175804" y="0"/>
                </a:lnTo>
                <a:cubicBezTo>
                  <a:pt x="272833" y="0"/>
                  <a:pt x="351608" y="78775"/>
                  <a:pt x="351608" y="175804"/>
                </a:cubicBezTo>
                <a:lnTo>
                  <a:pt x="351608" y="175804"/>
                </a:lnTo>
                <a:cubicBezTo>
                  <a:pt x="351608" y="272833"/>
                  <a:pt x="272833" y="351608"/>
                  <a:pt x="175804" y="351608"/>
                </a:cubicBezTo>
                <a:lnTo>
                  <a:pt x="175804" y="351608"/>
                </a:lnTo>
                <a:cubicBezTo>
                  <a:pt x="78775" y="351608"/>
                  <a:pt x="0" y="272833"/>
                  <a:pt x="0" y="175804"/>
                </a:cubicBezTo>
                <a:lnTo>
                  <a:pt x="0" y="175804"/>
                </a:lnTo>
                <a:cubicBezTo>
                  <a:pt x="0" y="78775"/>
                  <a:pt x="78775" y="0"/>
                  <a:pt x="175804" y="0"/>
                </a:cubicBezTo>
                <a:close/>
              </a:path>
            </a:pathLst>
          </a:custGeom>
          <a:solidFill>
            <a:srgbClr val="0071E3">
              <a:alpha val="10196"/>
            </a:srgbClr>
          </a:solidFill>
          <a:ln/>
        </p:spPr>
      </p:sp>
      <p:sp>
        <p:nvSpPr>
          <p:cNvPr id="29" name="Shape 26"/>
          <p:cNvSpPr/>
          <p:nvPr/>
        </p:nvSpPr>
        <p:spPr>
          <a:xfrm>
            <a:off x="5283456" y="5463767"/>
            <a:ext cx="140643" cy="140643"/>
          </a:xfrm>
          <a:custGeom>
            <a:avLst/>
            <a:gdLst/>
            <a:ahLst/>
            <a:cxnLst/>
            <a:rect l="l" t="t" r="r" b="b"/>
            <a:pathLst>
              <a:path w="140643" h="140643">
                <a:moveTo>
                  <a:pt x="8790" y="17580"/>
                </a:moveTo>
                <a:cubicBezTo>
                  <a:pt x="3928" y="17580"/>
                  <a:pt x="0" y="21509"/>
                  <a:pt x="0" y="26371"/>
                </a:cubicBezTo>
                <a:cubicBezTo>
                  <a:pt x="0" y="31233"/>
                  <a:pt x="3928" y="35161"/>
                  <a:pt x="8790" y="35161"/>
                </a:cubicBezTo>
                <a:lnTo>
                  <a:pt x="32606" y="35161"/>
                </a:lnTo>
                <a:cubicBezTo>
                  <a:pt x="35985" y="42935"/>
                  <a:pt x="43731" y="48346"/>
                  <a:pt x="52741" y="48346"/>
                </a:cubicBezTo>
                <a:cubicBezTo>
                  <a:pt x="61751" y="48346"/>
                  <a:pt x="69497" y="42935"/>
                  <a:pt x="72876" y="35161"/>
                </a:cubicBezTo>
                <a:lnTo>
                  <a:pt x="131853" y="35161"/>
                </a:lnTo>
                <a:cubicBezTo>
                  <a:pt x="136715" y="35161"/>
                  <a:pt x="140643" y="31233"/>
                  <a:pt x="140643" y="26371"/>
                </a:cubicBezTo>
                <a:cubicBezTo>
                  <a:pt x="140643" y="21509"/>
                  <a:pt x="136715" y="17580"/>
                  <a:pt x="131853" y="17580"/>
                </a:cubicBezTo>
                <a:lnTo>
                  <a:pt x="72876" y="17580"/>
                </a:lnTo>
                <a:cubicBezTo>
                  <a:pt x="69497" y="9807"/>
                  <a:pt x="61751" y="4395"/>
                  <a:pt x="52741" y="4395"/>
                </a:cubicBezTo>
                <a:cubicBezTo>
                  <a:pt x="43731" y="4395"/>
                  <a:pt x="35985" y="9807"/>
                  <a:pt x="32606" y="17580"/>
                </a:cubicBezTo>
                <a:lnTo>
                  <a:pt x="8790" y="17580"/>
                </a:lnTo>
                <a:close/>
                <a:moveTo>
                  <a:pt x="8790" y="61531"/>
                </a:moveTo>
                <a:cubicBezTo>
                  <a:pt x="3928" y="61531"/>
                  <a:pt x="0" y="65459"/>
                  <a:pt x="0" y="70322"/>
                </a:cubicBezTo>
                <a:cubicBezTo>
                  <a:pt x="0" y="75184"/>
                  <a:pt x="3928" y="79112"/>
                  <a:pt x="8790" y="79112"/>
                </a:cubicBezTo>
                <a:lnTo>
                  <a:pt x="76557" y="79112"/>
                </a:lnTo>
                <a:cubicBezTo>
                  <a:pt x="79936" y="86886"/>
                  <a:pt x="87682" y="92297"/>
                  <a:pt x="96692" y="92297"/>
                </a:cubicBezTo>
                <a:cubicBezTo>
                  <a:pt x="105702" y="92297"/>
                  <a:pt x="113448" y="86886"/>
                  <a:pt x="116827" y="79112"/>
                </a:cubicBezTo>
                <a:lnTo>
                  <a:pt x="131853" y="79112"/>
                </a:lnTo>
                <a:cubicBezTo>
                  <a:pt x="136715" y="79112"/>
                  <a:pt x="140643" y="75184"/>
                  <a:pt x="140643" y="70322"/>
                </a:cubicBezTo>
                <a:cubicBezTo>
                  <a:pt x="140643" y="65459"/>
                  <a:pt x="136715" y="61531"/>
                  <a:pt x="131853" y="61531"/>
                </a:cubicBezTo>
                <a:lnTo>
                  <a:pt x="116827" y="61531"/>
                </a:lnTo>
                <a:cubicBezTo>
                  <a:pt x="113448" y="53758"/>
                  <a:pt x="105702" y="48346"/>
                  <a:pt x="96692" y="48346"/>
                </a:cubicBezTo>
                <a:cubicBezTo>
                  <a:pt x="87682" y="48346"/>
                  <a:pt x="79936" y="53758"/>
                  <a:pt x="76557" y="61531"/>
                </a:cubicBezTo>
                <a:lnTo>
                  <a:pt x="8790" y="61531"/>
                </a:lnTo>
                <a:close/>
                <a:moveTo>
                  <a:pt x="8790" y="105482"/>
                </a:moveTo>
                <a:cubicBezTo>
                  <a:pt x="3928" y="105482"/>
                  <a:pt x="0" y="109410"/>
                  <a:pt x="0" y="114273"/>
                </a:cubicBezTo>
                <a:cubicBezTo>
                  <a:pt x="0" y="119135"/>
                  <a:pt x="3928" y="123063"/>
                  <a:pt x="8790" y="123063"/>
                </a:cubicBezTo>
                <a:lnTo>
                  <a:pt x="23816" y="123063"/>
                </a:lnTo>
                <a:cubicBezTo>
                  <a:pt x="27195" y="130837"/>
                  <a:pt x="34941" y="136248"/>
                  <a:pt x="43951" y="136248"/>
                </a:cubicBezTo>
                <a:cubicBezTo>
                  <a:pt x="52961" y="136248"/>
                  <a:pt x="60707" y="130837"/>
                  <a:pt x="64086" y="123063"/>
                </a:cubicBezTo>
                <a:lnTo>
                  <a:pt x="131853" y="123063"/>
                </a:lnTo>
                <a:cubicBezTo>
                  <a:pt x="136715" y="123063"/>
                  <a:pt x="140643" y="119135"/>
                  <a:pt x="140643" y="114273"/>
                </a:cubicBezTo>
                <a:cubicBezTo>
                  <a:pt x="140643" y="109410"/>
                  <a:pt x="136715" y="105482"/>
                  <a:pt x="131853" y="105482"/>
                </a:cubicBezTo>
                <a:lnTo>
                  <a:pt x="64086" y="105482"/>
                </a:lnTo>
                <a:cubicBezTo>
                  <a:pt x="60707" y="97709"/>
                  <a:pt x="52961" y="92297"/>
                  <a:pt x="43951" y="92297"/>
                </a:cubicBezTo>
                <a:cubicBezTo>
                  <a:pt x="34941" y="92297"/>
                  <a:pt x="27195" y="97709"/>
                  <a:pt x="23816" y="105482"/>
                </a:cubicBezTo>
                <a:lnTo>
                  <a:pt x="8790" y="105482"/>
                </a:lnTo>
                <a:close/>
              </a:path>
            </a:pathLst>
          </a:custGeom>
          <a:solidFill>
            <a:srgbClr val="0071E3"/>
          </a:solidFill>
          <a:ln/>
        </p:spPr>
      </p:sp>
      <p:sp>
        <p:nvSpPr>
          <p:cNvPr id="30" name="Text 27"/>
          <p:cNvSpPr/>
          <p:nvPr/>
        </p:nvSpPr>
        <p:spPr>
          <a:xfrm>
            <a:off x="5670225" y="5323124"/>
            <a:ext cx="4852187" cy="246125"/>
          </a:xfrm>
          <a:prstGeom prst="rect">
            <a:avLst/>
          </a:prstGeom>
          <a:noFill/>
          <a:ln/>
        </p:spPr>
        <p:txBody>
          <a:bodyPr wrap="square" lIns="0" tIns="0" rIns="0" bIns="0" rtlCol="0" anchor="ctr"/>
          <a:lstStyle/>
          <a:p>
            <a:pPr>
              <a:lnSpc>
                <a:spcPct val="130000"/>
              </a:lnSpc>
            </a:pPr>
            <a:r>
              <a:rPr lang="en-US" sz="1246" b="1" dirty="0">
                <a:solidFill>
                  <a:srgbClr val="1D1D1D"/>
                </a:solidFill>
                <a:latin typeface="Liter" pitchFamily="34" charset="0"/>
                <a:ea typeface="Liter" pitchFamily="34" charset="-122"/>
                <a:cs typeface="Liter" pitchFamily="34" charset="-120"/>
              </a:rPr>
              <a:t>Seuils configurés</a:t>
            </a:r>
            <a:endParaRPr lang="en-US" sz="1600" dirty="0"/>
          </a:p>
        </p:txBody>
      </p:sp>
      <p:sp>
        <p:nvSpPr>
          <p:cNvPr id="31" name="Text 28"/>
          <p:cNvSpPr/>
          <p:nvPr/>
        </p:nvSpPr>
        <p:spPr>
          <a:xfrm>
            <a:off x="5670225" y="5604410"/>
            <a:ext cx="4843397" cy="210965"/>
          </a:xfrm>
          <a:prstGeom prst="rect">
            <a:avLst/>
          </a:prstGeom>
          <a:noFill/>
          <a:ln/>
        </p:spPr>
        <p:txBody>
          <a:bodyPr wrap="square" lIns="0" tIns="0" rIns="0" bIns="0" rtlCol="0" anchor="ctr"/>
          <a:lstStyle/>
          <a:p>
            <a:pPr>
              <a:lnSpc>
                <a:spcPct val="130000"/>
              </a:lnSpc>
            </a:pPr>
            <a:r>
              <a:rPr lang="en-US" sz="1107" dirty="0">
                <a:solidFill>
                  <a:srgbClr val="86868B"/>
                </a:solidFill>
                <a:latin typeface="Liter" pitchFamily="34" charset="0"/>
                <a:ea typeface="Liter" pitchFamily="34" charset="-122"/>
                <a:cs typeface="Liter" pitchFamily="34" charset="-120"/>
              </a:rPr>
              <a:t>Affichage des valeurs de calibration et des trois seuils (bas/vigilance/critique)</a:t>
            </a:r>
            <a:endParaRPr lang="en-US" sz="1600" dirty="0"/>
          </a:p>
        </p:txBody>
      </p:sp>
      <p:sp>
        <p:nvSpPr>
          <p:cNvPr id="32" name="Shape 29"/>
          <p:cNvSpPr/>
          <p:nvPr/>
        </p:nvSpPr>
        <p:spPr>
          <a:xfrm>
            <a:off x="5033815" y="6072047"/>
            <a:ext cx="6801853" cy="780569"/>
          </a:xfrm>
          <a:custGeom>
            <a:avLst/>
            <a:gdLst/>
            <a:ahLst/>
            <a:cxnLst/>
            <a:rect l="l" t="t" r="r" b="b"/>
            <a:pathLst>
              <a:path w="6801853" h="780569">
                <a:moveTo>
                  <a:pt x="105486" y="0"/>
                </a:moveTo>
                <a:lnTo>
                  <a:pt x="6696366" y="0"/>
                </a:lnTo>
                <a:cubicBezTo>
                  <a:pt x="6754625" y="0"/>
                  <a:pt x="6801853" y="47228"/>
                  <a:pt x="6801853" y="105486"/>
                </a:cubicBezTo>
                <a:lnTo>
                  <a:pt x="6801853" y="675083"/>
                </a:lnTo>
                <a:cubicBezTo>
                  <a:pt x="6801853" y="733342"/>
                  <a:pt x="6754625" y="780569"/>
                  <a:pt x="6696366" y="780569"/>
                </a:cubicBezTo>
                <a:lnTo>
                  <a:pt x="105486" y="780569"/>
                </a:lnTo>
                <a:cubicBezTo>
                  <a:pt x="47228" y="780569"/>
                  <a:pt x="0" y="733342"/>
                  <a:pt x="0" y="675083"/>
                </a:cubicBezTo>
                <a:lnTo>
                  <a:pt x="0" y="105486"/>
                </a:lnTo>
                <a:cubicBezTo>
                  <a:pt x="0" y="47267"/>
                  <a:pt x="47267" y="0"/>
                  <a:pt x="105486" y="0"/>
                </a:cubicBezTo>
                <a:close/>
              </a:path>
            </a:pathLst>
          </a:custGeom>
          <a:solidFill>
            <a:srgbClr val="FFFFFF"/>
          </a:solidFill>
          <a:ln w="10160">
            <a:solidFill>
              <a:srgbClr val="E5E5E5"/>
            </a:solidFill>
            <a:prstDash val="solid"/>
          </a:ln>
        </p:spPr>
      </p:sp>
      <p:sp>
        <p:nvSpPr>
          <p:cNvPr id="33" name="Shape 30"/>
          <p:cNvSpPr/>
          <p:nvPr/>
        </p:nvSpPr>
        <p:spPr>
          <a:xfrm>
            <a:off x="5177974" y="6251365"/>
            <a:ext cx="351608" cy="351608"/>
          </a:xfrm>
          <a:custGeom>
            <a:avLst/>
            <a:gdLst/>
            <a:ahLst/>
            <a:cxnLst/>
            <a:rect l="l" t="t" r="r" b="b"/>
            <a:pathLst>
              <a:path w="351608" h="351608">
                <a:moveTo>
                  <a:pt x="175804" y="0"/>
                </a:moveTo>
                <a:lnTo>
                  <a:pt x="175804" y="0"/>
                </a:lnTo>
                <a:cubicBezTo>
                  <a:pt x="272833" y="0"/>
                  <a:pt x="351608" y="78775"/>
                  <a:pt x="351608" y="175804"/>
                </a:cubicBezTo>
                <a:lnTo>
                  <a:pt x="351608" y="175804"/>
                </a:lnTo>
                <a:cubicBezTo>
                  <a:pt x="351608" y="272833"/>
                  <a:pt x="272833" y="351608"/>
                  <a:pt x="175804" y="351608"/>
                </a:cubicBezTo>
                <a:lnTo>
                  <a:pt x="175804" y="351608"/>
                </a:lnTo>
                <a:cubicBezTo>
                  <a:pt x="78775" y="351608"/>
                  <a:pt x="0" y="272833"/>
                  <a:pt x="0" y="175804"/>
                </a:cubicBezTo>
                <a:lnTo>
                  <a:pt x="0" y="175804"/>
                </a:lnTo>
                <a:cubicBezTo>
                  <a:pt x="0" y="78775"/>
                  <a:pt x="78775" y="0"/>
                  <a:pt x="175804" y="0"/>
                </a:cubicBezTo>
                <a:close/>
              </a:path>
            </a:pathLst>
          </a:custGeom>
          <a:solidFill>
            <a:srgbClr val="0071E3">
              <a:alpha val="10196"/>
            </a:srgbClr>
          </a:solidFill>
          <a:ln/>
        </p:spPr>
      </p:sp>
      <p:sp>
        <p:nvSpPr>
          <p:cNvPr id="34" name="Shape 31"/>
          <p:cNvSpPr/>
          <p:nvPr/>
        </p:nvSpPr>
        <p:spPr>
          <a:xfrm>
            <a:off x="5283456" y="6356847"/>
            <a:ext cx="140643" cy="140643"/>
          </a:xfrm>
          <a:custGeom>
            <a:avLst/>
            <a:gdLst/>
            <a:ahLst/>
            <a:cxnLst/>
            <a:rect l="l" t="t" r="r" b="b"/>
            <a:pathLst>
              <a:path w="140643" h="140643">
                <a:moveTo>
                  <a:pt x="70322" y="0"/>
                </a:moveTo>
                <a:cubicBezTo>
                  <a:pt x="109133" y="0"/>
                  <a:pt x="140643" y="31510"/>
                  <a:pt x="140643" y="70322"/>
                </a:cubicBezTo>
                <a:cubicBezTo>
                  <a:pt x="140643" y="109133"/>
                  <a:pt x="109133" y="140643"/>
                  <a:pt x="70322" y="140643"/>
                </a:cubicBezTo>
                <a:cubicBezTo>
                  <a:pt x="31510" y="140643"/>
                  <a:pt x="0" y="109133"/>
                  <a:pt x="0" y="70322"/>
                </a:cubicBezTo>
                <a:cubicBezTo>
                  <a:pt x="0" y="31510"/>
                  <a:pt x="31510" y="0"/>
                  <a:pt x="70322" y="0"/>
                </a:cubicBezTo>
                <a:close/>
                <a:moveTo>
                  <a:pt x="63729" y="32963"/>
                </a:moveTo>
                <a:lnTo>
                  <a:pt x="63729" y="70322"/>
                </a:lnTo>
                <a:cubicBezTo>
                  <a:pt x="63729" y="72519"/>
                  <a:pt x="64828" y="74579"/>
                  <a:pt x="66668" y="75815"/>
                </a:cubicBezTo>
                <a:lnTo>
                  <a:pt x="93039" y="93396"/>
                </a:lnTo>
                <a:cubicBezTo>
                  <a:pt x="96060" y="95429"/>
                  <a:pt x="100153" y="94604"/>
                  <a:pt x="102186" y="91555"/>
                </a:cubicBezTo>
                <a:cubicBezTo>
                  <a:pt x="104219" y="88506"/>
                  <a:pt x="103395" y="84441"/>
                  <a:pt x="100346" y="82408"/>
                </a:cubicBezTo>
                <a:lnTo>
                  <a:pt x="76914" y="66805"/>
                </a:lnTo>
                <a:lnTo>
                  <a:pt x="76914" y="32963"/>
                </a:lnTo>
                <a:cubicBezTo>
                  <a:pt x="76914" y="29310"/>
                  <a:pt x="73975" y="26371"/>
                  <a:pt x="70322" y="26371"/>
                </a:cubicBezTo>
                <a:cubicBezTo>
                  <a:pt x="66668" y="26371"/>
                  <a:pt x="63729" y="29310"/>
                  <a:pt x="63729" y="32963"/>
                </a:cubicBezTo>
                <a:close/>
              </a:path>
            </a:pathLst>
          </a:custGeom>
          <a:solidFill>
            <a:srgbClr val="0071E3"/>
          </a:solidFill>
          <a:ln/>
        </p:spPr>
      </p:sp>
      <p:sp>
        <p:nvSpPr>
          <p:cNvPr id="35" name="Text 32"/>
          <p:cNvSpPr/>
          <p:nvPr/>
        </p:nvSpPr>
        <p:spPr>
          <a:xfrm>
            <a:off x="5670225" y="6216204"/>
            <a:ext cx="4236874" cy="246125"/>
          </a:xfrm>
          <a:prstGeom prst="rect">
            <a:avLst/>
          </a:prstGeom>
          <a:noFill/>
          <a:ln/>
        </p:spPr>
        <p:txBody>
          <a:bodyPr wrap="square" lIns="0" tIns="0" rIns="0" bIns="0" rtlCol="0" anchor="ctr"/>
          <a:lstStyle/>
          <a:p>
            <a:pPr>
              <a:lnSpc>
                <a:spcPct val="130000"/>
              </a:lnSpc>
            </a:pPr>
            <a:r>
              <a:rPr lang="en-US" sz="1246" b="1" dirty="0">
                <a:solidFill>
                  <a:srgbClr val="1D1D1D"/>
                </a:solidFill>
                <a:latin typeface="Liter" pitchFamily="34" charset="0"/>
                <a:ea typeface="Liter" pitchFamily="34" charset="-122"/>
                <a:cs typeface="Liter" pitchFamily="34" charset="-120"/>
              </a:rPr>
              <a:t>Métriques système</a:t>
            </a:r>
            <a:endParaRPr lang="en-US" sz="1600" dirty="0"/>
          </a:p>
        </p:txBody>
      </p:sp>
      <p:sp>
        <p:nvSpPr>
          <p:cNvPr id="36" name="Text 33"/>
          <p:cNvSpPr/>
          <p:nvPr/>
        </p:nvSpPr>
        <p:spPr>
          <a:xfrm>
            <a:off x="5670225" y="6497490"/>
            <a:ext cx="4228084" cy="210965"/>
          </a:xfrm>
          <a:prstGeom prst="rect">
            <a:avLst/>
          </a:prstGeom>
          <a:noFill/>
          <a:ln/>
        </p:spPr>
        <p:txBody>
          <a:bodyPr wrap="square" lIns="0" tIns="0" rIns="0" bIns="0" rtlCol="0" anchor="ctr"/>
          <a:lstStyle/>
          <a:p>
            <a:pPr>
              <a:lnSpc>
                <a:spcPct val="130000"/>
              </a:lnSpc>
            </a:pPr>
            <a:r>
              <a:rPr lang="en-US" sz="1107" dirty="0">
                <a:solidFill>
                  <a:srgbClr val="86868B"/>
                </a:solidFill>
                <a:latin typeface="Liter" pitchFamily="34" charset="0"/>
                <a:ea typeface="Liter" pitchFamily="34" charset="-122"/>
                <a:cs typeface="Liter" pitchFamily="34" charset="-120"/>
              </a:rPr>
              <a:t>Uptime, temps depuis dernière mesure, état de calibration et alarme</a:t>
            </a:r>
            <a:endParaRPr lang="en-US" sz="1600" dirty="0"/>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381000" y="1079181"/>
            <a:ext cx="2011680" cy="1737360"/>
          </a:xfrm>
          <a:prstGeom prst="rect">
            <a:avLst/>
          </a:prstGeom>
          <a:noFill/>
          <a:ln/>
        </p:spPr>
        <p:txBody>
          <a:bodyPr wrap="square" lIns="0" tIns="0" rIns="0" bIns="0" rtlCol="0" anchor="ctr"/>
          <a:lstStyle/>
          <a:p>
            <a:pPr>
              <a:lnSpc>
                <a:spcPct val="80000"/>
              </a:lnSpc>
            </a:pPr>
            <a:r>
              <a:rPr lang="en-US" sz="9600" b="1" dirty="0">
                <a:solidFill>
                  <a:srgbClr val="0071E3"/>
                </a:solidFill>
                <a:latin typeface="Liter" pitchFamily="34" charset="0"/>
                <a:ea typeface="Liter" pitchFamily="34" charset="-122"/>
                <a:cs typeface="Liter" pitchFamily="34" charset="-120"/>
              </a:rPr>
              <a:t>07</a:t>
            </a:r>
            <a:endParaRPr lang="en-US" sz="1600" dirty="0"/>
          </a:p>
        </p:txBody>
      </p:sp>
      <p:sp>
        <p:nvSpPr>
          <p:cNvPr id="3" name="Text 1"/>
          <p:cNvSpPr/>
          <p:nvPr/>
        </p:nvSpPr>
        <p:spPr>
          <a:xfrm>
            <a:off x="381000" y="2862263"/>
            <a:ext cx="11772900" cy="1714500"/>
          </a:xfrm>
          <a:prstGeom prst="rect">
            <a:avLst/>
          </a:prstGeom>
          <a:noFill/>
          <a:ln/>
        </p:spPr>
        <p:txBody>
          <a:bodyPr wrap="square" lIns="0" tIns="0" rIns="0" bIns="0" rtlCol="0" anchor="ctr"/>
          <a:lstStyle/>
          <a:p>
            <a:pPr>
              <a:lnSpc>
                <a:spcPct val="100000"/>
              </a:lnSpc>
            </a:pPr>
            <a:r>
              <a:rPr lang="en-US" sz="5400" b="1" dirty="0">
                <a:solidFill>
                  <a:srgbClr val="1D1D1D"/>
                </a:solidFill>
                <a:latin typeface="Liter" pitchFamily="34" charset="0"/>
                <a:ea typeface="Liter" pitchFamily="34" charset="-122"/>
                <a:cs typeface="Liter" pitchFamily="34" charset="-120"/>
              </a:rPr>
              <a:t>Intégration</a:t>
            </a:r>
            <a:endParaRPr lang="en-US" sz="1600" dirty="0"/>
          </a:p>
          <a:p>
            <a:pPr>
              <a:lnSpc>
                <a:spcPct val="100000"/>
              </a:lnSpc>
            </a:pPr>
            <a:r>
              <a:rPr lang="en-US" sz="5400" b="1" dirty="0">
                <a:solidFill>
                  <a:srgbClr val="1D1D1D"/>
                </a:solidFill>
                <a:latin typeface="Liter" pitchFamily="34" charset="0"/>
                <a:ea typeface="Liter" pitchFamily="34" charset="-122"/>
                <a:cs typeface="Liter" pitchFamily="34" charset="-120"/>
              </a:rPr>
              <a:t>Firebase</a:t>
            </a:r>
            <a:endParaRPr lang="en-US" sz="1600" dirty="0"/>
          </a:p>
        </p:txBody>
      </p:sp>
      <p:sp>
        <p:nvSpPr>
          <p:cNvPr id="4" name="Shape 2"/>
          <p:cNvSpPr/>
          <p:nvPr/>
        </p:nvSpPr>
        <p:spPr>
          <a:xfrm>
            <a:off x="381000" y="4805363"/>
            <a:ext cx="1219200" cy="38100"/>
          </a:xfrm>
          <a:custGeom>
            <a:avLst/>
            <a:gdLst/>
            <a:ahLst/>
            <a:cxnLst/>
            <a:rect l="l" t="t" r="r" b="b"/>
            <a:pathLst>
              <a:path w="1219200" h="38100">
                <a:moveTo>
                  <a:pt x="0" y="0"/>
                </a:moveTo>
                <a:lnTo>
                  <a:pt x="1219200" y="0"/>
                </a:lnTo>
                <a:lnTo>
                  <a:pt x="1219200" y="38100"/>
                </a:lnTo>
                <a:lnTo>
                  <a:pt x="0" y="38100"/>
                </a:lnTo>
                <a:lnTo>
                  <a:pt x="0" y="0"/>
                </a:lnTo>
                <a:close/>
              </a:path>
            </a:pathLst>
          </a:custGeom>
          <a:solidFill>
            <a:srgbClr val="0071E3"/>
          </a:solidFill>
          <a:ln/>
        </p:spPr>
      </p:sp>
      <p:sp>
        <p:nvSpPr>
          <p:cNvPr id="5" name="Text 3"/>
          <p:cNvSpPr/>
          <p:nvPr/>
        </p:nvSpPr>
        <p:spPr>
          <a:xfrm>
            <a:off x="381000" y="5148263"/>
            <a:ext cx="7429500" cy="371475"/>
          </a:xfrm>
          <a:prstGeom prst="rect">
            <a:avLst/>
          </a:prstGeom>
          <a:noFill/>
          <a:ln/>
        </p:spPr>
        <p:txBody>
          <a:bodyPr wrap="square" lIns="0" tIns="0" rIns="0" bIns="0" rtlCol="0" anchor="ctr"/>
          <a:lstStyle/>
          <a:p>
            <a:pPr>
              <a:lnSpc>
                <a:spcPct val="140000"/>
              </a:lnSpc>
            </a:pPr>
            <a:r>
              <a:rPr lang="en-US" sz="1800" dirty="0">
                <a:solidFill>
                  <a:srgbClr val="86868B"/>
                </a:solidFill>
                <a:latin typeface="Liter" pitchFamily="34" charset="0"/>
                <a:ea typeface="Liter" pitchFamily="34" charset="-122"/>
                <a:cs typeface="Liter" pitchFamily="34" charset="-120"/>
              </a:rPr>
              <a:t>Stockage cloud et synchronisation des données</a:t>
            </a:r>
            <a:endParaRPr lang="en-US" sz="1600" dirty="0"/>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335868" y="335868"/>
            <a:ext cx="11579041" cy="167934"/>
          </a:xfrm>
          <a:prstGeom prst="rect">
            <a:avLst/>
          </a:prstGeom>
          <a:noFill/>
          <a:ln/>
        </p:spPr>
        <p:txBody>
          <a:bodyPr wrap="square" lIns="0" tIns="0" rIns="0" bIns="0" rtlCol="0" anchor="ctr"/>
          <a:lstStyle/>
          <a:p>
            <a:pPr>
              <a:lnSpc>
                <a:spcPct val="120000"/>
              </a:lnSpc>
            </a:pPr>
            <a:r>
              <a:rPr lang="en-US" sz="926" b="1" kern="0" spc="93" dirty="0">
                <a:solidFill>
                  <a:srgbClr val="86868B"/>
                </a:solidFill>
                <a:latin typeface="Liter" pitchFamily="34" charset="0"/>
                <a:ea typeface="Liter" pitchFamily="34" charset="-122"/>
                <a:cs typeface="Liter" pitchFamily="34" charset="-120"/>
              </a:rPr>
              <a:t>07 / CLOUD</a:t>
            </a:r>
            <a:endParaRPr lang="en-US" sz="1600" dirty="0"/>
          </a:p>
        </p:txBody>
      </p:sp>
      <p:sp>
        <p:nvSpPr>
          <p:cNvPr id="3" name="Text 1"/>
          <p:cNvSpPr/>
          <p:nvPr/>
        </p:nvSpPr>
        <p:spPr>
          <a:xfrm>
            <a:off x="335868" y="604562"/>
            <a:ext cx="11721785" cy="403041"/>
          </a:xfrm>
          <a:prstGeom prst="rect">
            <a:avLst/>
          </a:prstGeom>
          <a:noFill/>
          <a:ln/>
        </p:spPr>
        <p:txBody>
          <a:bodyPr wrap="square" lIns="0" tIns="0" rIns="0" bIns="0" rtlCol="0" anchor="ctr"/>
          <a:lstStyle/>
          <a:p>
            <a:pPr>
              <a:lnSpc>
                <a:spcPct val="80000"/>
              </a:lnSpc>
            </a:pPr>
            <a:r>
              <a:rPr lang="en-US" sz="3174" b="1" dirty="0">
                <a:solidFill>
                  <a:srgbClr val="1D1D1D"/>
                </a:solidFill>
                <a:latin typeface="Liter" pitchFamily="34" charset="0"/>
                <a:ea typeface="Liter" pitchFamily="34" charset="-122"/>
                <a:cs typeface="Liter" pitchFamily="34" charset="-120"/>
              </a:rPr>
              <a:t>Configuration Firebase Realtime Database</a:t>
            </a:r>
            <a:endParaRPr lang="en-US" sz="1600" dirty="0"/>
          </a:p>
        </p:txBody>
      </p:sp>
      <p:sp>
        <p:nvSpPr>
          <p:cNvPr id="4" name="Text 2"/>
          <p:cNvSpPr/>
          <p:nvPr/>
        </p:nvSpPr>
        <p:spPr>
          <a:xfrm>
            <a:off x="335868" y="1209124"/>
            <a:ext cx="5726545" cy="268694"/>
          </a:xfrm>
          <a:prstGeom prst="rect">
            <a:avLst/>
          </a:prstGeom>
          <a:noFill/>
          <a:ln/>
        </p:spPr>
        <p:txBody>
          <a:bodyPr wrap="square" lIns="0" tIns="0" rIns="0" bIns="0" rtlCol="0" anchor="ctr"/>
          <a:lstStyle/>
          <a:p>
            <a:pPr>
              <a:lnSpc>
                <a:spcPct val="110000"/>
              </a:lnSpc>
            </a:pPr>
            <a:r>
              <a:rPr lang="en-US" sz="1587" b="1" dirty="0">
                <a:solidFill>
                  <a:srgbClr val="1D1D1D"/>
                </a:solidFill>
                <a:latin typeface="Liter" pitchFamily="34" charset="0"/>
                <a:ea typeface="Liter" pitchFamily="34" charset="-122"/>
                <a:cs typeface="Liter" pitchFamily="34" charset="-120"/>
              </a:rPr>
              <a:t>Authentification</a:t>
            </a:r>
            <a:endParaRPr lang="en-US" sz="1600" dirty="0"/>
          </a:p>
        </p:txBody>
      </p:sp>
      <p:sp>
        <p:nvSpPr>
          <p:cNvPr id="5" name="Shape 3"/>
          <p:cNvSpPr/>
          <p:nvPr/>
        </p:nvSpPr>
        <p:spPr>
          <a:xfrm>
            <a:off x="339226" y="1615417"/>
            <a:ext cx="5624106" cy="779213"/>
          </a:xfrm>
          <a:custGeom>
            <a:avLst/>
            <a:gdLst/>
            <a:ahLst/>
            <a:cxnLst/>
            <a:rect l="l" t="t" r="r" b="b"/>
            <a:pathLst>
              <a:path w="5624106" h="779213">
                <a:moveTo>
                  <a:pt x="100760" y="0"/>
                </a:moveTo>
                <a:lnTo>
                  <a:pt x="5523346" y="0"/>
                </a:lnTo>
                <a:cubicBezTo>
                  <a:pt x="5578994" y="0"/>
                  <a:pt x="5624106" y="45112"/>
                  <a:pt x="5624106" y="100760"/>
                </a:cubicBezTo>
                <a:lnTo>
                  <a:pt x="5624106" y="678453"/>
                </a:lnTo>
                <a:cubicBezTo>
                  <a:pt x="5624106" y="734101"/>
                  <a:pt x="5578994" y="779213"/>
                  <a:pt x="5523346" y="779213"/>
                </a:cubicBezTo>
                <a:lnTo>
                  <a:pt x="100760" y="779213"/>
                </a:lnTo>
                <a:cubicBezTo>
                  <a:pt x="45112" y="779213"/>
                  <a:pt x="0" y="734101"/>
                  <a:pt x="0" y="678453"/>
                </a:cubicBezTo>
                <a:lnTo>
                  <a:pt x="0" y="100760"/>
                </a:lnTo>
                <a:cubicBezTo>
                  <a:pt x="0" y="45112"/>
                  <a:pt x="45112" y="0"/>
                  <a:pt x="100760" y="0"/>
                </a:cubicBezTo>
                <a:close/>
              </a:path>
            </a:pathLst>
          </a:custGeom>
          <a:solidFill>
            <a:srgbClr val="FFFFFF"/>
          </a:solidFill>
          <a:ln w="10160">
            <a:solidFill>
              <a:srgbClr val="E5E5E5"/>
            </a:solidFill>
            <a:prstDash val="solid"/>
          </a:ln>
        </p:spPr>
      </p:sp>
      <p:sp>
        <p:nvSpPr>
          <p:cNvPr id="6" name="Shape 4"/>
          <p:cNvSpPr/>
          <p:nvPr/>
        </p:nvSpPr>
        <p:spPr>
          <a:xfrm>
            <a:off x="497924" y="1786716"/>
            <a:ext cx="167934" cy="167934"/>
          </a:xfrm>
          <a:custGeom>
            <a:avLst/>
            <a:gdLst/>
            <a:ahLst/>
            <a:cxnLst/>
            <a:rect l="l" t="t" r="r" b="b"/>
            <a:pathLst>
              <a:path w="167934" h="167934">
                <a:moveTo>
                  <a:pt x="110207" y="115455"/>
                </a:moveTo>
                <a:cubicBezTo>
                  <a:pt x="142088" y="115455"/>
                  <a:pt x="167934" y="89608"/>
                  <a:pt x="167934" y="57727"/>
                </a:cubicBezTo>
                <a:cubicBezTo>
                  <a:pt x="167934" y="25846"/>
                  <a:pt x="142088" y="0"/>
                  <a:pt x="110207" y="0"/>
                </a:cubicBezTo>
                <a:cubicBezTo>
                  <a:pt x="78325" y="0"/>
                  <a:pt x="52479" y="25846"/>
                  <a:pt x="52479" y="57727"/>
                </a:cubicBezTo>
                <a:cubicBezTo>
                  <a:pt x="52479" y="63861"/>
                  <a:pt x="53431" y="69798"/>
                  <a:pt x="55202" y="75341"/>
                </a:cubicBezTo>
                <a:lnTo>
                  <a:pt x="2296" y="128246"/>
                </a:lnTo>
                <a:cubicBezTo>
                  <a:pt x="820" y="129722"/>
                  <a:pt x="0" y="131723"/>
                  <a:pt x="0" y="133822"/>
                </a:cubicBezTo>
                <a:lnTo>
                  <a:pt x="0" y="160062"/>
                </a:lnTo>
                <a:cubicBezTo>
                  <a:pt x="0" y="164424"/>
                  <a:pt x="3510" y="167934"/>
                  <a:pt x="7872" y="167934"/>
                </a:cubicBezTo>
                <a:lnTo>
                  <a:pt x="34112" y="167934"/>
                </a:lnTo>
                <a:cubicBezTo>
                  <a:pt x="38474" y="167934"/>
                  <a:pt x="41983" y="164424"/>
                  <a:pt x="41983" y="160062"/>
                </a:cubicBezTo>
                <a:lnTo>
                  <a:pt x="41983" y="146942"/>
                </a:lnTo>
                <a:lnTo>
                  <a:pt x="55103" y="146942"/>
                </a:lnTo>
                <a:cubicBezTo>
                  <a:pt x="59466" y="146942"/>
                  <a:pt x="62975" y="143433"/>
                  <a:pt x="62975" y="139070"/>
                </a:cubicBezTo>
                <a:lnTo>
                  <a:pt x="62975" y="125950"/>
                </a:lnTo>
                <a:lnTo>
                  <a:pt x="76095" y="125950"/>
                </a:lnTo>
                <a:cubicBezTo>
                  <a:pt x="78194" y="125950"/>
                  <a:pt x="80195" y="125130"/>
                  <a:pt x="81671" y="123654"/>
                </a:cubicBezTo>
                <a:lnTo>
                  <a:pt x="92593" y="112732"/>
                </a:lnTo>
                <a:cubicBezTo>
                  <a:pt x="98136" y="114503"/>
                  <a:pt x="104073" y="115455"/>
                  <a:pt x="110207" y="115455"/>
                </a:cubicBezTo>
                <a:close/>
                <a:moveTo>
                  <a:pt x="123326" y="31488"/>
                </a:moveTo>
                <a:cubicBezTo>
                  <a:pt x="130567" y="31488"/>
                  <a:pt x="136446" y="37366"/>
                  <a:pt x="136446" y="44607"/>
                </a:cubicBezTo>
                <a:cubicBezTo>
                  <a:pt x="136446" y="51848"/>
                  <a:pt x="130567" y="57727"/>
                  <a:pt x="123326" y="57727"/>
                </a:cubicBezTo>
                <a:cubicBezTo>
                  <a:pt x="116085" y="57727"/>
                  <a:pt x="110207" y="51848"/>
                  <a:pt x="110207" y="44607"/>
                </a:cubicBezTo>
                <a:cubicBezTo>
                  <a:pt x="110207" y="37366"/>
                  <a:pt x="116085" y="31488"/>
                  <a:pt x="123326" y="31488"/>
                </a:cubicBezTo>
                <a:close/>
              </a:path>
            </a:pathLst>
          </a:custGeom>
          <a:solidFill>
            <a:srgbClr val="0071E3"/>
          </a:solidFill>
          <a:ln/>
        </p:spPr>
      </p:sp>
      <p:sp>
        <p:nvSpPr>
          <p:cNvPr id="7" name="Text 5"/>
          <p:cNvSpPr/>
          <p:nvPr/>
        </p:nvSpPr>
        <p:spPr>
          <a:xfrm>
            <a:off x="787610" y="1753130"/>
            <a:ext cx="705322" cy="235107"/>
          </a:xfrm>
          <a:prstGeom prst="rect">
            <a:avLst/>
          </a:prstGeom>
          <a:noFill/>
          <a:ln/>
        </p:spPr>
        <p:txBody>
          <a:bodyPr wrap="square" lIns="0" tIns="0" rIns="0" bIns="0" rtlCol="0" anchor="ctr"/>
          <a:lstStyle/>
          <a:p>
            <a:pPr>
              <a:lnSpc>
                <a:spcPct val="130000"/>
              </a:lnSpc>
            </a:pPr>
            <a:r>
              <a:rPr lang="en-US" sz="1190" b="1" dirty="0">
                <a:solidFill>
                  <a:srgbClr val="1D1D1D"/>
                </a:solidFill>
                <a:latin typeface="Liter" pitchFamily="34" charset="0"/>
                <a:ea typeface="Liter" pitchFamily="34" charset="-122"/>
                <a:cs typeface="Liter" pitchFamily="34" charset="-120"/>
              </a:rPr>
              <a:t>UserAuth</a:t>
            </a:r>
            <a:endParaRPr lang="en-US" sz="1600" dirty="0"/>
          </a:p>
        </p:txBody>
      </p:sp>
      <p:sp>
        <p:nvSpPr>
          <p:cNvPr id="8" name="Text 6"/>
          <p:cNvSpPr/>
          <p:nvPr/>
        </p:nvSpPr>
        <p:spPr>
          <a:xfrm>
            <a:off x="476932" y="2055411"/>
            <a:ext cx="5415868" cy="201521"/>
          </a:xfrm>
          <a:prstGeom prst="rect">
            <a:avLst/>
          </a:prstGeom>
          <a:noFill/>
          <a:ln/>
        </p:spPr>
        <p:txBody>
          <a:bodyPr wrap="square" lIns="0" tIns="0" rIns="0" bIns="0" rtlCol="0" anchor="ctr"/>
          <a:lstStyle/>
          <a:p>
            <a:pPr>
              <a:lnSpc>
                <a:spcPct val="130000"/>
              </a:lnSpc>
            </a:pPr>
            <a:r>
              <a:rPr lang="en-US" sz="1058" dirty="0">
                <a:solidFill>
                  <a:srgbClr val="86868B"/>
                </a:solidFill>
                <a:latin typeface="Liter" pitchFamily="34" charset="0"/>
                <a:ea typeface="Liter" pitchFamily="34" charset="-122"/>
                <a:cs typeface="Liter" pitchFamily="34" charset="-120"/>
              </a:rPr>
              <a:t>Authentification par email/mot de passe avec Web API Key</a:t>
            </a:r>
            <a:endParaRPr lang="en-US" sz="1600" dirty="0"/>
          </a:p>
        </p:txBody>
      </p:sp>
      <p:sp>
        <p:nvSpPr>
          <p:cNvPr id="9" name="Shape 7"/>
          <p:cNvSpPr/>
          <p:nvPr/>
        </p:nvSpPr>
        <p:spPr>
          <a:xfrm>
            <a:off x="339226" y="2502113"/>
            <a:ext cx="5624106" cy="779213"/>
          </a:xfrm>
          <a:custGeom>
            <a:avLst/>
            <a:gdLst/>
            <a:ahLst/>
            <a:cxnLst/>
            <a:rect l="l" t="t" r="r" b="b"/>
            <a:pathLst>
              <a:path w="5624106" h="779213">
                <a:moveTo>
                  <a:pt x="100760" y="0"/>
                </a:moveTo>
                <a:lnTo>
                  <a:pt x="5523346" y="0"/>
                </a:lnTo>
                <a:cubicBezTo>
                  <a:pt x="5578994" y="0"/>
                  <a:pt x="5624106" y="45112"/>
                  <a:pt x="5624106" y="100760"/>
                </a:cubicBezTo>
                <a:lnTo>
                  <a:pt x="5624106" y="678453"/>
                </a:lnTo>
                <a:cubicBezTo>
                  <a:pt x="5624106" y="734101"/>
                  <a:pt x="5578994" y="779213"/>
                  <a:pt x="5523346" y="779213"/>
                </a:cubicBezTo>
                <a:lnTo>
                  <a:pt x="100760" y="779213"/>
                </a:lnTo>
                <a:cubicBezTo>
                  <a:pt x="45112" y="779213"/>
                  <a:pt x="0" y="734101"/>
                  <a:pt x="0" y="678453"/>
                </a:cubicBezTo>
                <a:lnTo>
                  <a:pt x="0" y="100760"/>
                </a:lnTo>
                <a:cubicBezTo>
                  <a:pt x="0" y="45112"/>
                  <a:pt x="45112" y="0"/>
                  <a:pt x="100760" y="0"/>
                </a:cubicBezTo>
                <a:close/>
              </a:path>
            </a:pathLst>
          </a:custGeom>
          <a:solidFill>
            <a:srgbClr val="FFFFFF"/>
          </a:solidFill>
          <a:ln w="10160">
            <a:solidFill>
              <a:srgbClr val="E5E5E5"/>
            </a:solidFill>
            <a:prstDash val="solid"/>
          </a:ln>
        </p:spPr>
      </p:sp>
      <p:sp>
        <p:nvSpPr>
          <p:cNvPr id="10" name="Shape 8"/>
          <p:cNvSpPr/>
          <p:nvPr/>
        </p:nvSpPr>
        <p:spPr>
          <a:xfrm>
            <a:off x="497924" y="2673404"/>
            <a:ext cx="167934" cy="167934"/>
          </a:xfrm>
          <a:custGeom>
            <a:avLst/>
            <a:gdLst/>
            <a:ahLst/>
            <a:cxnLst/>
            <a:rect l="l" t="t" r="r" b="b"/>
            <a:pathLst>
              <a:path w="167934" h="167934">
                <a:moveTo>
                  <a:pt x="83967" y="0"/>
                </a:moveTo>
                <a:cubicBezTo>
                  <a:pt x="85476" y="0"/>
                  <a:pt x="86985" y="328"/>
                  <a:pt x="88362" y="951"/>
                </a:cubicBezTo>
                <a:lnTo>
                  <a:pt x="150157" y="27158"/>
                </a:lnTo>
                <a:cubicBezTo>
                  <a:pt x="157372" y="30208"/>
                  <a:pt x="162752" y="37326"/>
                  <a:pt x="162719" y="45919"/>
                </a:cubicBezTo>
                <a:cubicBezTo>
                  <a:pt x="162555" y="78457"/>
                  <a:pt x="149173" y="137988"/>
                  <a:pt x="92659" y="165048"/>
                </a:cubicBezTo>
                <a:cubicBezTo>
                  <a:pt x="87181" y="167671"/>
                  <a:pt x="80818" y="167671"/>
                  <a:pt x="75341" y="165048"/>
                </a:cubicBezTo>
                <a:cubicBezTo>
                  <a:pt x="18794" y="137988"/>
                  <a:pt x="5445" y="78457"/>
                  <a:pt x="5281" y="45919"/>
                </a:cubicBezTo>
                <a:cubicBezTo>
                  <a:pt x="5248" y="37326"/>
                  <a:pt x="10627" y="30208"/>
                  <a:pt x="17843" y="27158"/>
                </a:cubicBezTo>
                <a:lnTo>
                  <a:pt x="79605" y="951"/>
                </a:lnTo>
                <a:cubicBezTo>
                  <a:pt x="80982" y="328"/>
                  <a:pt x="82458" y="0"/>
                  <a:pt x="83967" y="0"/>
                </a:cubicBezTo>
                <a:close/>
                <a:moveTo>
                  <a:pt x="83967" y="21910"/>
                </a:moveTo>
                <a:lnTo>
                  <a:pt x="83967" y="145925"/>
                </a:lnTo>
                <a:cubicBezTo>
                  <a:pt x="129230" y="124015"/>
                  <a:pt x="141399" y="75472"/>
                  <a:pt x="141694" y="46411"/>
                </a:cubicBezTo>
                <a:lnTo>
                  <a:pt x="83967" y="21943"/>
                </a:lnTo>
                <a:lnTo>
                  <a:pt x="83967" y="21943"/>
                </a:lnTo>
                <a:close/>
              </a:path>
            </a:pathLst>
          </a:custGeom>
          <a:solidFill>
            <a:srgbClr val="0071E3"/>
          </a:solidFill>
          <a:ln/>
        </p:spPr>
      </p:sp>
      <p:sp>
        <p:nvSpPr>
          <p:cNvPr id="11" name="Text 9"/>
          <p:cNvSpPr/>
          <p:nvPr/>
        </p:nvSpPr>
        <p:spPr>
          <a:xfrm>
            <a:off x="787610" y="2639817"/>
            <a:ext cx="1242711" cy="235107"/>
          </a:xfrm>
          <a:prstGeom prst="rect">
            <a:avLst/>
          </a:prstGeom>
          <a:noFill/>
          <a:ln/>
        </p:spPr>
        <p:txBody>
          <a:bodyPr wrap="square" lIns="0" tIns="0" rIns="0" bIns="0" rtlCol="0" anchor="ctr"/>
          <a:lstStyle/>
          <a:p>
            <a:pPr>
              <a:lnSpc>
                <a:spcPct val="130000"/>
              </a:lnSpc>
            </a:pPr>
            <a:r>
              <a:rPr lang="en-US" sz="1190" b="1" dirty="0">
                <a:solidFill>
                  <a:srgbClr val="1D1D1D"/>
                </a:solidFill>
                <a:latin typeface="Liter" pitchFamily="34" charset="0"/>
                <a:ea typeface="Liter" pitchFamily="34" charset="-122"/>
                <a:cs typeface="Liter" pitchFamily="34" charset="-120"/>
              </a:rPr>
              <a:t>WiFiClientSecure</a:t>
            </a:r>
            <a:endParaRPr lang="en-US" sz="1600" dirty="0"/>
          </a:p>
        </p:txBody>
      </p:sp>
      <p:sp>
        <p:nvSpPr>
          <p:cNvPr id="12" name="Text 10"/>
          <p:cNvSpPr/>
          <p:nvPr/>
        </p:nvSpPr>
        <p:spPr>
          <a:xfrm>
            <a:off x="476932" y="2942098"/>
            <a:ext cx="5415868" cy="201521"/>
          </a:xfrm>
          <a:prstGeom prst="rect">
            <a:avLst/>
          </a:prstGeom>
          <a:noFill/>
          <a:ln/>
        </p:spPr>
        <p:txBody>
          <a:bodyPr wrap="square" lIns="0" tIns="0" rIns="0" bIns="0" rtlCol="0" anchor="ctr"/>
          <a:lstStyle/>
          <a:p>
            <a:pPr>
              <a:lnSpc>
                <a:spcPct val="130000"/>
              </a:lnSpc>
            </a:pPr>
            <a:r>
              <a:rPr lang="en-US" sz="1058" dirty="0">
                <a:solidFill>
                  <a:srgbClr val="86868B"/>
                </a:solidFill>
                <a:latin typeface="Liter" pitchFamily="34" charset="0"/>
                <a:ea typeface="Liter" pitchFamily="34" charset="-122"/>
                <a:cs typeface="Liter" pitchFamily="34" charset="-120"/>
              </a:rPr>
              <a:t>Connexion HTTPS sécurisée avec setInsecure() pour tests</a:t>
            </a:r>
            <a:endParaRPr lang="en-US" sz="1600" dirty="0"/>
          </a:p>
        </p:txBody>
      </p:sp>
      <p:sp>
        <p:nvSpPr>
          <p:cNvPr id="13" name="Shape 11"/>
          <p:cNvSpPr/>
          <p:nvPr/>
        </p:nvSpPr>
        <p:spPr>
          <a:xfrm>
            <a:off x="339226" y="3388801"/>
            <a:ext cx="5624106" cy="779213"/>
          </a:xfrm>
          <a:custGeom>
            <a:avLst/>
            <a:gdLst/>
            <a:ahLst/>
            <a:cxnLst/>
            <a:rect l="l" t="t" r="r" b="b"/>
            <a:pathLst>
              <a:path w="5624106" h="779213">
                <a:moveTo>
                  <a:pt x="100760" y="0"/>
                </a:moveTo>
                <a:lnTo>
                  <a:pt x="5523346" y="0"/>
                </a:lnTo>
                <a:cubicBezTo>
                  <a:pt x="5578994" y="0"/>
                  <a:pt x="5624106" y="45112"/>
                  <a:pt x="5624106" y="100760"/>
                </a:cubicBezTo>
                <a:lnTo>
                  <a:pt x="5624106" y="678453"/>
                </a:lnTo>
                <a:cubicBezTo>
                  <a:pt x="5624106" y="734101"/>
                  <a:pt x="5578994" y="779213"/>
                  <a:pt x="5523346" y="779213"/>
                </a:cubicBezTo>
                <a:lnTo>
                  <a:pt x="100760" y="779213"/>
                </a:lnTo>
                <a:cubicBezTo>
                  <a:pt x="45112" y="779213"/>
                  <a:pt x="0" y="734101"/>
                  <a:pt x="0" y="678453"/>
                </a:cubicBezTo>
                <a:lnTo>
                  <a:pt x="0" y="100760"/>
                </a:lnTo>
                <a:cubicBezTo>
                  <a:pt x="0" y="45112"/>
                  <a:pt x="45112" y="0"/>
                  <a:pt x="100760" y="0"/>
                </a:cubicBezTo>
                <a:close/>
              </a:path>
            </a:pathLst>
          </a:custGeom>
          <a:solidFill>
            <a:srgbClr val="FFFFFF"/>
          </a:solidFill>
          <a:ln w="10160">
            <a:solidFill>
              <a:srgbClr val="E5E5E5"/>
            </a:solidFill>
            <a:prstDash val="solid"/>
          </a:ln>
        </p:spPr>
      </p:sp>
      <p:sp>
        <p:nvSpPr>
          <p:cNvPr id="14" name="Shape 12"/>
          <p:cNvSpPr/>
          <p:nvPr/>
        </p:nvSpPr>
        <p:spPr>
          <a:xfrm>
            <a:off x="508420" y="3560092"/>
            <a:ext cx="146942" cy="167934"/>
          </a:xfrm>
          <a:custGeom>
            <a:avLst/>
            <a:gdLst/>
            <a:ahLst/>
            <a:cxnLst/>
            <a:rect l="l" t="t" r="r" b="b"/>
            <a:pathLst>
              <a:path w="146942" h="167934">
                <a:moveTo>
                  <a:pt x="146942" y="67502"/>
                </a:moveTo>
                <a:cubicBezTo>
                  <a:pt x="142088" y="70716"/>
                  <a:pt x="136512" y="73307"/>
                  <a:pt x="130706" y="75373"/>
                </a:cubicBezTo>
                <a:cubicBezTo>
                  <a:pt x="115291" y="80884"/>
                  <a:pt x="95053" y="83967"/>
                  <a:pt x="73471" y="83967"/>
                </a:cubicBezTo>
                <a:cubicBezTo>
                  <a:pt x="51889" y="83967"/>
                  <a:pt x="31619" y="80851"/>
                  <a:pt x="16236" y="75373"/>
                </a:cubicBezTo>
                <a:cubicBezTo>
                  <a:pt x="10463" y="73307"/>
                  <a:pt x="4854" y="70716"/>
                  <a:pt x="0" y="67502"/>
                </a:cubicBezTo>
                <a:lnTo>
                  <a:pt x="0" y="94463"/>
                </a:lnTo>
                <a:cubicBezTo>
                  <a:pt x="0" y="108960"/>
                  <a:pt x="32898" y="120702"/>
                  <a:pt x="73471" y="120702"/>
                </a:cubicBezTo>
                <a:cubicBezTo>
                  <a:pt x="114044" y="120702"/>
                  <a:pt x="146942" y="108960"/>
                  <a:pt x="146942" y="94463"/>
                </a:cubicBezTo>
                <a:lnTo>
                  <a:pt x="146942" y="67502"/>
                </a:lnTo>
                <a:close/>
                <a:moveTo>
                  <a:pt x="146942" y="41983"/>
                </a:moveTo>
                <a:lnTo>
                  <a:pt x="146942" y="26240"/>
                </a:lnTo>
                <a:cubicBezTo>
                  <a:pt x="146942" y="11742"/>
                  <a:pt x="114044" y="0"/>
                  <a:pt x="73471" y="0"/>
                </a:cubicBezTo>
                <a:cubicBezTo>
                  <a:pt x="32898" y="0"/>
                  <a:pt x="0" y="11742"/>
                  <a:pt x="0" y="26240"/>
                </a:cubicBezTo>
                <a:lnTo>
                  <a:pt x="0" y="41983"/>
                </a:lnTo>
                <a:cubicBezTo>
                  <a:pt x="0" y="56481"/>
                  <a:pt x="32898" y="68223"/>
                  <a:pt x="73471" y="68223"/>
                </a:cubicBezTo>
                <a:cubicBezTo>
                  <a:pt x="114044" y="68223"/>
                  <a:pt x="146942" y="56481"/>
                  <a:pt x="146942" y="41983"/>
                </a:cubicBezTo>
                <a:close/>
                <a:moveTo>
                  <a:pt x="130706" y="127853"/>
                </a:moveTo>
                <a:cubicBezTo>
                  <a:pt x="115323" y="133330"/>
                  <a:pt x="95086" y="136446"/>
                  <a:pt x="73471" y="136446"/>
                </a:cubicBezTo>
                <a:cubicBezTo>
                  <a:pt x="51856" y="136446"/>
                  <a:pt x="31619" y="133330"/>
                  <a:pt x="16236" y="127853"/>
                </a:cubicBezTo>
                <a:cubicBezTo>
                  <a:pt x="10463" y="125786"/>
                  <a:pt x="4854" y="123195"/>
                  <a:pt x="0" y="119981"/>
                </a:cubicBezTo>
                <a:lnTo>
                  <a:pt x="0" y="141694"/>
                </a:lnTo>
                <a:cubicBezTo>
                  <a:pt x="0" y="156192"/>
                  <a:pt x="32898" y="167934"/>
                  <a:pt x="73471" y="167934"/>
                </a:cubicBezTo>
                <a:cubicBezTo>
                  <a:pt x="114044" y="167934"/>
                  <a:pt x="146942" y="156192"/>
                  <a:pt x="146942" y="141694"/>
                </a:cubicBezTo>
                <a:lnTo>
                  <a:pt x="146942" y="119981"/>
                </a:lnTo>
                <a:cubicBezTo>
                  <a:pt x="142088" y="123195"/>
                  <a:pt x="136512" y="125786"/>
                  <a:pt x="130706" y="127853"/>
                </a:cubicBezTo>
                <a:close/>
              </a:path>
            </a:pathLst>
          </a:custGeom>
          <a:solidFill>
            <a:srgbClr val="0071E3"/>
          </a:solidFill>
          <a:ln/>
        </p:spPr>
      </p:sp>
      <p:sp>
        <p:nvSpPr>
          <p:cNvPr id="15" name="Text 13"/>
          <p:cNvSpPr/>
          <p:nvPr/>
        </p:nvSpPr>
        <p:spPr>
          <a:xfrm>
            <a:off x="787610" y="3526505"/>
            <a:ext cx="1293091" cy="235107"/>
          </a:xfrm>
          <a:prstGeom prst="rect">
            <a:avLst/>
          </a:prstGeom>
          <a:noFill/>
          <a:ln/>
        </p:spPr>
        <p:txBody>
          <a:bodyPr wrap="square" lIns="0" tIns="0" rIns="0" bIns="0" rtlCol="0" anchor="ctr"/>
          <a:lstStyle/>
          <a:p>
            <a:pPr>
              <a:lnSpc>
                <a:spcPct val="130000"/>
              </a:lnSpc>
            </a:pPr>
            <a:r>
              <a:rPr lang="en-US" sz="1190" b="1" dirty="0">
                <a:solidFill>
                  <a:srgbClr val="1D1D1D"/>
                </a:solidFill>
                <a:latin typeface="Liter" pitchFamily="34" charset="0"/>
                <a:ea typeface="Liter" pitchFamily="34" charset="-122"/>
                <a:cs typeface="Liter" pitchFamily="34" charset="-120"/>
              </a:rPr>
              <a:t>RealtimeDatabase</a:t>
            </a:r>
            <a:endParaRPr lang="en-US" sz="1600" dirty="0"/>
          </a:p>
        </p:txBody>
      </p:sp>
      <p:sp>
        <p:nvSpPr>
          <p:cNvPr id="16" name="Text 14"/>
          <p:cNvSpPr/>
          <p:nvPr/>
        </p:nvSpPr>
        <p:spPr>
          <a:xfrm>
            <a:off x="476932" y="3828786"/>
            <a:ext cx="5415868" cy="201521"/>
          </a:xfrm>
          <a:prstGeom prst="rect">
            <a:avLst/>
          </a:prstGeom>
          <a:noFill/>
          <a:ln/>
        </p:spPr>
        <p:txBody>
          <a:bodyPr wrap="square" lIns="0" tIns="0" rIns="0" bIns="0" rtlCol="0" anchor="ctr"/>
          <a:lstStyle/>
          <a:p>
            <a:pPr>
              <a:lnSpc>
                <a:spcPct val="130000"/>
              </a:lnSpc>
            </a:pPr>
            <a:r>
              <a:rPr lang="en-US" sz="1058" dirty="0">
                <a:solidFill>
                  <a:srgbClr val="86868B"/>
                </a:solidFill>
                <a:latin typeface="Liter" pitchFamily="34" charset="0"/>
                <a:ea typeface="Liter" pitchFamily="34" charset="-122"/>
                <a:cs typeface="Liter" pitchFamily="34" charset="-120"/>
              </a:rPr>
              <a:t>Accès à la base de données temps réel Firebase</a:t>
            </a:r>
            <a:endParaRPr lang="en-US" sz="1600" dirty="0"/>
          </a:p>
        </p:txBody>
      </p:sp>
      <p:sp>
        <p:nvSpPr>
          <p:cNvPr id="17" name="Text 15"/>
          <p:cNvSpPr/>
          <p:nvPr/>
        </p:nvSpPr>
        <p:spPr>
          <a:xfrm>
            <a:off x="335868" y="4339312"/>
            <a:ext cx="5726545" cy="268694"/>
          </a:xfrm>
          <a:prstGeom prst="rect">
            <a:avLst/>
          </a:prstGeom>
          <a:noFill/>
          <a:ln/>
        </p:spPr>
        <p:txBody>
          <a:bodyPr wrap="square" lIns="0" tIns="0" rIns="0" bIns="0" rtlCol="0" anchor="ctr"/>
          <a:lstStyle/>
          <a:p>
            <a:pPr>
              <a:lnSpc>
                <a:spcPct val="110000"/>
              </a:lnSpc>
            </a:pPr>
            <a:r>
              <a:rPr lang="en-US" sz="1587" b="1" dirty="0">
                <a:solidFill>
                  <a:srgbClr val="1D1D1D"/>
                </a:solidFill>
                <a:latin typeface="Liter" pitchFamily="34" charset="0"/>
                <a:ea typeface="Liter" pitchFamily="34" charset="-122"/>
                <a:cs typeface="Liter" pitchFamily="34" charset="-120"/>
              </a:rPr>
              <a:t>Configuration SSL</a:t>
            </a:r>
            <a:endParaRPr lang="en-US" sz="1600" dirty="0"/>
          </a:p>
        </p:txBody>
      </p:sp>
      <p:sp>
        <p:nvSpPr>
          <p:cNvPr id="18" name="Shape 16"/>
          <p:cNvSpPr/>
          <p:nvPr/>
        </p:nvSpPr>
        <p:spPr>
          <a:xfrm>
            <a:off x="335868" y="4742246"/>
            <a:ext cx="5625785" cy="906843"/>
          </a:xfrm>
          <a:custGeom>
            <a:avLst/>
            <a:gdLst/>
            <a:ahLst/>
            <a:cxnLst/>
            <a:rect l="l" t="t" r="r" b="b"/>
            <a:pathLst>
              <a:path w="5625785" h="906843">
                <a:moveTo>
                  <a:pt x="134349" y="0"/>
                </a:moveTo>
                <a:lnTo>
                  <a:pt x="5491436" y="0"/>
                </a:lnTo>
                <a:cubicBezTo>
                  <a:pt x="5565635" y="0"/>
                  <a:pt x="5625785" y="60150"/>
                  <a:pt x="5625785" y="134349"/>
                </a:cubicBezTo>
                <a:lnTo>
                  <a:pt x="5625785" y="772494"/>
                </a:lnTo>
                <a:cubicBezTo>
                  <a:pt x="5625785" y="846693"/>
                  <a:pt x="5565635" y="906843"/>
                  <a:pt x="5491436" y="906843"/>
                </a:cubicBezTo>
                <a:lnTo>
                  <a:pt x="134349" y="906843"/>
                </a:lnTo>
                <a:cubicBezTo>
                  <a:pt x="60150" y="906843"/>
                  <a:pt x="0" y="846693"/>
                  <a:pt x="0" y="772494"/>
                </a:cubicBezTo>
                <a:lnTo>
                  <a:pt x="0" y="134349"/>
                </a:lnTo>
                <a:cubicBezTo>
                  <a:pt x="0" y="60150"/>
                  <a:pt x="60150" y="0"/>
                  <a:pt x="134349" y="0"/>
                </a:cubicBezTo>
                <a:close/>
              </a:path>
            </a:pathLst>
          </a:custGeom>
          <a:solidFill>
            <a:srgbClr val="1D1D1D"/>
          </a:solidFill>
          <a:ln/>
        </p:spPr>
      </p:sp>
      <p:sp>
        <p:nvSpPr>
          <p:cNvPr id="19" name="Text 17"/>
          <p:cNvSpPr/>
          <p:nvPr/>
        </p:nvSpPr>
        <p:spPr>
          <a:xfrm>
            <a:off x="503802" y="4937051"/>
            <a:ext cx="2514810" cy="516397"/>
          </a:xfrm>
          <a:prstGeom prst="rect">
            <a:avLst/>
          </a:prstGeom>
          <a:noFill/>
          <a:ln/>
        </p:spPr>
        <p:txBody>
          <a:bodyPr wrap="square" lIns="0" tIns="0" rIns="0" bIns="0" rtlCol="0" anchor="ctr"/>
          <a:lstStyle/>
          <a:p>
            <a:pPr>
              <a:lnSpc>
                <a:spcPct val="140000"/>
              </a:lnSpc>
            </a:pPr>
            <a:r>
              <a:rPr lang="en-US" sz="926" dirty="0">
                <a:solidFill>
                  <a:srgbClr val="FAFAFA"/>
                </a:solidFill>
                <a:latin typeface="MiSans" pitchFamily="34" charset="0"/>
                <a:ea typeface="MiSans" pitchFamily="34" charset="-122"/>
                <a:cs typeface="MiSans" pitchFamily="34" charset="-120"/>
              </a:rPr>
              <a:t>ssl_client.setInsecure(); ssl_client.setConnectionTimeout(1000); ssl_client.setHandshakeTimeout(5);</a:t>
            </a:r>
            <a:endParaRPr lang="en-US" sz="1600" dirty="0"/>
          </a:p>
        </p:txBody>
      </p:sp>
      <p:sp>
        <p:nvSpPr>
          <p:cNvPr id="20" name="Text 18"/>
          <p:cNvSpPr/>
          <p:nvPr/>
        </p:nvSpPr>
        <p:spPr>
          <a:xfrm>
            <a:off x="335868" y="5751949"/>
            <a:ext cx="5692959" cy="201521"/>
          </a:xfrm>
          <a:prstGeom prst="rect">
            <a:avLst/>
          </a:prstGeom>
          <a:noFill/>
          <a:ln/>
        </p:spPr>
        <p:txBody>
          <a:bodyPr wrap="square" lIns="0" tIns="0" rIns="0" bIns="0" rtlCol="0" anchor="ctr"/>
          <a:lstStyle/>
          <a:p>
            <a:pPr>
              <a:lnSpc>
                <a:spcPct val="130000"/>
              </a:lnSpc>
            </a:pPr>
            <a:r>
              <a:rPr lang="en-US" sz="1058" dirty="0">
                <a:solidFill>
                  <a:srgbClr val="86868B"/>
                </a:solidFill>
                <a:latin typeface="Liter" pitchFamily="34" charset="0"/>
                <a:ea typeface="Liter" pitchFamily="34" charset="-122"/>
                <a:cs typeface="Liter" pitchFamily="34" charset="-120"/>
              </a:rPr>
              <a:t>Optimisation pour ESP32 avec mémoire limitée</a:t>
            </a:r>
            <a:endParaRPr lang="en-US" sz="1600" dirty="0"/>
          </a:p>
        </p:txBody>
      </p:sp>
      <p:sp>
        <p:nvSpPr>
          <p:cNvPr id="21" name="Text 19"/>
          <p:cNvSpPr/>
          <p:nvPr/>
        </p:nvSpPr>
        <p:spPr>
          <a:xfrm>
            <a:off x="6232132" y="1209124"/>
            <a:ext cx="5726545" cy="268694"/>
          </a:xfrm>
          <a:prstGeom prst="rect">
            <a:avLst/>
          </a:prstGeom>
          <a:noFill/>
          <a:ln/>
        </p:spPr>
        <p:txBody>
          <a:bodyPr wrap="square" lIns="0" tIns="0" rIns="0" bIns="0" rtlCol="0" anchor="ctr"/>
          <a:lstStyle/>
          <a:p>
            <a:pPr>
              <a:lnSpc>
                <a:spcPct val="110000"/>
              </a:lnSpc>
            </a:pPr>
            <a:r>
              <a:rPr lang="en-US" sz="1587" b="1" dirty="0">
                <a:solidFill>
                  <a:srgbClr val="1D1D1D"/>
                </a:solidFill>
                <a:latin typeface="Liter" pitchFamily="34" charset="0"/>
                <a:ea typeface="Liter" pitchFamily="34" charset="-122"/>
                <a:cs typeface="Liter" pitchFamily="34" charset="-120"/>
              </a:rPr>
              <a:t>Structure des données</a:t>
            </a:r>
            <a:endParaRPr lang="en-US" sz="1600" dirty="0"/>
          </a:p>
        </p:txBody>
      </p:sp>
      <p:sp>
        <p:nvSpPr>
          <p:cNvPr id="22" name="Shape 20"/>
          <p:cNvSpPr/>
          <p:nvPr/>
        </p:nvSpPr>
        <p:spPr>
          <a:xfrm>
            <a:off x="6232132" y="1612059"/>
            <a:ext cx="5625785" cy="2821289"/>
          </a:xfrm>
          <a:custGeom>
            <a:avLst/>
            <a:gdLst/>
            <a:ahLst/>
            <a:cxnLst/>
            <a:rect l="l" t="t" r="r" b="b"/>
            <a:pathLst>
              <a:path w="5625785" h="2821289">
                <a:moveTo>
                  <a:pt x="134350" y="0"/>
                </a:moveTo>
                <a:lnTo>
                  <a:pt x="5491435" y="0"/>
                </a:lnTo>
                <a:cubicBezTo>
                  <a:pt x="5565635" y="0"/>
                  <a:pt x="5625785" y="60150"/>
                  <a:pt x="5625785" y="134350"/>
                </a:cubicBezTo>
                <a:lnTo>
                  <a:pt x="5625785" y="2686939"/>
                </a:lnTo>
                <a:cubicBezTo>
                  <a:pt x="5625785" y="2761139"/>
                  <a:pt x="5565635" y="2821289"/>
                  <a:pt x="5491435" y="2821289"/>
                </a:cubicBezTo>
                <a:lnTo>
                  <a:pt x="134350" y="2821289"/>
                </a:lnTo>
                <a:cubicBezTo>
                  <a:pt x="60150" y="2821289"/>
                  <a:pt x="0" y="2761139"/>
                  <a:pt x="0" y="2686939"/>
                </a:cubicBezTo>
                <a:lnTo>
                  <a:pt x="0" y="134350"/>
                </a:lnTo>
                <a:cubicBezTo>
                  <a:pt x="0" y="60200"/>
                  <a:pt x="60200" y="0"/>
                  <a:pt x="134350" y="0"/>
                </a:cubicBezTo>
                <a:close/>
              </a:path>
            </a:pathLst>
          </a:custGeom>
          <a:solidFill>
            <a:srgbClr val="1D1D1D"/>
          </a:solidFill>
          <a:ln/>
        </p:spPr>
      </p:sp>
      <p:sp>
        <p:nvSpPr>
          <p:cNvPr id="24" name="Text 22"/>
          <p:cNvSpPr/>
          <p:nvPr/>
        </p:nvSpPr>
        <p:spPr>
          <a:xfrm>
            <a:off x="6232132" y="4599183"/>
            <a:ext cx="5726545" cy="268694"/>
          </a:xfrm>
          <a:prstGeom prst="rect">
            <a:avLst/>
          </a:prstGeom>
          <a:noFill/>
          <a:ln/>
        </p:spPr>
        <p:txBody>
          <a:bodyPr wrap="square" lIns="0" tIns="0" rIns="0" bIns="0" rtlCol="0" anchor="ctr"/>
          <a:lstStyle/>
          <a:p>
            <a:pPr>
              <a:lnSpc>
                <a:spcPct val="110000"/>
              </a:lnSpc>
            </a:pPr>
            <a:r>
              <a:rPr lang="en-US" sz="1587" b="1" dirty="0">
                <a:solidFill>
                  <a:srgbClr val="1D1D1D"/>
                </a:solidFill>
                <a:latin typeface="Liter" pitchFamily="34" charset="0"/>
                <a:ea typeface="Liter" pitchFamily="34" charset="-122"/>
                <a:cs typeface="Liter" pitchFamily="34" charset="-120"/>
              </a:rPr>
              <a:t>Fréquence de mise à jour</a:t>
            </a:r>
            <a:endParaRPr lang="en-US" sz="1600" dirty="0"/>
          </a:p>
        </p:txBody>
      </p:sp>
      <p:sp>
        <p:nvSpPr>
          <p:cNvPr id="25" name="Shape 23"/>
          <p:cNvSpPr/>
          <p:nvPr/>
        </p:nvSpPr>
        <p:spPr>
          <a:xfrm>
            <a:off x="6235490" y="5005484"/>
            <a:ext cx="5624106" cy="1215841"/>
          </a:xfrm>
          <a:custGeom>
            <a:avLst/>
            <a:gdLst/>
            <a:ahLst/>
            <a:cxnLst/>
            <a:rect l="l" t="t" r="r" b="b"/>
            <a:pathLst>
              <a:path w="5624106" h="1215841">
                <a:moveTo>
                  <a:pt x="134350" y="0"/>
                </a:moveTo>
                <a:lnTo>
                  <a:pt x="5489755" y="0"/>
                </a:lnTo>
                <a:cubicBezTo>
                  <a:pt x="5563955" y="0"/>
                  <a:pt x="5624106" y="60151"/>
                  <a:pt x="5624106" y="134350"/>
                </a:cubicBezTo>
                <a:lnTo>
                  <a:pt x="5624106" y="1081491"/>
                </a:lnTo>
                <a:cubicBezTo>
                  <a:pt x="5624106" y="1155691"/>
                  <a:pt x="5563955" y="1215841"/>
                  <a:pt x="5489755" y="1215841"/>
                </a:cubicBezTo>
                <a:lnTo>
                  <a:pt x="134350" y="1215841"/>
                </a:lnTo>
                <a:cubicBezTo>
                  <a:pt x="60200" y="1215841"/>
                  <a:pt x="0" y="1155641"/>
                  <a:pt x="0" y="1081491"/>
                </a:cubicBezTo>
                <a:lnTo>
                  <a:pt x="0" y="134350"/>
                </a:lnTo>
                <a:cubicBezTo>
                  <a:pt x="0" y="60200"/>
                  <a:pt x="60200" y="0"/>
                  <a:pt x="134350" y="0"/>
                </a:cubicBezTo>
                <a:close/>
              </a:path>
            </a:pathLst>
          </a:custGeom>
          <a:solidFill>
            <a:srgbClr val="FFFFFF"/>
          </a:solidFill>
          <a:ln w="10160">
            <a:solidFill>
              <a:srgbClr val="E5E5E5"/>
            </a:solidFill>
            <a:prstDash val="solid"/>
          </a:ln>
        </p:spPr>
      </p:sp>
      <p:sp>
        <p:nvSpPr>
          <p:cNvPr id="26" name="Text 24"/>
          <p:cNvSpPr/>
          <p:nvPr/>
        </p:nvSpPr>
        <p:spPr>
          <a:xfrm>
            <a:off x="6406783" y="5210362"/>
            <a:ext cx="1192331" cy="235107"/>
          </a:xfrm>
          <a:prstGeom prst="rect">
            <a:avLst/>
          </a:prstGeom>
          <a:noFill/>
          <a:ln/>
        </p:spPr>
        <p:txBody>
          <a:bodyPr wrap="square" lIns="0" tIns="0" rIns="0" bIns="0" rtlCol="0" anchor="ctr"/>
          <a:lstStyle/>
          <a:p>
            <a:pPr>
              <a:lnSpc>
                <a:spcPct val="130000"/>
              </a:lnSpc>
            </a:pPr>
            <a:r>
              <a:rPr lang="en-US" sz="1190" dirty="0">
                <a:solidFill>
                  <a:srgbClr val="86868B"/>
                </a:solidFill>
                <a:latin typeface="Liter" pitchFamily="34" charset="0"/>
                <a:ea typeface="Liter" pitchFamily="34" charset="-122"/>
                <a:cs typeface="Liter" pitchFamily="34" charset="-120"/>
              </a:rPr>
              <a:t>Intervalle d'envoi</a:t>
            </a:r>
            <a:endParaRPr lang="en-US" sz="1600" dirty="0"/>
          </a:p>
        </p:txBody>
      </p:sp>
      <p:sp>
        <p:nvSpPr>
          <p:cNvPr id="27" name="Text 25"/>
          <p:cNvSpPr/>
          <p:nvPr/>
        </p:nvSpPr>
        <p:spPr>
          <a:xfrm>
            <a:off x="10881066" y="5176775"/>
            <a:ext cx="932033" cy="302281"/>
          </a:xfrm>
          <a:prstGeom prst="rect">
            <a:avLst/>
          </a:prstGeom>
          <a:noFill/>
          <a:ln/>
        </p:spPr>
        <p:txBody>
          <a:bodyPr wrap="square" lIns="0" tIns="0" rIns="0" bIns="0" rtlCol="0" anchor="ctr"/>
          <a:lstStyle/>
          <a:p>
            <a:pPr>
              <a:lnSpc>
                <a:spcPct val="100000"/>
              </a:lnSpc>
            </a:pPr>
            <a:r>
              <a:rPr lang="en-US" sz="1983" b="1" dirty="0">
                <a:solidFill>
                  <a:srgbClr val="0071E3"/>
                </a:solidFill>
                <a:latin typeface="Liter" pitchFamily="34" charset="0"/>
                <a:ea typeface="Liter" pitchFamily="34" charset="-122"/>
                <a:cs typeface="Liter" pitchFamily="34" charset="-120"/>
              </a:rPr>
              <a:t>500ms</a:t>
            </a:r>
            <a:endParaRPr lang="en-US" sz="1600" dirty="0"/>
          </a:p>
        </p:txBody>
      </p:sp>
      <p:sp>
        <p:nvSpPr>
          <p:cNvPr id="28" name="Shape 26"/>
          <p:cNvSpPr/>
          <p:nvPr/>
        </p:nvSpPr>
        <p:spPr>
          <a:xfrm>
            <a:off x="6406783" y="5613403"/>
            <a:ext cx="5281521" cy="100760"/>
          </a:xfrm>
          <a:custGeom>
            <a:avLst/>
            <a:gdLst/>
            <a:ahLst/>
            <a:cxnLst/>
            <a:rect l="l" t="t" r="r" b="b"/>
            <a:pathLst>
              <a:path w="5281521" h="100760">
                <a:moveTo>
                  <a:pt x="50380" y="0"/>
                </a:moveTo>
                <a:lnTo>
                  <a:pt x="5231140" y="0"/>
                </a:lnTo>
                <a:cubicBezTo>
                  <a:pt x="5258965" y="0"/>
                  <a:pt x="5281521" y="22556"/>
                  <a:pt x="5281521" y="50380"/>
                </a:cubicBezTo>
                <a:lnTo>
                  <a:pt x="5281521" y="50380"/>
                </a:lnTo>
                <a:cubicBezTo>
                  <a:pt x="5281521" y="78204"/>
                  <a:pt x="5258965" y="100760"/>
                  <a:pt x="5231140" y="100760"/>
                </a:cubicBezTo>
                <a:lnTo>
                  <a:pt x="50380" y="100760"/>
                </a:lnTo>
                <a:cubicBezTo>
                  <a:pt x="22556" y="100760"/>
                  <a:pt x="0" y="78204"/>
                  <a:pt x="0" y="50380"/>
                </a:cubicBezTo>
                <a:lnTo>
                  <a:pt x="0" y="50380"/>
                </a:lnTo>
                <a:cubicBezTo>
                  <a:pt x="0" y="22556"/>
                  <a:pt x="22556" y="0"/>
                  <a:pt x="50380" y="0"/>
                </a:cubicBezTo>
                <a:close/>
              </a:path>
            </a:pathLst>
          </a:custGeom>
          <a:solidFill>
            <a:srgbClr val="E5E5E5"/>
          </a:solidFill>
          <a:ln/>
        </p:spPr>
      </p:sp>
      <p:sp>
        <p:nvSpPr>
          <p:cNvPr id="29" name="Shape 27"/>
          <p:cNvSpPr/>
          <p:nvPr/>
        </p:nvSpPr>
        <p:spPr>
          <a:xfrm>
            <a:off x="6406783" y="5613403"/>
            <a:ext cx="2636562" cy="100760"/>
          </a:xfrm>
          <a:custGeom>
            <a:avLst/>
            <a:gdLst/>
            <a:ahLst/>
            <a:cxnLst/>
            <a:rect l="l" t="t" r="r" b="b"/>
            <a:pathLst>
              <a:path w="2636562" h="100760">
                <a:moveTo>
                  <a:pt x="50380" y="0"/>
                </a:moveTo>
                <a:lnTo>
                  <a:pt x="2586182" y="0"/>
                </a:lnTo>
                <a:cubicBezTo>
                  <a:pt x="2614006" y="0"/>
                  <a:pt x="2636562" y="22556"/>
                  <a:pt x="2636562" y="50380"/>
                </a:cubicBezTo>
                <a:lnTo>
                  <a:pt x="2636562" y="50380"/>
                </a:lnTo>
                <a:cubicBezTo>
                  <a:pt x="2636562" y="78204"/>
                  <a:pt x="2614006" y="100760"/>
                  <a:pt x="2586182" y="100760"/>
                </a:cubicBezTo>
                <a:lnTo>
                  <a:pt x="50380" y="100760"/>
                </a:lnTo>
                <a:cubicBezTo>
                  <a:pt x="22556" y="100760"/>
                  <a:pt x="0" y="78204"/>
                  <a:pt x="0" y="50380"/>
                </a:cubicBezTo>
                <a:lnTo>
                  <a:pt x="0" y="50380"/>
                </a:lnTo>
                <a:cubicBezTo>
                  <a:pt x="0" y="22556"/>
                  <a:pt x="22556" y="0"/>
                  <a:pt x="50380" y="0"/>
                </a:cubicBezTo>
                <a:close/>
              </a:path>
            </a:pathLst>
          </a:custGeom>
          <a:solidFill>
            <a:srgbClr val="0071E3"/>
          </a:solidFill>
          <a:ln/>
        </p:spPr>
      </p:sp>
      <p:sp>
        <p:nvSpPr>
          <p:cNvPr id="30" name="Text 28"/>
          <p:cNvSpPr/>
          <p:nvPr/>
        </p:nvSpPr>
        <p:spPr>
          <a:xfrm>
            <a:off x="6406783" y="5848511"/>
            <a:ext cx="5348694" cy="201521"/>
          </a:xfrm>
          <a:prstGeom prst="rect">
            <a:avLst/>
          </a:prstGeom>
          <a:noFill/>
          <a:ln/>
        </p:spPr>
        <p:txBody>
          <a:bodyPr wrap="square" lIns="0" tIns="0" rIns="0" bIns="0" rtlCol="0" anchor="ctr"/>
          <a:lstStyle/>
          <a:p>
            <a:pPr>
              <a:lnSpc>
                <a:spcPct val="130000"/>
              </a:lnSpc>
            </a:pPr>
            <a:r>
              <a:rPr lang="en-US" sz="1058" dirty="0">
                <a:solidFill>
                  <a:srgbClr val="86868B"/>
                </a:solidFill>
                <a:latin typeface="Liter" pitchFamily="34" charset="0"/>
                <a:ea typeface="Liter" pitchFamily="34" charset="-122"/>
                <a:cs typeface="Liter" pitchFamily="34" charset="-120"/>
              </a:rPr>
              <a:t>Optimisation pour éviter la surcharge réseau tout en maintenant la réactivité</a:t>
            </a:r>
            <a:endParaRPr lang="en-US" sz="1600" dirty="0"/>
          </a:p>
        </p:txBody>
      </p:sp>
      <p:sp>
        <p:nvSpPr>
          <p:cNvPr id="31" name="Shape 29"/>
          <p:cNvSpPr/>
          <p:nvPr/>
        </p:nvSpPr>
        <p:spPr>
          <a:xfrm>
            <a:off x="6232132" y="6392615"/>
            <a:ext cx="5625785" cy="470215"/>
          </a:xfrm>
          <a:custGeom>
            <a:avLst/>
            <a:gdLst/>
            <a:ahLst/>
            <a:cxnLst/>
            <a:rect l="l" t="t" r="r" b="b"/>
            <a:pathLst>
              <a:path w="5625785" h="470215">
                <a:moveTo>
                  <a:pt x="100762" y="0"/>
                </a:moveTo>
                <a:lnTo>
                  <a:pt x="5525023" y="0"/>
                </a:lnTo>
                <a:cubicBezTo>
                  <a:pt x="5580672" y="0"/>
                  <a:pt x="5625785" y="45113"/>
                  <a:pt x="5625785" y="100762"/>
                </a:cubicBezTo>
                <a:lnTo>
                  <a:pt x="5625785" y="369453"/>
                </a:lnTo>
                <a:cubicBezTo>
                  <a:pt x="5625785" y="425102"/>
                  <a:pt x="5580672" y="470215"/>
                  <a:pt x="5525023" y="470215"/>
                </a:cubicBezTo>
                <a:lnTo>
                  <a:pt x="100762" y="470215"/>
                </a:lnTo>
                <a:cubicBezTo>
                  <a:pt x="45113" y="470215"/>
                  <a:pt x="0" y="425102"/>
                  <a:pt x="0" y="369453"/>
                </a:cubicBezTo>
                <a:lnTo>
                  <a:pt x="0" y="100762"/>
                </a:lnTo>
                <a:cubicBezTo>
                  <a:pt x="0" y="45150"/>
                  <a:pt x="45150" y="0"/>
                  <a:pt x="100762" y="0"/>
                </a:cubicBezTo>
                <a:close/>
              </a:path>
            </a:pathLst>
          </a:custGeom>
          <a:solidFill>
            <a:srgbClr val="F5F5F7"/>
          </a:solidFill>
          <a:ln/>
        </p:spPr>
      </p:sp>
      <p:sp>
        <p:nvSpPr>
          <p:cNvPr id="32" name="Shape 30"/>
          <p:cNvSpPr/>
          <p:nvPr/>
        </p:nvSpPr>
        <p:spPr>
          <a:xfrm>
            <a:off x="6383272" y="6553833"/>
            <a:ext cx="134347" cy="134347"/>
          </a:xfrm>
          <a:custGeom>
            <a:avLst/>
            <a:gdLst/>
            <a:ahLst/>
            <a:cxnLst/>
            <a:rect l="l" t="t" r="r" b="b"/>
            <a:pathLst>
              <a:path w="134347" h="134347">
                <a:moveTo>
                  <a:pt x="67174" y="134347"/>
                </a:moveTo>
                <a:cubicBezTo>
                  <a:pt x="104248" y="134347"/>
                  <a:pt x="134347" y="104248"/>
                  <a:pt x="134347" y="67174"/>
                </a:cubicBezTo>
                <a:cubicBezTo>
                  <a:pt x="134347" y="30099"/>
                  <a:pt x="104248" y="0"/>
                  <a:pt x="67174" y="0"/>
                </a:cubicBezTo>
                <a:cubicBezTo>
                  <a:pt x="30099" y="0"/>
                  <a:pt x="0" y="30099"/>
                  <a:pt x="0" y="67174"/>
                </a:cubicBezTo>
                <a:cubicBezTo>
                  <a:pt x="0" y="104248"/>
                  <a:pt x="30099" y="134347"/>
                  <a:pt x="67174" y="134347"/>
                </a:cubicBezTo>
                <a:close/>
                <a:moveTo>
                  <a:pt x="58777" y="41983"/>
                </a:moveTo>
                <a:cubicBezTo>
                  <a:pt x="58777" y="37349"/>
                  <a:pt x="62539" y="33587"/>
                  <a:pt x="67174" y="33587"/>
                </a:cubicBezTo>
                <a:cubicBezTo>
                  <a:pt x="71808" y="33587"/>
                  <a:pt x="75570" y="37349"/>
                  <a:pt x="75570" y="41983"/>
                </a:cubicBezTo>
                <a:cubicBezTo>
                  <a:pt x="75570" y="46618"/>
                  <a:pt x="71808" y="50380"/>
                  <a:pt x="67174" y="50380"/>
                </a:cubicBezTo>
                <a:cubicBezTo>
                  <a:pt x="62539" y="50380"/>
                  <a:pt x="58777" y="46618"/>
                  <a:pt x="58777" y="41983"/>
                </a:cubicBezTo>
                <a:close/>
                <a:moveTo>
                  <a:pt x="56678" y="58777"/>
                </a:moveTo>
                <a:lnTo>
                  <a:pt x="69273" y="58777"/>
                </a:lnTo>
                <a:cubicBezTo>
                  <a:pt x="72763" y="58777"/>
                  <a:pt x="75570" y="61585"/>
                  <a:pt x="75570" y="65074"/>
                </a:cubicBezTo>
                <a:lnTo>
                  <a:pt x="75570" y="88165"/>
                </a:lnTo>
                <a:lnTo>
                  <a:pt x="77669" y="88165"/>
                </a:lnTo>
                <a:cubicBezTo>
                  <a:pt x="81159" y="88165"/>
                  <a:pt x="83967" y="90973"/>
                  <a:pt x="83967" y="94463"/>
                </a:cubicBezTo>
                <a:cubicBezTo>
                  <a:pt x="83967" y="97953"/>
                  <a:pt x="81159" y="100760"/>
                  <a:pt x="77669" y="100760"/>
                </a:cubicBezTo>
                <a:lnTo>
                  <a:pt x="56678" y="100760"/>
                </a:lnTo>
                <a:cubicBezTo>
                  <a:pt x="53188" y="100760"/>
                  <a:pt x="50380" y="97953"/>
                  <a:pt x="50380" y="94463"/>
                </a:cubicBezTo>
                <a:cubicBezTo>
                  <a:pt x="50380" y="90973"/>
                  <a:pt x="53188" y="88165"/>
                  <a:pt x="56678" y="88165"/>
                </a:cubicBezTo>
                <a:lnTo>
                  <a:pt x="62975" y="88165"/>
                </a:lnTo>
                <a:lnTo>
                  <a:pt x="62975" y="71372"/>
                </a:lnTo>
                <a:lnTo>
                  <a:pt x="56678" y="71372"/>
                </a:lnTo>
                <a:cubicBezTo>
                  <a:pt x="53188" y="71372"/>
                  <a:pt x="50380" y="68564"/>
                  <a:pt x="50380" y="65074"/>
                </a:cubicBezTo>
                <a:cubicBezTo>
                  <a:pt x="50380" y="61585"/>
                  <a:pt x="53188" y="58777"/>
                  <a:pt x="56678" y="58777"/>
                </a:cubicBezTo>
                <a:close/>
              </a:path>
            </a:pathLst>
          </a:custGeom>
          <a:solidFill>
            <a:srgbClr val="0071E3"/>
          </a:solidFill>
          <a:ln/>
        </p:spPr>
      </p:sp>
      <p:sp>
        <p:nvSpPr>
          <p:cNvPr id="33" name="Text 31"/>
          <p:cNvSpPr/>
          <p:nvPr/>
        </p:nvSpPr>
        <p:spPr>
          <a:xfrm>
            <a:off x="6578825" y="6526962"/>
            <a:ext cx="5211918" cy="201521"/>
          </a:xfrm>
          <a:prstGeom prst="rect">
            <a:avLst/>
          </a:prstGeom>
          <a:noFill/>
          <a:ln/>
        </p:spPr>
        <p:txBody>
          <a:bodyPr wrap="square" lIns="0" tIns="0" rIns="0" bIns="0" rtlCol="0" anchor="ctr"/>
          <a:lstStyle/>
          <a:p>
            <a:pPr>
              <a:lnSpc>
                <a:spcPct val="130000"/>
              </a:lnSpc>
            </a:pPr>
            <a:r>
              <a:rPr lang="en-US" sz="1058" b="1" dirty="0">
                <a:solidFill>
                  <a:srgbClr val="1D1D1D"/>
                </a:solidFill>
                <a:latin typeface="Liter" pitchFamily="34" charset="0"/>
                <a:ea typeface="Liter" pitchFamily="34" charset="-122"/>
                <a:cs typeface="Liter" pitchFamily="34" charset="-120"/>
              </a:rPr>
              <a:t>FirebaseJson:</a:t>
            </a:r>
            <a:r>
              <a:rPr lang="en-US" sz="1058" dirty="0">
                <a:solidFill>
                  <a:srgbClr val="86868B"/>
                </a:solidFill>
                <a:latin typeface="Liter" pitchFamily="34" charset="0"/>
                <a:ea typeface="Liter" pitchFamily="34" charset="-122"/>
                <a:cs typeface="Liter" pitchFamily="34" charset="-120"/>
              </a:rPr>
              <a:t> Construction et sérialisation efficace des données JSON</a:t>
            </a:r>
            <a:endParaRPr lang="en-US" sz="1600" dirty="0"/>
          </a:p>
        </p:txBody>
      </p:sp>
      <p:pic>
        <p:nvPicPr>
          <p:cNvPr id="36" name="Image 35">
            <a:extLst>
              <a:ext uri="{FF2B5EF4-FFF2-40B4-BE49-F238E27FC236}">
                <a16:creationId xmlns:a16="http://schemas.microsoft.com/office/drawing/2014/main" id="{51B1B030-9D7F-8E2B-7DC5-05A5E83809CB}"/>
              </a:ext>
            </a:extLst>
          </p:cNvPr>
          <p:cNvPicPr>
            <a:picLocks noChangeAspect="1"/>
          </p:cNvPicPr>
          <p:nvPr/>
        </p:nvPicPr>
        <p:blipFill>
          <a:blip r:embed="rId3"/>
          <a:srcRect t="18670" r="65614"/>
          <a:stretch>
            <a:fillRect/>
          </a:stretch>
        </p:blipFill>
        <p:spPr>
          <a:xfrm>
            <a:off x="6291519" y="1639036"/>
            <a:ext cx="2751826" cy="2725300"/>
          </a:xfrm>
          <a:prstGeom prst="rect">
            <a:avLst/>
          </a:prstGeom>
        </p:spPr>
      </p:pic>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381000" y="1079181"/>
            <a:ext cx="2136100" cy="1737360"/>
          </a:xfrm>
          <a:prstGeom prst="rect">
            <a:avLst/>
          </a:prstGeom>
          <a:noFill/>
          <a:ln/>
        </p:spPr>
        <p:txBody>
          <a:bodyPr wrap="square" lIns="0" tIns="0" rIns="0" bIns="0" rtlCol="0" anchor="ctr"/>
          <a:lstStyle/>
          <a:p>
            <a:pPr>
              <a:lnSpc>
                <a:spcPct val="80000"/>
              </a:lnSpc>
            </a:pPr>
            <a:r>
              <a:rPr lang="en-US" sz="9600" b="1" dirty="0">
                <a:solidFill>
                  <a:srgbClr val="0071E3"/>
                </a:solidFill>
                <a:latin typeface="Liter" pitchFamily="34" charset="0"/>
                <a:ea typeface="Liter" pitchFamily="34" charset="-122"/>
                <a:cs typeface="Liter" pitchFamily="34" charset="-120"/>
              </a:rPr>
              <a:t>08</a:t>
            </a:r>
            <a:endParaRPr lang="en-US" sz="1600" dirty="0"/>
          </a:p>
        </p:txBody>
      </p:sp>
      <p:sp>
        <p:nvSpPr>
          <p:cNvPr id="3" name="Text 1"/>
          <p:cNvSpPr/>
          <p:nvPr/>
        </p:nvSpPr>
        <p:spPr>
          <a:xfrm>
            <a:off x="381000" y="3119816"/>
            <a:ext cx="11772900" cy="1714500"/>
          </a:xfrm>
          <a:prstGeom prst="rect">
            <a:avLst/>
          </a:prstGeom>
          <a:noFill/>
          <a:ln/>
        </p:spPr>
        <p:txBody>
          <a:bodyPr wrap="square" lIns="0" tIns="0" rIns="0" bIns="0" rtlCol="0" anchor="ctr"/>
          <a:lstStyle/>
          <a:p>
            <a:pPr>
              <a:lnSpc>
                <a:spcPct val="100000"/>
              </a:lnSpc>
            </a:pPr>
            <a:r>
              <a:rPr lang="en-US" sz="5400" b="1" dirty="0" err="1">
                <a:solidFill>
                  <a:srgbClr val="1D1D1D"/>
                </a:solidFill>
                <a:latin typeface="Liter" pitchFamily="34" charset="0"/>
                <a:ea typeface="Liter" pitchFamily="34" charset="-122"/>
                <a:cs typeface="Liter" pitchFamily="34" charset="-120"/>
              </a:rPr>
              <a:t>Démonstration</a:t>
            </a:r>
            <a:endParaRPr lang="en-US" sz="1600" dirty="0"/>
          </a:p>
        </p:txBody>
      </p:sp>
      <p:sp>
        <p:nvSpPr>
          <p:cNvPr id="4" name="Shape 2"/>
          <p:cNvSpPr/>
          <p:nvPr/>
        </p:nvSpPr>
        <p:spPr>
          <a:xfrm>
            <a:off x="381000" y="4805363"/>
            <a:ext cx="1219200" cy="38100"/>
          </a:xfrm>
          <a:custGeom>
            <a:avLst/>
            <a:gdLst/>
            <a:ahLst/>
            <a:cxnLst/>
            <a:rect l="l" t="t" r="r" b="b"/>
            <a:pathLst>
              <a:path w="1219200" h="38100">
                <a:moveTo>
                  <a:pt x="0" y="0"/>
                </a:moveTo>
                <a:lnTo>
                  <a:pt x="1219200" y="0"/>
                </a:lnTo>
                <a:lnTo>
                  <a:pt x="1219200" y="38100"/>
                </a:lnTo>
                <a:lnTo>
                  <a:pt x="0" y="38100"/>
                </a:lnTo>
                <a:lnTo>
                  <a:pt x="0" y="0"/>
                </a:lnTo>
                <a:close/>
              </a:path>
            </a:pathLst>
          </a:custGeom>
          <a:solidFill>
            <a:srgbClr val="0071E3"/>
          </a:solidFill>
          <a:ln/>
        </p:spPr>
      </p:sp>
      <p:sp>
        <p:nvSpPr>
          <p:cNvPr id="5" name="Text 3"/>
          <p:cNvSpPr/>
          <p:nvPr/>
        </p:nvSpPr>
        <p:spPr>
          <a:xfrm>
            <a:off x="381000" y="5148263"/>
            <a:ext cx="7429500" cy="371475"/>
          </a:xfrm>
          <a:prstGeom prst="rect">
            <a:avLst/>
          </a:prstGeom>
          <a:noFill/>
          <a:ln/>
        </p:spPr>
        <p:txBody>
          <a:bodyPr wrap="square" lIns="0" tIns="0" rIns="0" bIns="0" rtlCol="0" anchor="ctr"/>
          <a:lstStyle/>
          <a:p>
            <a:pPr>
              <a:lnSpc>
                <a:spcPct val="140000"/>
              </a:lnSpc>
            </a:pPr>
            <a:r>
              <a:rPr lang="en-US" sz="1800" dirty="0">
                <a:solidFill>
                  <a:srgbClr val="86868B"/>
                </a:solidFill>
                <a:latin typeface="Liter" pitchFamily="34" charset="0"/>
                <a:ea typeface="Liter" pitchFamily="34" charset="-122"/>
                <a:cs typeface="Liter" pitchFamily="34" charset="-120"/>
              </a:rPr>
              <a:t>Scénarios de test</a:t>
            </a:r>
            <a:endParaRPr lang="en-US" sz="1600" dirty="0"/>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369175" y="369175"/>
            <a:ext cx="11518256" cy="184587"/>
          </a:xfrm>
          <a:prstGeom prst="rect">
            <a:avLst/>
          </a:prstGeom>
          <a:noFill/>
          <a:ln/>
        </p:spPr>
        <p:txBody>
          <a:bodyPr wrap="square" lIns="0" tIns="0" rIns="0" bIns="0" rtlCol="0" anchor="ctr"/>
          <a:lstStyle/>
          <a:p>
            <a:pPr>
              <a:lnSpc>
                <a:spcPct val="120000"/>
              </a:lnSpc>
            </a:pPr>
            <a:r>
              <a:rPr lang="en-US" sz="1017" b="1" kern="0" spc="102" dirty="0">
                <a:solidFill>
                  <a:srgbClr val="86868B"/>
                </a:solidFill>
                <a:latin typeface="Liter" pitchFamily="34" charset="0"/>
                <a:ea typeface="Liter" pitchFamily="34" charset="-122"/>
                <a:cs typeface="Liter" pitchFamily="34" charset="-120"/>
              </a:rPr>
              <a:t>08 / TESTS</a:t>
            </a:r>
            <a:endParaRPr lang="en-US" sz="1600" dirty="0"/>
          </a:p>
        </p:txBody>
      </p:sp>
      <p:sp>
        <p:nvSpPr>
          <p:cNvPr id="3" name="Text 1"/>
          <p:cNvSpPr/>
          <p:nvPr/>
        </p:nvSpPr>
        <p:spPr>
          <a:xfrm>
            <a:off x="369175" y="664515"/>
            <a:ext cx="11675155" cy="443010"/>
          </a:xfrm>
          <a:prstGeom prst="rect">
            <a:avLst/>
          </a:prstGeom>
          <a:noFill/>
          <a:ln/>
        </p:spPr>
        <p:txBody>
          <a:bodyPr wrap="square" lIns="0" tIns="0" rIns="0" bIns="0" rtlCol="0" anchor="ctr"/>
          <a:lstStyle/>
          <a:p>
            <a:pPr>
              <a:lnSpc>
                <a:spcPct val="80000"/>
              </a:lnSpc>
            </a:pPr>
            <a:r>
              <a:rPr lang="en-US" sz="3488" b="1" dirty="0">
                <a:solidFill>
                  <a:srgbClr val="1D1D1D"/>
                </a:solidFill>
                <a:latin typeface="Liter" pitchFamily="34" charset="0"/>
                <a:ea typeface="Liter" pitchFamily="34" charset="-122"/>
                <a:cs typeface="Liter" pitchFamily="34" charset="-120"/>
              </a:rPr>
              <a:t>Scénarios de test et validation</a:t>
            </a:r>
            <a:endParaRPr lang="en-US" sz="1600" dirty="0"/>
          </a:p>
        </p:txBody>
      </p:sp>
      <p:sp>
        <p:nvSpPr>
          <p:cNvPr id="4" name="Shape 2"/>
          <p:cNvSpPr/>
          <p:nvPr/>
        </p:nvSpPr>
        <p:spPr>
          <a:xfrm>
            <a:off x="372867" y="1332721"/>
            <a:ext cx="5609612" cy="1816340"/>
          </a:xfrm>
          <a:custGeom>
            <a:avLst/>
            <a:gdLst/>
            <a:ahLst/>
            <a:cxnLst/>
            <a:rect l="l" t="t" r="r" b="b"/>
            <a:pathLst>
              <a:path w="5609612" h="1816340">
                <a:moveTo>
                  <a:pt x="147668" y="0"/>
                </a:moveTo>
                <a:lnTo>
                  <a:pt x="5461944" y="0"/>
                </a:lnTo>
                <a:cubicBezTo>
                  <a:pt x="5543499" y="0"/>
                  <a:pt x="5609612" y="66113"/>
                  <a:pt x="5609612" y="147668"/>
                </a:cubicBezTo>
                <a:lnTo>
                  <a:pt x="5609612" y="1668672"/>
                </a:lnTo>
                <a:cubicBezTo>
                  <a:pt x="5609612" y="1750227"/>
                  <a:pt x="5543499" y="1816340"/>
                  <a:pt x="5461944" y="1816340"/>
                </a:cubicBezTo>
                <a:lnTo>
                  <a:pt x="147668" y="1816340"/>
                </a:lnTo>
                <a:cubicBezTo>
                  <a:pt x="66113" y="1816340"/>
                  <a:pt x="0" y="1750227"/>
                  <a:pt x="0" y="1668672"/>
                </a:cubicBezTo>
                <a:lnTo>
                  <a:pt x="0" y="147668"/>
                </a:lnTo>
                <a:cubicBezTo>
                  <a:pt x="0" y="66168"/>
                  <a:pt x="66168" y="0"/>
                  <a:pt x="147668" y="0"/>
                </a:cubicBezTo>
                <a:close/>
              </a:path>
            </a:pathLst>
          </a:custGeom>
          <a:solidFill>
            <a:srgbClr val="FFFFFF"/>
          </a:solidFill>
          <a:ln w="10160">
            <a:solidFill>
              <a:srgbClr val="E5E5E5"/>
            </a:solidFill>
            <a:prstDash val="solid"/>
          </a:ln>
        </p:spPr>
      </p:sp>
      <p:sp>
        <p:nvSpPr>
          <p:cNvPr id="5" name="Shape 3"/>
          <p:cNvSpPr/>
          <p:nvPr/>
        </p:nvSpPr>
        <p:spPr>
          <a:xfrm>
            <a:off x="561146" y="1521008"/>
            <a:ext cx="443010" cy="443010"/>
          </a:xfrm>
          <a:custGeom>
            <a:avLst/>
            <a:gdLst/>
            <a:ahLst/>
            <a:cxnLst/>
            <a:rect l="l" t="t" r="r" b="b"/>
            <a:pathLst>
              <a:path w="443010" h="443010">
                <a:moveTo>
                  <a:pt x="221505" y="0"/>
                </a:moveTo>
                <a:lnTo>
                  <a:pt x="221505" y="0"/>
                </a:lnTo>
                <a:cubicBezTo>
                  <a:pt x="343757" y="0"/>
                  <a:pt x="443010" y="99253"/>
                  <a:pt x="443010" y="221505"/>
                </a:cubicBezTo>
                <a:lnTo>
                  <a:pt x="443010" y="221505"/>
                </a:lnTo>
                <a:cubicBezTo>
                  <a:pt x="443010" y="343757"/>
                  <a:pt x="343757" y="443010"/>
                  <a:pt x="221505" y="443010"/>
                </a:cubicBezTo>
                <a:lnTo>
                  <a:pt x="221505" y="443010"/>
                </a:lnTo>
                <a:cubicBezTo>
                  <a:pt x="99253" y="443010"/>
                  <a:pt x="0" y="343757"/>
                  <a:pt x="0" y="221505"/>
                </a:cubicBezTo>
                <a:lnTo>
                  <a:pt x="0" y="221505"/>
                </a:lnTo>
                <a:cubicBezTo>
                  <a:pt x="0" y="99253"/>
                  <a:pt x="99253" y="0"/>
                  <a:pt x="221505" y="0"/>
                </a:cubicBezTo>
                <a:close/>
              </a:path>
            </a:pathLst>
          </a:custGeom>
          <a:solidFill>
            <a:srgbClr val="86868B">
              <a:alpha val="20000"/>
            </a:srgbClr>
          </a:solidFill>
          <a:ln/>
        </p:spPr>
      </p:sp>
      <p:sp>
        <p:nvSpPr>
          <p:cNvPr id="6" name="Text 4"/>
          <p:cNvSpPr/>
          <p:nvPr/>
        </p:nvSpPr>
        <p:spPr>
          <a:xfrm>
            <a:off x="745733" y="1613301"/>
            <a:ext cx="166129" cy="258422"/>
          </a:xfrm>
          <a:prstGeom prst="rect">
            <a:avLst/>
          </a:prstGeom>
          <a:noFill/>
          <a:ln/>
        </p:spPr>
        <p:txBody>
          <a:bodyPr wrap="square" lIns="0" tIns="0" rIns="0" bIns="0" rtlCol="0" anchor="ctr"/>
          <a:lstStyle/>
          <a:p>
            <a:pPr>
              <a:lnSpc>
                <a:spcPct val="120000"/>
              </a:lnSpc>
            </a:pPr>
            <a:r>
              <a:rPr lang="en-US" sz="1453" b="1" dirty="0">
                <a:solidFill>
                  <a:srgbClr val="86868B"/>
                </a:solidFill>
                <a:latin typeface="Liter" pitchFamily="34" charset="0"/>
                <a:ea typeface="Liter" pitchFamily="34" charset="-122"/>
                <a:cs typeface="Liter" pitchFamily="34" charset="-120"/>
              </a:rPr>
              <a:t>1</a:t>
            </a:r>
            <a:endParaRPr lang="en-US" sz="1600" dirty="0"/>
          </a:p>
        </p:txBody>
      </p:sp>
      <p:sp>
        <p:nvSpPr>
          <p:cNvPr id="7" name="Text 5"/>
          <p:cNvSpPr/>
          <p:nvPr/>
        </p:nvSpPr>
        <p:spPr>
          <a:xfrm>
            <a:off x="1151826" y="1613301"/>
            <a:ext cx="895249" cy="258422"/>
          </a:xfrm>
          <a:prstGeom prst="rect">
            <a:avLst/>
          </a:prstGeom>
          <a:noFill/>
          <a:ln/>
        </p:spPr>
        <p:txBody>
          <a:bodyPr wrap="square" lIns="0" tIns="0" rIns="0" bIns="0" rtlCol="0" anchor="ctr"/>
          <a:lstStyle/>
          <a:p>
            <a:pPr>
              <a:lnSpc>
                <a:spcPct val="120000"/>
              </a:lnSpc>
            </a:pPr>
            <a:r>
              <a:rPr lang="en-US" sz="1453" b="1" dirty="0">
                <a:solidFill>
                  <a:srgbClr val="1D1D1D"/>
                </a:solidFill>
                <a:latin typeface="Liter" pitchFamily="34" charset="0"/>
                <a:ea typeface="Liter" pitchFamily="34" charset="-122"/>
                <a:cs typeface="Liter" pitchFamily="34" charset="-120"/>
              </a:rPr>
              <a:t>État initial</a:t>
            </a:r>
            <a:endParaRPr lang="en-US" sz="1600" dirty="0"/>
          </a:p>
        </p:txBody>
      </p:sp>
      <p:sp>
        <p:nvSpPr>
          <p:cNvPr id="8" name="Text 6"/>
          <p:cNvSpPr/>
          <p:nvPr/>
        </p:nvSpPr>
        <p:spPr>
          <a:xfrm>
            <a:off x="561146" y="2111687"/>
            <a:ext cx="5306889" cy="479927"/>
          </a:xfrm>
          <a:prstGeom prst="rect">
            <a:avLst/>
          </a:prstGeom>
          <a:noFill/>
          <a:ln/>
        </p:spPr>
        <p:txBody>
          <a:bodyPr wrap="square" lIns="0" tIns="0" rIns="0" bIns="0" rtlCol="0" anchor="ctr"/>
          <a:lstStyle/>
          <a:p>
            <a:pPr>
              <a:lnSpc>
                <a:spcPct val="140000"/>
              </a:lnSpc>
            </a:pPr>
            <a:r>
              <a:rPr lang="en-US" sz="1163" dirty="0">
                <a:solidFill>
                  <a:srgbClr val="86868B"/>
                </a:solidFill>
                <a:latin typeface="Liter" pitchFamily="34" charset="0"/>
                <a:ea typeface="Liter" pitchFamily="34" charset="-122"/>
                <a:cs typeface="Liter" pitchFamily="34" charset="-120"/>
              </a:rPr>
              <a:t>Système non calibré affichant "EN ATTENTE DE CALIBRATION" sur le dashboard web</a:t>
            </a:r>
            <a:endParaRPr lang="en-US" sz="1600" dirty="0"/>
          </a:p>
        </p:txBody>
      </p:sp>
      <p:sp>
        <p:nvSpPr>
          <p:cNvPr id="9" name="Shape 7"/>
          <p:cNvSpPr/>
          <p:nvPr/>
        </p:nvSpPr>
        <p:spPr>
          <a:xfrm>
            <a:off x="561146" y="2702367"/>
            <a:ext cx="1006002" cy="258422"/>
          </a:xfrm>
          <a:custGeom>
            <a:avLst/>
            <a:gdLst/>
            <a:ahLst/>
            <a:cxnLst/>
            <a:rect l="l" t="t" r="r" b="b"/>
            <a:pathLst>
              <a:path w="1006002" h="258422">
                <a:moveTo>
                  <a:pt x="129211" y="0"/>
                </a:moveTo>
                <a:lnTo>
                  <a:pt x="876790" y="0"/>
                </a:lnTo>
                <a:cubicBezTo>
                  <a:pt x="948152" y="0"/>
                  <a:pt x="1006002" y="57850"/>
                  <a:pt x="1006002" y="129211"/>
                </a:cubicBezTo>
                <a:lnTo>
                  <a:pt x="1006002" y="129211"/>
                </a:lnTo>
                <a:cubicBezTo>
                  <a:pt x="1006002" y="200573"/>
                  <a:pt x="948152" y="258422"/>
                  <a:pt x="876790" y="258422"/>
                </a:cubicBezTo>
                <a:lnTo>
                  <a:pt x="129211" y="258422"/>
                </a:lnTo>
                <a:cubicBezTo>
                  <a:pt x="57850" y="258422"/>
                  <a:pt x="0" y="200573"/>
                  <a:pt x="0" y="129211"/>
                </a:cubicBezTo>
                <a:lnTo>
                  <a:pt x="0" y="129211"/>
                </a:lnTo>
                <a:cubicBezTo>
                  <a:pt x="0" y="57850"/>
                  <a:pt x="57850" y="0"/>
                  <a:pt x="129211" y="0"/>
                </a:cubicBezTo>
                <a:close/>
              </a:path>
            </a:pathLst>
          </a:custGeom>
          <a:solidFill>
            <a:srgbClr val="86868B">
              <a:alpha val="10196"/>
            </a:srgbClr>
          </a:solidFill>
          <a:ln/>
        </p:spPr>
      </p:sp>
      <p:sp>
        <p:nvSpPr>
          <p:cNvPr id="10" name="Text 8"/>
          <p:cNvSpPr/>
          <p:nvPr/>
        </p:nvSpPr>
        <p:spPr>
          <a:xfrm>
            <a:off x="561146" y="2702367"/>
            <a:ext cx="1070607" cy="258422"/>
          </a:xfrm>
          <a:prstGeom prst="rect">
            <a:avLst/>
          </a:prstGeom>
          <a:noFill/>
          <a:ln/>
        </p:spPr>
        <p:txBody>
          <a:bodyPr wrap="square" lIns="110752" tIns="36917" rIns="110752" bIns="36917" rtlCol="0" anchor="ctr"/>
          <a:lstStyle/>
          <a:p>
            <a:pPr>
              <a:lnSpc>
                <a:spcPct val="120000"/>
              </a:lnSpc>
            </a:pPr>
            <a:r>
              <a:rPr lang="en-US" sz="1017" dirty="0">
                <a:solidFill>
                  <a:srgbClr val="86868B"/>
                </a:solidFill>
                <a:latin typeface="Liter" pitchFamily="34" charset="0"/>
                <a:ea typeface="Liter" pitchFamily="34" charset="-122"/>
                <a:cs typeface="Liter" pitchFamily="34" charset="-120"/>
              </a:rPr>
              <a:t>LEDs éteintes</a:t>
            </a:r>
            <a:endParaRPr lang="en-US" sz="1600" dirty="0"/>
          </a:p>
        </p:txBody>
      </p:sp>
      <p:sp>
        <p:nvSpPr>
          <p:cNvPr id="11" name="Shape 9"/>
          <p:cNvSpPr/>
          <p:nvPr/>
        </p:nvSpPr>
        <p:spPr>
          <a:xfrm>
            <a:off x="1643405" y="2702367"/>
            <a:ext cx="793726" cy="258422"/>
          </a:xfrm>
          <a:custGeom>
            <a:avLst/>
            <a:gdLst/>
            <a:ahLst/>
            <a:cxnLst/>
            <a:rect l="l" t="t" r="r" b="b"/>
            <a:pathLst>
              <a:path w="793726" h="258422">
                <a:moveTo>
                  <a:pt x="129211" y="0"/>
                </a:moveTo>
                <a:lnTo>
                  <a:pt x="664515" y="0"/>
                </a:lnTo>
                <a:cubicBezTo>
                  <a:pt x="735876" y="0"/>
                  <a:pt x="793726" y="57850"/>
                  <a:pt x="793726" y="129211"/>
                </a:cubicBezTo>
                <a:lnTo>
                  <a:pt x="793726" y="129211"/>
                </a:lnTo>
                <a:cubicBezTo>
                  <a:pt x="793726" y="200573"/>
                  <a:pt x="735876" y="258422"/>
                  <a:pt x="664515" y="258422"/>
                </a:cubicBezTo>
                <a:lnTo>
                  <a:pt x="129211" y="258422"/>
                </a:lnTo>
                <a:cubicBezTo>
                  <a:pt x="57850" y="258422"/>
                  <a:pt x="0" y="200573"/>
                  <a:pt x="0" y="129211"/>
                </a:cubicBezTo>
                <a:lnTo>
                  <a:pt x="0" y="129211"/>
                </a:lnTo>
                <a:cubicBezTo>
                  <a:pt x="0" y="57850"/>
                  <a:pt x="57850" y="0"/>
                  <a:pt x="129211" y="0"/>
                </a:cubicBezTo>
                <a:close/>
              </a:path>
            </a:pathLst>
          </a:custGeom>
          <a:solidFill>
            <a:srgbClr val="86868B">
              <a:alpha val="10196"/>
            </a:srgbClr>
          </a:solidFill>
          <a:ln/>
        </p:spPr>
      </p:sp>
      <p:sp>
        <p:nvSpPr>
          <p:cNvPr id="12" name="Text 10"/>
          <p:cNvSpPr/>
          <p:nvPr/>
        </p:nvSpPr>
        <p:spPr>
          <a:xfrm>
            <a:off x="1643405" y="2702367"/>
            <a:ext cx="858332" cy="258422"/>
          </a:xfrm>
          <a:prstGeom prst="rect">
            <a:avLst/>
          </a:prstGeom>
          <a:noFill/>
          <a:ln/>
        </p:spPr>
        <p:txBody>
          <a:bodyPr wrap="square" lIns="110752" tIns="36917" rIns="110752" bIns="36917" rtlCol="0" anchor="ctr"/>
          <a:lstStyle/>
          <a:p>
            <a:pPr>
              <a:lnSpc>
                <a:spcPct val="120000"/>
              </a:lnSpc>
            </a:pPr>
            <a:r>
              <a:rPr lang="en-US" sz="1017" dirty="0">
                <a:solidFill>
                  <a:srgbClr val="86868B"/>
                </a:solidFill>
                <a:latin typeface="Liter" pitchFamily="34" charset="0"/>
                <a:ea typeface="Liter" pitchFamily="34" charset="-122"/>
                <a:cs typeface="Liter" pitchFamily="34" charset="-120"/>
              </a:rPr>
              <a:t>Buzzer off</a:t>
            </a:r>
            <a:endParaRPr lang="en-US" sz="1600" dirty="0"/>
          </a:p>
        </p:txBody>
      </p:sp>
      <p:sp>
        <p:nvSpPr>
          <p:cNvPr id="13" name="Shape 11"/>
          <p:cNvSpPr/>
          <p:nvPr/>
        </p:nvSpPr>
        <p:spPr>
          <a:xfrm>
            <a:off x="372867" y="3304111"/>
            <a:ext cx="5609612" cy="1816340"/>
          </a:xfrm>
          <a:custGeom>
            <a:avLst/>
            <a:gdLst/>
            <a:ahLst/>
            <a:cxnLst/>
            <a:rect l="l" t="t" r="r" b="b"/>
            <a:pathLst>
              <a:path w="5609612" h="1816340">
                <a:moveTo>
                  <a:pt x="147668" y="0"/>
                </a:moveTo>
                <a:lnTo>
                  <a:pt x="5461944" y="0"/>
                </a:lnTo>
                <a:cubicBezTo>
                  <a:pt x="5543499" y="0"/>
                  <a:pt x="5609612" y="66113"/>
                  <a:pt x="5609612" y="147668"/>
                </a:cubicBezTo>
                <a:lnTo>
                  <a:pt x="5609612" y="1668672"/>
                </a:lnTo>
                <a:cubicBezTo>
                  <a:pt x="5609612" y="1750227"/>
                  <a:pt x="5543499" y="1816340"/>
                  <a:pt x="5461944" y="1816340"/>
                </a:cubicBezTo>
                <a:lnTo>
                  <a:pt x="147668" y="1816340"/>
                </a:lnTo>
                <a:cubicBezTo>
                  <a:pt x="66113" y="1816340"/>
                  <a:pt x="0" y="1750227"/>
                  <a:pt x="0" y="1668672"/>
                </a:cubicBezTo>
                <a:lnTo>
                  <a:pt x="0" y="147668"/>
                </a:lnTo>
                <a:cubicBezTo>
                  <a:pt x="0" y="66168"/>
                  <a:pt x="66168" y="0"/>
                  <a:pt x="147668" y="0"/>
                </a:cubicBezTo>
                <a:close/>
              </a:path>
            </a:pathLst>
          </a:custGeom>
          <a:solidFill>
            <a:srgbClr val="FFFFFF"/>
          </a:solidFill>
          <a:ln w="10160">
            <a:solidFill>
              <a:srgbClr val="E5E5E5"/>
            </a:solidFill>
            <a:prstDash val="solid"/>
          </a:ln>
        </p:spPr>
      </p:sp>
      <p:sp>
        <p:nvSpPr>
          <p:cNvPr id="14" name="Shape 12"/>
          <p:cNvSpPr/>
          <p:nvPr/>
        </p:nvSpPr>
        <p:spPr>
          <a:xfrm>
            <a:off x="561146" y="3492398"/>
            <a:ext cx="443010" cy="443010"/>
          </a:xfrm>
          <a:custGeom>
            <a:avLst/>
            <a:gdLst/>
            <a:ahLst/>
            <a:cxnLst/>
            <a:rect l="l" t="t" r="r" b="b"/>
            <a:pathLst>
              <a:path w="443010" h="443010">
                <a:moveTo>
                  <a:pt x="221505" y="0"/>
                </a:moveTo>
                <a:lnTo>
                  <a:pt x="221505" y="0"/>
                </a:lnTo>
                <a:cubicBezTo>
                  <a:pt x="343757" y="0"/>
                  <a:pt x="443010" y="99253"/>
                  <a:pt x="443010" y="221505"/>
                </a:cubicBezTo>
                <a:lnTo>
                  <a:pt x="443010" y="221505"/>
                </a:lnTo>
                <a:cubicBezTo>
                  <a:pt x="443010" y="343757"/>
                  <a:pt x="343757" y="443010"/>
                  <a:pt x="221505" y="443010"/>
                </a:cubicBezTo>
                <a:lnTo>
                  <a:pt x="221505" y="443010"/>
                </a:lnTo>
                <a:cubicBezTo>
                  <a:pt x="99253" y="443010"/>
                  <a:pt x="0" y="343757"/>
                  <a:pt x="0" y="221505"/>
                </a:cubicBezTo>
                <a:lnTo>
                  <a:pt x="0" y="221505"/>
                </a:lnTo>
                <a:cubicBezTo>
                  <a:pt x="0" y="99253"/>
                  <a:pt x="99253" y="0"/>
                  <a:pt x="221505" y="0"/>
                </a:cubicBezTo>
                <a:close/>
              </a:path>
            </a:pathLst>
          </a:custGeom>
          <a:solidFill>
            <a:srgbClr val="0071E3">
              <a:alpha val="20000"/>
            </a:srgbClr>
          </a:solidFill>
          <a:ln/>
        </p:spPr>
      </p:sp>
      <p:sp>
        <p:nvSpPr>
          <p:cNvPr id="15" name="Text 13"/>
          <p:cNvSpPr/>
          <p:nvPr/>
        </p:nvSpPr>
        <p:spPr>
          <a:xfrm>
            <a:off x="729005" y="3584692"/>
            <a:ext cx="203046" cy="258422"/>
          </a:xfrm>
          <a:prstGeom prst="rect">
            <a:avLst/>
          </a:prstGeom>
          <a:noFill/>
          <a:ln/>
        </p:spPr>
        <p:txBody>
          <a:bodyPr wrap="square" lIns="0" tIns="0" rIns="0" bIns="0" rtlCol="0" anchor="ctr"/>
          <a:lstStyle/>
          <a:p>
            <a:pPr>
              <a:lnSpc>
                <a:spcPct val="120000"/>
              </a:lnSpc>
            </a:pPr>
            <a:r>
              <a:rPr lang="en-US" sz="1453" b="1" dirty="0">
                <a:solidFill>
                  <a:srgbClr val="0071E3"/>
                </a:solidFill>
                <a:latin typeface="Liter" pitchFamily="34" charset="0"/>
                <a:ea typeface="Liter" pitchFamily="34" charset="-122"/>
                <a:cs typeface="Liter" pitchFamily="34" charset="-120"/>
              </a:rPr>
              <a:t>2</a:t>
            </a:r>
            <a:endParaRPr lang="en-US" sz="1600" dirty="0"/>
          </a:p>
        </p:txBody>
      </p:sp>
      <p:sp>
        <p:nvSpPr>
          <p:cNvPr id="16" name="Text 14"/>
          <p:cNvSpPr/>
          <p:nvPr/>
        </p:nvSpPr>
        <p:spPr>
          <a:xfrm>
            <a:off x="1151826" y="3584692"/>
            <a:ext cx="978313" cy="258422"/>
          </a:xfrm>
          <a:prstGeom prst="rect">
            <a:avLst/>
          </a:prstGeom>
          <a:noFill/>
          <a:ln/>
        </p:spPr>
        <p:txBody>
          <a:bodyPr wrap="square" lIns="0" tIns="0" rIns="0" bIns="0" rtlCol="0" anchor="ctr"/>
          <a:lstStyle/>
          <a:p>
            <a:pPr>
              <a:lnSpc>
                <a:spcPct val="120000"/>
              </a:lnSpc>
            </a:pPr>
            <a:r>
              <a:rPr lang="en-US" sz="1453" b="1" dirty="0">
                <a:solidFill>
                  <a:srgbClr val="1D1D1D"/>
                </a:solidFill>
                <a:latin typeface="Liter" pitchFamily="34" charset="0"/>
                <a:ea typeface="Liter" pitchFamily="34" charset="-122"/>
                <a:cs typeface="Liter" pitchFamily="34" charset="-120"/>
              </a:rPr>
              <a:t>Calibration</a:t>
            </a:r>
            <a:endParaRPr lang="en-US" sz="1600" dirty="0"/>
          </a:p>
        </p:txBody>
      </p:sp>
      <p:sp>
        <p:nvSpPr>
          <p:cNvPr id="17" name="Text 15"/>
          <p:cNvSpPr/>
          <p:nvPr/>
        </p:nvSpPr>
        <p:spPr>
          <a:xfrm>
            <a:off x="561146" y="4083078"/>
            <a:ext cx="5306889" cy="479927"/>
          </a:xfrm>
          <a:prstGeom prst="rect">
            <a:avLst/>
          </a:prstGeom>
          <a:noFill/>
          <a:ln/>
        </p:spPr>
        <p:txBody>
          <a:bodyPr wrap="square" lIns="0" tIns="0" rIns="0" bIns="0" rtlCol="0" anchor="ctr"/>
          <a:lstStyle/>
          <a:p>
            <a:pPr>
              <a:lnSpc>
                <a:spcPct val="140000"/>
              </a:lnSpc>
            </a:pPr>
            <a:r>
              <a:rPr lang="en-US" sz="1163" dirty="0">
                <a:solidFill>
                  <a:srgbClr val="86868B"/>
                </a:solidFill>
                <a:latin typeface="Liter" pitchFamily="34" charset="0"/>
                <a:ea typeface="Liter" pitchFamily="34" charset="-122"/>
                <a:cs typeface="Liter" pitchFamily="34" charset="-120"/>
              </a:rPr>
              <a:t>Appui sur bouton, mesure de référence et calcul automatique des trois seuils (30%, 50%, 70%)</a:t>
            </a:r>
            <a:endParaRPr lang="en-US" sz="1600" dirty="0"/>
          </a:p>
        </p:txBody>
      </p:sp>
      <p:sp>
        <p:nvSpPr>
          <p:cNvPr id="18" name="Shape 16"/>
          <p:cNvSpPr/>
          <p:nvPr/>
        </p:nvSpPr>
        <p:spPr>
          <a:xfrm>
            <a:off x="561146" y="4673757"/>
            <a:ext cx="1070607" cy="258422"/>
          </a:xfrm>
          <a:custGeom>
            <a:avLst/>
            <a:gdLst/>
            <a:ahLst/>
            <a:cxnLst/>
            <a:rect l="l" t="t" r="r" b="b"/>
            <a:pathLst>
              <a:path w="1070607" h="258422">
                <a:moveTo>
                  <a:pt x="129211" y="0"/>
                </a:moveTo>
                <a:lnTo>
                  <a:pt x="941396" y="0"/>
                </a:lnTo>
                <a:cubicBezTo>
                  <a:pt x="1012757" y="0"/>
                  <a:pt x="1070607" y="57850"/>
                  <a:pt x="1070607" y="129211"/>
                </a:cubicBezTo>
                <a:lnTo>
                  <a:pt x="1070607" y="129211"/>
                </a:lnTo>
                <a:cubicBezTo>
                  <a:pt x="1070607" y="200573"/>
                  <a:pt x="1012757" y="258422"/>
                  <a:pt x="941396" y="258422"/>
                </a:cubicBezTo>
                <a:lnTo>
                  <a:pt x="129211" y="258422"/>
                </a:lnTo>
                <a:cubicBezTo>
                  <a:pt x="57850" y="258422"/>
                  <a:pt x="0" y="200573"/>
                  <a:pt x="0" y="129211"/>
                </a:cubicBezTo>
                <a:lnTo>
                  <a:pt x="0" y="129211"/>
                </a:lnTo>
                <a:cubicBezTo>
                  <a:pt x="0" y="57850"/>
                  <a:pt x="57850" y="0"/>
                  <a:pt x="129211" y="0"/>
                </a:cubicBezTo>
                <a:close/>
              </a:path>
            </a:pathLst>
          </a:custGeom>
          <a:solidFill>
            <a:srgbClr val="0071E3">
              <a:alpha val="10196"/>
            </a:srgbClr>
          </a:solidFill>
          <a:ln/>
        </p:spPr>
      </p:sp>
      <p:sp>
        <p:nvSpPr>
          <p:cNvPr id="19" name="Text 17"/>
          <p:cNvSpPr/>
          <p:nvPr/>
        </p:nvSpPr>
        <p:spPr>
          <a:xfrm>
            <a:off x="561146" y="4673757"/>
            <a:ext cx="1135213" cy="258422"/>
          </a:xfrm>
          <a:prstGeom prst="rect">
            <a:avLst/>
          </a:prstGeom>
          <a:noFill/>
          <a:ln/>
        </p:spPr>
        <p:txBody>
          <a:bodyPr wrap="square" lIns="110752" tIns="36917" rIns="110752" bIns="36917" rtlCol="0" anchor="ctr"/>
          <a:lstStyle/>
          <a:p>
            <a:pPr>
              <a:lnSpc>
                <a:spcPct val="120000"/>
              </a:lnSpc>
            </a:pPr>
            <a:r>
              <a:rPr lang="en-US" sz="1017" dirty="0">
                <a:solidFill>
                  <a:srgbClr val="0071E3"/>
                </a:solidFill>
                <a:latin typeface="Liter" pitchFamily="34" charset="0"/>
                <a:ea typeface="Liter" pitchFamily="34" charset="-122"/>
                <a:cs typeface="Liter" pitchFamily="34" charset="-120"/>
              </a:rPr>
              <a:t>calibrated: true</a:t>
            </a:r>
            <a:endParaRPr lang="en-US" sz="1600" dirty="0"/>
          </a:p>
        </p:txBody>
      </p:sp>
      <p:sp>
        <p:nvSpPr>
          <p:cNvPr id="20" name="Shape 18"/>
          <p:cNvSpPr/>
          <p:nvPr/>
        </p:nvSpPr>
        <p:spPr>
          <a:xfrm>
            <a:off x="1708357" y="4673757"/>
            <a:ext cx="766038" cy="258422"/>
          </a:xfrm>
          <a:custGeom>
            <a:avLst/>
            <a:gdLst/>
            <a:ahLst/>
            <a:cxnLst/>
            <a:rect l="l" t="t" r="r" b="b"/>
            <a:pathLst>
              <a:path w="766038" h="258422">
                <a:moveTo>
                  <a:pt x="129211" y="0"/>
                </a:moveTo>
                <a:lnTo>
                  <a:pt x="636827" y="0"/>
                </a:lnTo>
                <a:cubicBezTo>
                  <a:pt x="708188" y="0"/>
                  <a:pt x="766038" y="57850"/>
                  <a:pt x="766038" y="129211"/>
                </a:cubicBezTo>
                <a:lnTo>
                  <a:pt x="766038" y="129211"/>
                </a:lnTo>
                <a:cubicBezTo>
                  <a:pt x="766038" y="200573"/>
                  <a:pt x="708188" y="258422"/>
                  <a:pt x="636827" y="258422"/>
                </a:cubicBezTo>
                <a:lnTo>
                  <a:pt x="129211" y="258422"/>
                </a:lnTo>
                <a:cubicBezTo>
                  <a:pt x="57850" y="258422"/>
                  <a:pt x="0" y="200573"/>
                  <a:pt x="0" y="129211"/>
                </a:cubicBezTo>
                <a:lnTo>
                  <a:pt x="0" y="129211"/>
                </a:lnTo>
                <a:cubicBezTo>
                  <a:pt x="0" y="57850"/>
                  <a:pt x="57850" y="0"/>
                  <a:pt x="129211" y="0"/>
                </a:cubicBezTo>
                <a:close/>
              </a:path>
            </a:pathLst>
          </a:custGeom>
          <a:solidFill>
            <a:srgbClr val="0071E3">
              <a:alpha val="10196"/>
            </a:srgbClr>
          </a:solidFill>
          <a:ln/>
        </p:spPr>
      </p:sp>
      <p:sp>
        <p:nvSpPr>
          <p:cNvPr id="21" name="Text 19"/>
          <p:cNvSpPr/>
          <p:nvPr/>
        </p:nvSpPr>
        <p:spPr>
          <a:xfrm>
            <a:off x="1708357" y="4673757"/>
            <a:ext cx="830643" cy="258422"/>
          </a:xfrm>
          <a:prstGeom prst="rect">
            <a:avLst/>
          </a:prstGeom>
          <a:noFill/>
          <a:ln/>
        </p:spPr>
        <p:txBody>
          <a:bodyPr wrap="square" lIns="110752" tIns="36917" rIns="110752" bIns="36917" rtlCol="0" anchor="b"/>
          <a:lstStyle/>
          <a:p>
            <a:pPr>
              <a:lnSpc>
                <a:spcPct val="120000"/>
              </a:lnSpc>
            </a:pPr>
            <a:r>
              <a:rPr lang="en-US" sz="1017" dirty="0">
                <a:solidFill>
                  <a:srgbClr val="0071E3"/>
                </a:solidFill>
                <a:latin typeface="Liter" pitchFamily="34" charset="0"/>
                <a:ea typeface="Liter" pitchFamily="34" charset="-122"/>
                <a:cs typeface="Liter" pitchFamily="34" charset="-120"/>
              </a:rPr>
              <a:t>Seuils OK</a:t>
            </a:r>
            <a:endParaRPr lang="en-US" sz="1600" dirty="0"/>
          </a:p>
        </p:txBody>
      </p:sp>
      <p:sp>
        <p:nvSpPr>
          <p:cNvPr id="22" name="Shape 20"/>
          <p:cNvSpPr/>
          <p:nvPr/>
        </p:nvSpPr>
        <p:spPr>
          <a:xfrm>
            <a:off x="372867" y="5275520"/>
            <a:ext cx="5609612" cy="1576377"/>
          </a:xfrm>
          <a:custGeom>
            <a:avLst/>
            <a:gdLst/>
            <a:ahLst/>
            <a:cxnLst/>
            <a:rect l="l" t="t" r="r" b="b"/>
            <a:pathLst>
              <a:path w="5609612" h="1576377">
                <a:moveTo>
                  <a:pt x="147675" y="0"/>
                </a:moveTo>
                <a:lnTo>
                  <a:pt x="5461937" y="0"/>
                </a:lnTo>
                <a:cubicBezTo>
                  <a:pt x="5543496" y="0"/>
                  <a:pt x="5609612" y="66116"/>
                  <a:pt x="5609612" y="147675"/>
                </a:cubicBezTo>
                <a:lnTo>
                  <a:pt x="5609612" y="1428702"/>
                </a:lnTo>
                <a:cubicBezTo>
                  <a:pt x="5609612" y="1510260"/>
                  <a:pt x="5543496" y="1576377"/>
                  <a:pt x="5461937" y="1576377"/>
                </a:cubicBezTo>
                <a:lnTo>
                  <a:pt x="147675" y="1576377"/>
                </a:lnTo>
                <a:cubicBezTo>
                  <a:pt x="66116" y="1576377"/>
                  <a:pt x="0" y="1510260"/>
                  <a:pt x="0" y="1428702"/>
                </a:cubicBezTo>
                <a:lnTo>
                  <a:pt x="0" y="147675"/>
                </a:lnTo>
                <a:cubicBezTo>
                  <a:pt x="0" y="66171"/>
                  <a:pt x="66171" y="0"/>
                  <a:pt x="147675" y="0"/>
                </a:cubicBezTo>
                <a:close/>
              </a:path>
            </a:pathLst>
          </a:custGeom>
          <a:solidFill>
            <a:srgbClr val="FFFFFF"/>
          </a:solidFill>
          <a:ln w="10160">
            <a:solidFill>
              <a:srgbClr val="E5E5E5"/>
            </a:solidFill>
            <a:prstDash val="solid"/>
          </a:ln>
        </p:spPr>
      </p:sp>
      <p:sp>
        <p:nvSpPr>
          <p:cNvPr id="23" name="Shape 21"/>
          <p:cNvSpPr/>
          <p:nvPr/>
        </p:nvSpPr>
        <p:spPr>
          <a:xfrm>
            <a:off x="561146" y="5463788"/>
            <a:ext cx="443010" cy="443010"/>
          </a:xfrm>
          <a:custGeom>
            <a:avLst/>
            <a:gdLst/>
            <a:ahLst/>
            <a:cxnLst/>
            <a:rect l="l" t="t" r="r" b="b"/>
            <a:pathLst>
              <a:path w="443010" h="443010">
                <a:moveTo>
                  <a:pt x="221505" y="0"/>
                </a:moveTo>
                <a:lnTo>
                  <a:pt x="221505" y="0"/>
                </a:lnTo>
                <a:cubicBezTo>
                  <a:pt x="343757" y="0"/>
                  <a:pt x="443010" y="99253"/>
                  <a:pt x="443010" y="221505"/>
                </a:cubicBezTo>
                <a:lnTo>
                  <a:pt x="443010" y="221505"/>
                </a:lnTo>
                <a:cubicBezTo>
                  <a:pt x="443010" y="343757"/>
                  <a:pt x="343757" y="443010"/>
                  <a:pt x="221505" y="443010"/>
                </a:cubicBezTo>
                <a:lnTo>
                  <a:pt x="221505" y="443010"/>
                </a:lnTo>
                <a:cubicBezTo>
                  <a:pt x="99253" y="443010"/>
                  <a:pt x="0" y="343757"/>
                  <a:pt x="0" y="221505"/>
                </a:cubicBezTo>
                <a:lnTo>
                  <a:pt x="0" y="221505"/>
                </a:lnTo>
                <a:cubicBezTo>
                  <a:pt x="0" y="99253"/>
                  <a:pt x="99253" y="0"/>
                  <a:pt x="221505" y="0"/>
                </a:cubicBezTo>
                <a:close/>
              </a:path>
            </a:pathLst>
          </a:custGeom>
          <a:solidFill>
            <a:srgbClr val="2E7D32">
              <a:alpha val="20000"/>
            </a:srgbClr>
          </a:solidFill>
          <a:ln/>
        </p:spPr>
      </p:sp>
      <p:sp>
        <p:nvSpPr>
          <p:cNvPr id="24" name="Text 22"/>
          <p:cNvSpPr/>
          <p:nvPr/>
        </p:nvSpPr>
        <p:spPr>
          <a:xfrm>
            <a:off x="728197" y="5556082"/>
            <a:ext cx="203046" cy="258422"/>
          </a:xfrm>
          <a:prstGeom prst="rect">
            <a:avLst/>
          </a:prstGeom>
          <a:noFill/>
          <a:ln/>
        </p:spPr>
        <p:txBody>
          <a:bodyPr wrap="square" lIns="0" tIns="0" rIns="0" bIns="0" rtlCol="0" anchor="ctr"/>
          <a:lstStyle/>
          <a:p>
            <a:pPr>
              <a:lnSpc>
                <a:spcPct val="120000"/>
              </a:lnSpc>
            </a:pPr>
            <a:r>
              <a:rPr lang="en-US" sz="1453" b="1" dirty="0">
                <a:solidFill>
                  <a:srgbClr val="2E7D32"/>
                </a:solidFill>
                <a:latin typeface="Liter" pitchFamily="34" charset="0"/>
                <a:ea typeface="Liter" pitchFamily="34" charset="-122"/>
                <a:cs typeface="Liter" pitchFamily="34" charset="-120"/>
              </a:rPr>
              <a:t>3</a:t>
            </a:r>
            <a:endParaRPr lang="en-US" sz="1600" dirty="0"/>
          </a:p>
        </p:txBody>
      </p:sp>
      <p:sp>
        <p:nvSpPr>
          <p:cNvPr id="25" name="Text 23"/>
          <p:cNvSpPr/>
          <p:nvPr/>
        </p:nvSpPr>
        <p:spPr>
          <a:xfrm>
            <a:off x="1151826" y="5556082"/>
            <a:ext cx="1522846" cy="258422"/>
          </a:xfrm>
          <a:prstGeom prst="rect">
            <a:avLst/>
          </a:prstGeom>
          <a:noFill/>
          <a:ln/>
        </p:spPr>
        <p:txBody>
          <a:bodyPr wrap="square" lIns="0" tIns="0" rIns="0" bIns="0" rtlCol="0" anchor="ctr"/>
          <a:lstStyle/>
          <a:p>
            <a:pPr>
              <a:lnSpc>
                <a:spcPct val="120000"/>
              </a:lnSpc>
            </a:pPr>
            <a:r>
              <a:rPr lang="en-US" sz="1453" b="1" dirty="0" err="1">
                <a:solidFill>
                  <a:srgbClr val="1D1D1D"/>
                </a:solidFill>
                <a:latin typeface="Liter" pitchFamily="34" charset="0"/>
                <a:ea typeface="Liter" pitchFamily="34" charset="-122"/>
                <a:cs typeface="Liter" pitchFamily="34" charset="-120"/>
              </a:rPr>
              <a:t>Niveau</a:t>
            </a:r>
            <a:r>
              <a:rPr lang="en-US" sz="1453" b="1" dirty="0">
                <a:solidFill>
                  <a:srgbClr val="1D1D1D"/>
                </a:solidFill>
                <a:latin typeface="Liter" pitchFamily="34" charset="0"/>
                <a:ea typeface="Liter" pitchFamily="34" charset="-122"/>
                <a:cs typeface="Liter" pitchFamily="34" charset="-120"/>
              </a:rPr>
              <a:t> NORMAL</a:t>
            </a:r>
            <a:endParaRPr lang="en-US" sz="1600" dirty="0"/>
          </a:p>
        </p:txBody>
      </p:sp>
      <p:sp>
        <p:nvSpPr>
          <p:cNvPr id="26" name="Text 24"/>
          <p:cNvSpPr/>
          <p:nvPr/>
        </p:nvSpPr>
        <p:spPr>
          <a:xfrm>
            <a:off x="561146" y="6054468"/>
            <a:ext cx="5306889" cy="239964"/>
          </a:xfrm>
          <a:prstGeom prst="rect">
            <a:avLst/>
          </a:prstGeom>
          <a:noFill/>
          <a:ln/>
        </p:spPr>
        <p:txBody>
          <a:bodyPr wrap="square" lIns="0" tIns="0" rIns="0" bIns="0" rtlCol="0" anchor="ctr"/>
          <a:lstStyle/>
          <a:p>
            <a:pPr>
              <a:lnSpc>
                <a:spcPct val="140000"/>
              </a:lnSpc>
            </a:pPr>
            <a:r>
              <a:rPr lang="en-US" sz="1163" dirty="0">
                <a:solidFill>
                  <a:srgbClr val="86868B"/>
                </a:solidFill>
                <a:latin typeface="Liter" pitchFamily="34" charset="0"/>
                <a:ea typeface="Liter" pitchFamily="34" charset="-122"/>
                <a:cs typeface="Liter" pitchFamily="34" charset="-120"/>
              </a:rPr>
              <a:t>Simulation niveau bas (&lt;30%) - LED verte allumée, pas d'alarme sonore</a:t>
            </a:r>
            <a:endParaRPr lang="en-US" sz="1600" dirty="0"/>
          </a:p>
        </p:txBody>
      </p:sp>
      <p:sp>
        <p:nvSpPr>
          <p:cNvPr id="27" name="Shape 25"/>
          <p:cNvSpPr/>
          <p:nvPr/>
        </p:nvSpPr>
        <p:spPr>
          <a:xfrm>
            <a:off x="561146" y="6405184"/>
            <a:ext cx="1015231" cy="258422"/>
          </a:xfrm>
          <a:custGeom>
            <a:avLst/>
            <a:gdLst/>
            <a:ahLst/>
            <a:cxnLst/>
            <a:rect l="l" t="t" r="r" b="b"/>
            <a:pathLst>
              <a:path w="1015231" h="258422">
                <a:moveTo>
                  <a:pt x="129211" y="0"/>
                </a:moveTo>
                <a:lnTo>
                  <a:pt x="886020" y="0"/>
                </a:lnTo>
                <a:cubicBezTo>
                  <a:pt x="957381" y="0"/>
                  <a:pt x="1015231" y="57850"/>
                  <a:pt x="1015231" y="129211"/>
                </a:cubicBezTo>
                <a:lnTo>
                  <a:pt x="1015231" y="129211"/>
                </a:lnTo>
                <a:cubicBezTo>
                  <a:pt x="1015231" y="200573"/>
                  <a:pt x="957381" y="258422"/>
                  <a:pt x="886020" y="258422"/>
                </a:cubicBezTo>
                <a:lnTo>
                  <a:pt x="129211" y="258422"/>
                </a:lnTo>
                <a:cubicBezTo>
                  <a:pt x="57850" y="258422"/>
                  <a:pt x="0" y="200573"/>
                  <a:pt x="0" y="129211"/>
                </a:cubicBezTo>
                <a:lnTo>
                  <a:pt x="0" y="129211"/>
                </a:lnTo>
                <a:cubicBezTo>
                  <a:pt x="0" y="57850"/>
                  <a:pt x="57850" y="0"/>
                  <a:pt x="129211" y="0"/>
                </a:cubicBezTo>
                <a:close/>
              </a:path>
            </a:pathLst>
          </a:custGeom>
          <a:solidFill>
            <a:srgbClr val="2E7D32">
              <a:alpha val="10196"/>
            </a:srgbClr>
          </a:solidFill>
          <a:ln/>
        </p:spPr>
      </p:sp>
      <p:sp>
        <p:nvSpPr>
          <p:cNvPr id="28" name="Text 26"/>
          <p:cNvSpPr/>
          <p:nvPr/>
        </p:nvSpPr>
        <p:spPr>
          <a:xfrm>
            <a:off x="561146" y="6405184"/>
            <a:ext cx="1079836" cy="258422"/>
          </a:xfrm>
          <a:prstGeom prst="rect">
            <a:avLst/>
          </a:prstGeom>
          <a:noFill/>
          <a:ln/>
        </p:spPr>
        <p:txBody>
          <a:bodyPr wrap="square" lIns="110752" tIns="36917" rIns="110752" bIns="36917" rtlCol="0" anchor="ctr"/>
          <a:lstStyle/>
          <a:p>
            <a:pPr>
              <a:lnSpc>
                <a:spcPct val="120000"/>
              </a:lnSpc>
            </a:pPr>
            <a:r>
              <a:rPr lang="en-US" sz="1017" dirty="0">
                <a:solidFill>
                  <a:srgbClr val="2E7D32"/>
                </a:solidFill>
                <a:latin typeface="Liter" pitchFamily="34" charset="0"/>
                <a:ea typeface="Liter" pitchFamily="34" charset="-122"/>
                <a:cs typeface="Liter" pitchFamily="34" charset="-120"/>
              </a:rPr>
              <a:t>LED Verte ON</a:t>
            </a:r>
            <a:endParaRPr lang="en-US" sz="1600" dirty="0"/>
          </a:p>
        </p:txBody>
      </p:sp>
      <p:sp>
        <p:nvSpPr>
          <p:cNvPr id="29" name="Shape 27"/>
          <p:cNvSpPr/>
          <p:nvPr/>
        </p:nvSpPr>
        <p:spPr>
          <a:xfrm>
            <a:off x="1647558" y="6405184"/>
            <a:ext cx="1199818" cy="258422"/>
          </a:xfrm>
          <a:custGeom>
            <a:avLst/>
            <a:gdLst/>
            <a:ahLst/>
            <a:cxnLst/>
            <a:rect l="l" t="t" r="r" b="b"/>
            <a:pathLst>
              <a:path w="1199818" h="258422">
                <a:moveTo>
                  <a:pt x="129211" y="0"/>
                </a:moveTo>
                <a:lnTo>
                  <a:pt x="1070607" y="0"/>
                </a:lnTo>
                <a:cubicBezTo>
                  <a:pt x="1141968" y="0"/>
                  <a:pt x="1199818" y="57850"/>
                  <a:pt x="1199818" y="129211"/>
                </a:cubicBezTo>
                <a:lnTo>
                  <a:pt x="1199818" y="129211"/>
                </a:lnTo>
                <a:cubicBezTo>
                  <a:pt x="1199818" y="200573"/>
                  <a:pt x="1141968" y="258422"/>
                  <a:pt x="1070607" y="258422"/>
                </a:cubicBezTo>
                <a:lnTo>
                  <a:pt x="129211" y="258422"/>
                </a:lnTo>
                <a:cubicBezTo>
                  <a:pt x="57850" y="258422"/>
                  <a:pt x="0" y="200573"/>
                  <a:pt x="0" y="129211"/>
                </a:cubicBezTo>
                <a:lnTo>
                  <a:pt x="0" y="129211"/>
                </a:lnTo>
                <a:cubicBezTo>
                  <a:pt x="0" y="57850"/>
                  <a:pt x="57850" y="0"/>
                  <a:pt x="129211" y="0"/>
                </a:cubicBezTo>
                <a:close/>
              </a:path>
            </a:pathLst>
          </a:custGeom>
          <a:solidFill>
            <a:srgbClr val="86868B">
              <a:alpha val="10196"/>
            </a:srgbClr>
          </a:solidFill>
          <a:ln/>
        </p:spPr>
      </p:sp>
      <p:sp>
        <p:nvSpPr>
          <p:cNvPr id="30" name="Text 28"/>
          <p:cNvSpPr/>
          <p:nvPr/>
        </p:nvSpPr>
        <p:spPr>
          <a:xfrm>
            <a:off x="1647558" y="6405184"/>
            <a:ext cx="1264424" cy="258422"/>
          </a:xfrm>
          <a:prstGeom prst="rect">
            <a:avLst/>
          </a:prstGeom>
          <a:noFill/>
          <a:ln/>
        </p:spPr>
        <p:txBody>
          <a:bodyPr wrap="square" lIns="110752" tIns="36917" rIns="110752" bIns="36917" rtlCol="0" anchor="ctr"/>
          <a:lstStyle/>
          <a:p>
            <a:pPr>
              <a:lnSpc>
                <a:spcPct val="120000"/>
              </a:lnSpc>
            </a:pPr>
            <a:r>
              <a:rPr lang="en-US" sz="1017" dirty="0">
                <a:solidFill>
                  <a:srgbClr val="86868B"/>
                </a:solidFill>
                <a:latin typeface="Liter" pitchFamily="34" charset="0"/>
                <a:ea typeface="Liter" pitchFamily="34" charset="-122"/>
                <a:cs typeface="Liter" pitchFamily="34" charset="-120"/>
              </a:rPr>
              <a:t>Buzzer silencieux</a:t>
            </a:r>
            <a:endParaRPr lang="en-US" sz="1600" dirty="0"/>
          </a:p>
        </p:txBody>
      </p:sp>
      <p:sp>
        <p:nvSpPr>
          <p:cNvPr id="31" name="Shape 29"/>
          <p:cNvSpPr/>
          <p:nvPr/>
        </p:nvSpPr>
        <p:spPr>
          <a:xfrm>
            <a:off x="6209867" y="1332721"/>
            <a:ext cx="5609612" cy="1576377"/>
          </a:xfrm>
          <a:custGeom>
            <a:avLst/>
            <a:gdLst/>
            <a:ahLst/>
            <a:cxnLst/>
            <a:rect l="l" t="t" r="r" b="b"/>
            <a:pathLst>
              <a:path w="5609612" h="1576377">
                <a:moveTo>
                  <a:pt x="147675" y="0"/>
                </a:moveTo>
                <a:lnTo>
                  <a:pt x="5461937" y="0"/>
                </a:lnTo>
                <a:cubicBezTo>
                  <a:pt x="5543496" y="0"/>
                  <a:pt x="5609612" y="66116"/>
                  <a:pt x="5609612" y="147675"/>
                </a:cubicBezTo>
                <a:lnTo>
                  <a:pt x="5609612" y="1428702"/>
                </a:lnTo>
                <a:cubicBezTo>
                  <a:pt x="5609612" y="1510260"/>
                  <a:pt x="5543496" y="1576377"/>
                  <a:pt x="5461937" y="1576377"/>
                </a:cubicBezTo>
                <a:lnTo>
                  <a:pt x="147675" y="1576377"/>
                </a:lnTo>
                <a:cubicBezTo>
                  <a:pt x="66116" y="1576377"/>
                  <a:pt x="0" y="1510260"/>
                  <a:pt x="0" y="1428702"/>
                </a:cubicBezTo>
                <a:lnTo>
                  <a:pt x="0" y="147675"/>
                </a:lnTo>
                <a:cubicBezTo>
                  <a:pt x="0" y="66171"/>
                  <a:pt x="66171" y="0"/>
                  <a:pt x="147675" y="0"/>
                </a:cubicBezTo>
                <a:close/>
              </a:path>
            </a:pathLst>
          </a:custGeom>
          <a:solidFill>
            <a:srgbClr val="FFFFFF"/>
          </a:solidFill>
          <a:ln w="10160">
            <a:solidFill>
              <a:srgbClr val="E5E5E5"/>
            </a:solidFill>
            <a:prstDash val="solid"/>
          </a:ln>
        </p:spPr>
      </p:sp>
      <p:sp>
        <p:nvSpPr>
          <p:cNvPr id="32" name="Shape 30"/>
          <p:cNvSpPr/>
          <p:nvPr/>
        </p:nvSpPr>
        <p:spPr>
          <a:xfrm>
            <a:off x="6398146" y="1521008"/>
            <a:ext cx="443010" cy="443010"/>
          </a:xfrm>
          <a:custGeom>
            <a:avLst/>
            <a:gdLst/>
            <a:ahLst/>
            <a:cxnLst/>
            <a:rect l="l" t="t" r="r" b="b"/>
            <a:pathLst>
              <a:path w="443010" h="443010">
                <a:moveTo>
                  <a:pt x="221505" y="0"/>
                </a:moveTo>
                <a:lnTo>
                  <a:pt x="221505" y="0"/>
                </a:lnTo>
                <a:cubicBezTo>
                  <a:pt x="343757" y="0"/>
                  <a:pt x="443010" y="99253"/>
                  <a:pt x="443010" y="221505"/>
                </a:cubicBezTo>
                <a:lnTo>
                  <a:pt x="443010" y="221505"/>
                </a:lnTo>
                <a:cubicBezTo>
                  <a:pt x="443010" y="343757"/>
                  <a:pt x="343757" y="443010"/>
                  <a:pt x="221505" y="443010"/>
                </a:cubicBezTo>
                <a:lnTo>
                  <a:pt x="221505" y="443010"/>
                </a:lnTo>
                <a:cubicBezTo>
                  <a:pt x="99253" y="443010"/>
                  <a:pt x="0" y="343757"/>
                  <a:pt x="0" y="221505"/>
                </a:cubicBezTo>
                <a:lnTo>
                  <a:pt x="0" y="221505"/>
                </a:lnTo>
                <a:cubicBezTo>
                  <a:pt x="0" y="99253"/>
                  <a:pt x="99253" y="0"/>
                  <a:pt x="221505" y="0"/>
                </a:cubicBezTo>
                <a:close/>
              </a:path>
            </a:pathLst>
          </a:custGeom>
          <a:solidFill>
            <a:srgbClr val="EF6C00">
              <a:alpha val="20000"/>
            </a:srgbClr>
          </a:solidFill>
          <a:ln/>
        </p:spPr>
      </p:sp>
      <p:sp>
        <p:nvSpPr>
          <p:cNvPr id="33" name="Text 31"/>
          <p:cNvSpPr/>
          <p:nvPr/>
        </p:nvSpPr>
        <p:spPr>
          <a:xfrm>
            <a:off x="6565198" y="1613301"/>
            <a:ext cx="203046" cy="258422"/>
          </a:xfrm>
          <a:prstGeom prst="rect">
            <a:avLst/>
          </a:prstGeom>
          <a:noFill/>
          <a:ln/>
        </p:spPr>
        <p:txBody>
          <a:bodyPr wrap="square" lIns="0" tIns="0" rIns="0" bIns="0" rtlCol="0" anchor="ctr"/>
          <a:lstStyle/>
          <a:p>
            <a:pPr>
              <a:lnSpc>
                <a:spcPct val="120000"/>
              </a:lnSpc>
            </a:pPr>
            <a:r>
              <a:rPr lang="en-US" sz="1453" b="1" dirty="0">
                <a:solidFill>
                  <a:srgbClr val="EF6C00"/>
                </a:solidFill>
                <a:latin typeface="Liter" pitchFamily="34" charset="0"/>
                <a:ea typeface="Liter" pitchFamily="34" charset="-122"/>
                <a:cs typeface="Liter" pitchFamily="34" charset="-120"/>
              </a:rPr>
              <a:t>4</a:t>
            </a:r>
            <a:endParaRPr lang="en-US" sz="1600" dirty="0"/>
          </a:p>
        </p:txBody>
      </p:sp>
      <p:sp>
        <p:nvSpPr>
          <p:cNvPr id="34" name="Text 32"/>
          <p:cNvSpPr/>
          <p:nvPr/>
        </p:nvSpPr>
        <p:spPr>
          <a:xfrm>
            <a:off x="6988826" y="1613301"/>
            <a:ext cx="1642828" cy="258422"/>
          </a:xfrm>
          <a:prstGeom prst="rect">
            <a:avLst/>
          </a:prstGeom>
          <a:noFill/>
          <a:ln/>
        </p:spPr>
        <p:txBody>
          <a:bodyPr wrap="square" lIns="0" tIns="0" rIns="0" bIns="0" rtlCol="0" anchor="ctr"/>
          <a:lstStyle/>
          <a:p>
            <a:pPr>
              <a:lnSpc>
                <a:spcPct val="120000"/>
              </a:lnSpc>
            </a:pPr>
            <a:r>
              <a:rPr lang="en-US" sz="1453" b="1" dirty="0">
                <a:solidFill>
                  <a:srgbClr val="1D1D1D"/>
                </a:solidFill>
                <a:latin typeface="Liter" pitchFamily="34" charset="0"/>
                <a:ea typeface="Liter" pitchFamily="34" charset="-122"/>
                <a:cs typeface="Liter" pitchFamily="34" charset="-120"/>
              </a:rPr>
              <a:t>Niveau VIGILANCE</a:t>
            </a:r>
            <a:endParaRPr lang="en-US" sz="1600" dirty="0"/>
          </a:p>
        </p:txBody>
      </p:sp>
      <p:sp>
        <p:nvSpPr>
          <p:cNvPr id="35" name="Text 33"/>
          <p:cNvSpPr/>
          <p:nvPr/>
        </p:nvSpPr>
        <p:spPr>
          <a:xfrm>
            <a:off x="6398146" y="2111687"/>
            <a:ext cx="5306889" cy="239964"/>
          </a:xfrm>
          <a:prstGeom prst="rect">
            <a:avLst/>
          </a:prstGeom>
          <a:noFill/>
          <a:ln/>
        </p:spPr>
        <p:txBody>
          <a:bodyPr wrap="square" lIns="0" tIns="0" rIns="0" bIns="0" rtlCol="0" anchor="ctr"/>
          <a:lstStyle/>
          <a:p>
            <a:pPr>
              <a:lnSpc>
                <a:spcPct val="140000"/>
              </a:lnSpc>
            </a:pPr>
            <a:r>
              <a:rPr lang="en-US" sz="1163" dirty="0">
                <a:solidFill>
                  <a:srgbClr val="86868B"/>
                </a:solidFill>
                <a:latin typeface="Liter" pitchFamily="34" charset="0"/>
                <a:ea typeface="Liter" pitchFamily="34" charset="-122"/>
                <a:cs typeface="Liter" pitchFamily="34" charset="-120"/>
              </a:rPr>
              <a:t>Simulation vigilance (30-50%) - LED jaune allumée, surveillance recommandée</a:t>
            </a:r>
            <a:endParaRPr lang="en-US" sz="1600" dirty="0"/>
          </a:p>
        </p:txBody>
      </p:sp>
      <p:sp>
        <p:nvSpPr>
          <p:cNvPr id="36" name="Shape 34"/>
          <p:cNvSpPr/>
          <p:nvPr/>
        </p:nvSpPr>
        <p:spPr>
          <a:xfrm>
            <a:off x="6398146" y="2462404"/>
            <a:ext cx="1042919" cy="258422"/>
          </a:xfrm>
          <a:custGeom>
            <a:avLst/>
            <a:gdLst/>
            <a:ahLst/>
            <a:cxnLst/>
            <a:rect l="l" t="t" r="r" b="b"/>
            <a:pathLst>
              <a:path w="1042919" h="258422">
                <a:moveTo>
                  <a:pt x="129211" y="0"/>
                </a:moveTo>
                <a:lnTo>
                  <a:pt x="913708" y="0"/>
                </a:lnTo>
                <a:cubicBezTo>
                  <a:pt x="985069" y="0"/>
                  <a:pt x="1042919" y="57850"/>
                  <a:pt x="1042919" y="129211"/>
                </a:cubicBezTo>
                <a:lnTo>
                  <a:pt x="1042919" y="129211"/>
                </a:lnTo>
                <a:cubicBezTo>
                  <a:pt x="1042919" y="200573"/>
                  <a:pt x="985069" y="258422"/>
                  <a:pt x="913708" y="258422"/>
                </a:cubicBezTo>
                <a:lnTo>
                  <a:pt x="129211" y="258422"/>
                </a:lnTo>
                <a:cubicBezTo>
                  <a:pt x="57850" y="258422"/>
                  <a:pt x="0" y="200573"/>
                  <a:pt x="0" y="129211"/>
                </a:cubicBezTo>
                <a:lnTo>
                  <a:pt x="0" y="129211"/>
                </a:lnTo>
                <a:cubicBezTo>
                  <a:pt x="0" y="57850"/>
                  <a:pt x="57850" y="0"/>
                  <a:pt x="129211" y="0"/>
                </a:cubicBezTo>
                <a:close/>
              </a:path>
            </a:pathLst>
          </a:custGeom>
          <a:solidFill>
            <a:srgbClr val="EF6C00">
              <a:alpha val="10196"/>
            </a:srgbClr>
          </a:solidFill>
          <a:ln/>
        </p:spPr>
      </p:sp>
      <p:sp>
        <p:nvSpPr>
          <p:cNvPr id="37" name="Text 35"/>
          <p:cNvSpPr/>
          <p:nvPr/>
        </p:nvSpPr>
        <p:spPr>
          <a:xfrm>
            <a:off x="6398146" y="2462404"/>
            <a:ext cx="1107525" cy="258422"/>
          </a:xfrm>
          <a:prstGeom prst="rect">
            <a:avLst/>
          </a:prstGeom>
          <a:noFill/>
          <a:ln/>
        </p:spPr>
        <p:txBody>
          <a:bodyPr wrap="square" lIns="110752" tIns="36917" rIns="110752" bIns="36917" rtlCol="0" anchor="ctr"/>
          <a:lstStyle/>
          <a:p>
            <a:pPr>
              <a:lnSpc>
                <a:spcPct val="120000"/>
              </a:lnSpc>
            </a:pPr>
            <a:r>
              <a:rPr lang="en-US" sz="1017" dirty="0">
                <a:solidFill>
                  <a:srgbClr val="EF6C00"/>
                </a:solidFill>
                <a:latin typeface="Liter" pitchFamily="34" charset="0"/>
                <a:ea typeface="Liter" pitchFamily="34" charset="-122"/>
                <a:cs typeface="Liter" pitchFamily="34" charset="-120"/>
              </a:rPr>
              <a:t>LED Jaune ON</a:t>
            </a:r>
            <a:endParaRPr lang="en-US" sz="1600" dirty="0"/>
          </a:p>
        </p:txBody>
      </p:sp>
      <p:sp>
        <p:nvSpPr>
          <p:cNvPr id="38" name="Shape 36"/>
          <p:cNvSpPr/>
          <p:nvPr/>
        </p:nvSpPr>
        <p:spPr>
          <a:xfrm>
            <a:off x="7516516" y="2462404"/>
            <a:ext cx="1199818" cy="258422"/>
          </a:xfrm>
          <a:custGeom>
            <a:avLst/>
            <a:gdLst/>
            <a:ahLst/>
            <a:cxnLst/>
            <a:rect l="l" t="t" r="r" b="b"/>
            <a:pathLst>
              <a:path w="1199818" h="258422">
                <a:moveTo>
                  <a:pt x="129211" y="0"/>
                </a:moveTo>
                <a:lnTo>
                  <a:pt x="1070607" y="0"/>
                </a:lnTo>
                <a:cubicBezTo>
                  <a:pt x="1141968" y="0"/>
                  <a:pt x="1199818" y="57850"/>
                  <a:pt x="1199818" y="129211"/>
                </a:cubicBezTo>
                <a:lnTo>
                  <a:pt x="1199818" y="129211"/>
                </a:lnTo>
                <a:cubicBezTo>
                  <a:pt x="1199818" y="200573"/>
                  <a:pt x="1141968" y="258422"/>
                  <a:pt x="1070607" y="258422"/>
                </a:cubicBezTo>
                <a:lnTo>
                  <a:pt x="129211" y="258422"/>
                </a:lnTo>
                <a:cubicBezTo>
                  <a:pt x="57850" y="258422"/>
                  <a:pt x="0" y="200573"/>
                  <a:pt x="0" y="129211"/>
                </a:cubicBezTo>
                <a:lnTo>
                  <a:pt x="0" y="129211"/>
                </a:lnTo>
                <a:cubicBezTo>
                  <a:pt x="0" y="57850"/>
                  <a:pt x="57850" y="0"/>
                  <a:pt x="129211" y="0"/>
                </a:cubicBezTo>
                <a:close/>
              </a:path>
            </a:pathLst>
          </a:custGeom>
          <a:solidFill>
            <a:srgbClr val="86868B">
              <a:alpha val="10196"/>
            </a:srgbClr>
          </a:solidFill>
          <a:ln/>
        </p:spPr>
      </p:sp>
      <p:sp>
        <p:nvSpPr>
          <p:cNvPr id="39" name="Text 37"/>
          <p:cNvSpPr/>
          <p:nvPr/>
        </p:nvSpPr>
        <p:spPr>
          <a:xfrm>
            <a:off x="7516516" y="2462404"/>
            <a:ext cx="1264424" cy="258422"/>
          </a:xfrm>
          <a:prstGeom prst="rect">
            <a:avLst/>
          </a:prstGeom>
          <a:noFill/>
          <a:ln/>
        </p:spPr>
        <p:txBody>
          <a:bodyPr wrap="square" lIns="110752" tIns="36917" rIns="110752" bIns="36917" rtlCol="0" anchor="ctr"/>
          <a:lstStyle/>
          <a:p>
            <a:pPr>
              <a:lnSpc>
                <a:spcPct val="120000"/>
              </a:lnSpc>
            </a:pPr>
            <a:r>
              <a:rPr lang="en-US" sz="1017" dirty="0">
                <a:solidFill>
                  <a:srgbClr val="86868B"/>
                </a:solidFill>
                <a:latin typeface="Liter" pitchFamily="34" charset="0"/>
                <a:ea typeface="Liter" pitchFamily="34" charset="-122"/>
                <a:cs typeface="Liter" pitchFamily="34" charset="-120"/>
              </a:rPr>
              <a:t>Buzzer silencieux</a:t>
            </a:r>
            <a:endParaRPr lang="en-US" sz="1600" dirty="0"/>
          </a:p>
        </p:txBody>
      </p:sp>
      <p:sp>
        <p:nvSpPr>
          <p:cNvPr id="40" name="Shape 38"/>
          <p:cNvSpPr/>
          <p:nvPr/>
        </p:nvSpPr>
        <p:spPr>
          <a:xfrm>
            <a:off x="6213559" y="3067840"/>
            <a:ext cx="5598537" cy="1583760"/>
          </a:xfrm>
          <a:custGeom>
            <a:avLst/>
            <a:gdLst/>
            <a:ahLst/>
            <a:cxnLst/>
            <a:rect l="l" t="t" r="r" b="b"/>
            <a:pathLst>
              <a:path w="5598537" h="1583760">
                <a:moveTo>
                  <a:pt x="147670" y="0"/>
                </a:moveTo>
                <a:lnTo>
                  <a:pt x="5450867" y="0"/>
                </a:lnTo>
                <a:cubicBezTo>
                  <a:pt x="5532423" y="0"/>
                  <a:pt x="5598537" y="66114"/>
                  <a:pt x="5598537" y="147670"/>
                </a:cubicBezTo>
                <a:lnTo>
                  <a:pt x="5598537" y="1436090"/>
                </a:lnTo>
                <a:cubicBezTo>
                  <a:pt x="5598537" y="1517646"/>
                  <a:pt x="5532423" y="1583760"/>
                  <a:pt x="5450867" y="1583760"/>
                </a:cubicBezTo>
                <a:lnTo>
                  <a:pt x="147670" y="1583760"/>
                </a:lnTo>
                <a:cubicBezTo>
                  <a:pt x="66114" y="1583760"/>
                  <a:pt x="0" y="1517646"/>
                  <a:pt x="0" y="1436090"/>
                </a:cubicBezTo>
                <a:lnTo>
                  <a:pt x="0" y="147670"/>
                </a:lnTo>
                <a:cubicBezTo>
                  <a:pt x="0" y="66114"/>
                  <a:pt x="66114" y="0"/>
                  <a:pt x="147670" y="0"/>
                </a:cubicBezTo>
                <a:close/>
              </a:path>
            </a:pathLst>
          </a:custGeom>
          <a:solidFill>
            <a:srgbClr val="FFFFFF"/>
          </a:solidFill>
          <a:ln w="20320">
            <a:solidFill>
              <a:srgbClr val="B71C1C"/>
            </a:solidFill>
            <a:prstDash val="solid"/>
          </a:ln>
        </p:spPr>
      </p:sp>
      <p:sp>
        <p:nvSpPr>
          <p:cNvPr id="41" name="Shape 39"/>
          <p:cNvSpPr/>
          <p:nvPr/>
        </p:nvSpPr>
        <p:spPr>
          <a:xfrm>
            <a:off x="6405530" y="3259825"/>
            <a:ext cx="443010" cy="443010"/>
          </a:xfrm>
          <a:custGeom>
            <a:avLst/>
            <a:gdLst/>
            <a:ahLst/>
            <a:cxnLst/>
            <a:rect l="l" t="t" r="r" b="b"/>
            <a:pathLst>
              <a:path w="443010" h="443010">
                <a:moveTo>
                  <a:pt x="221505" y="0"/>
                </a:moveTo>
                <a:lnTo>
                  <a:pt x="221505" y="0"/>
                </a:lnTo>
                <a:cubicBezTo>
                  <a:pt x="343757" y="0"/>
                  <a:pt x="443010" y="99253"/>
                  <a:pt x="443010" y="221505"/>
                </a:cubicBezTo>
                <a:lnTo>
                  <a:pt x="443010" y="221505"/>
                </a:lnTo>
                <a:cubicBezTo>
                  <a:pt x="443010" y="343757"/>
                  <a:pt x="343757" y="443010"/>
                  <a:pt x="221505" y="443010"/>
                </a:cubicBezTo>
                <a:lnTo>
                  <a:pt x="221505" y="443010"/>
                </a:lnTo>
                <a:cubicBezTo>
                  <a:pt x="99253" y="443010"/>
                  <a:pt x="0" y="343757"/>
                  <a:pt x="0" y="221505"/>
                </a:cubicBezTo>
                <a:lnTo>
                  <a:pt x="0" y="221505"/>
                </a:lnTo>
                <a:cubicBezTo>
                  <a:pt x="0" y="99253"/>
                  <a:pt x="99253" y="0"/>
                  <a:pt x="221505" y="0"/>
                </a:cubicBezTo>
                <a:close/>
              </a:path>
            </a:pathLst>
          </a:custGeom>
          <a:solidFill>
            <a:srgbClr val="B71C1C">
              <a:alpha val="20000"/>
            </a:srgbClr>
          </a:solidFill>
          <a:ln/>
        </p:spPr>
      </p:sp>
      <p:sp>
        <p:nvSpPr>
          <p:cNvPr id="42" name="Text 40"/>
          <p:cNvSpPr/>
          <p:nvPr/>
        </p:nvSpPr>
        <p:spPr>
          <a:xfrm>
            <a:off x="6573851" y="3352119"/>
            <a:ext cx="203046" cy="258422"/>
          </a:xfrm>
          <a:prstGeom prst="rect">
            <a:avLst/>
          </a:prstGeom>
          <a:noFill/>
          <a:ln/>
        </p:spPr>
        <p:txBody>
          <a:bodyPr wrap="square" lIns="0" tIns="0" rIns="0" bIns="0" rtlCol="0" anchor="ctr"/>
          <a:lstStyle/>
          <a:p>
            <a:pPr>
              <a:lnSpc>
                <a:spcPct val="120000"/>
              </a:lnSpc>
            </a:pPr>
            <a:r>
              <a:rPr lang="en-US" sz="1453" b="1" dirty="0">
                <a:solidFill>
                  <a:srgbClr val="B71C1C"/>
                </a:solidFill>
                <a:latin typeface="Liter" pitchFamily="34" charset="0"/>
                <a:ea typeface="Liter" pitchFamily="34" charset="-122"/>
                <a:cs typeface="Liter" pitchFamily="34" charset="-120"/>
              </a:rPr>
              <a:t>5</a:t>
            </a:r>
            <a:endParaRPr lang="en-US" sz="1600" dirty="0"/>
          </a:p>
        </p:txBody>
      </p:sp>
      <p:sp>
        <p:nvSpPr>
          <p:cNvPr id="43" name="Text 41"/>
          <p:cNvSpPr/>
          <p:nvPr/>
        </p:nvSpPr>
        <p:spPr>
          <a:xfrm>
            <a:off x="6996210" y="3352119"/>
            <a:ext cx="1467470" cy="258422"/>
          </a:xfrm>
          <a:prstGeom prst="rect">
            <a:avLst/>
          </a:prstGeom>
          <a:noFill/>
          <a:ln/>
        </p:spPr>
        <p:txBody>
          <a:bodyPr wrap="square" lIns="0" tIns="0" rIns="0" bIns="0" rtlCol="0" anchor="ctr"/>
          <a:lstStyle/>
          <a:p>
            <a:pPr>
              <a:lnSpc>
                <a:spcPct val="120000"/>
              </a:lnSpc>
            </a:pPr>
            <a:r>
              <a:rPr lang="en-US" sz="1453" b="1" dirty="0" err="1">
                <a:solidFill>
                  <a:srgbClr val="1D1D1D"/>
                </a:solidFill>
                <a:latin typeface="Liter" pitchFamily="34" charset="0"/>
                <a:ea typeface="Liter" pitchFamily="34" charset="-122"/>
                <a:cs typeface="Liter" pitchFamily="34" charset="-120"/>
              </a:rPr>
              <a:t>Niveau</a:t>
            </a:r>
            <a:r>
              <a:rPr lang="en-US" sz="1453" b="1" dirty="0">
                <a:solidFill>
                  <a:srgbClr val="1D1D1D"/>
                </a:solidFill>
                <a:latin typeface="Liter" pitchFamily="34" charset="0"/>
                <a:ea typeface="Liter" pitchFamily="34" charset="-122"/>
                <a:cs typeface="Liter" pitchFamily="34" charset="-120"/>
              </a:rPr>
              <a:t> CRITIQUE</a:t>
            </a:r>
            <a:endParaRPr lang="en-US" sz="1600" dirty="0"/>
          </a:p>
        </p:txBody>
      </p:sp>
      <p:sp>
        <p:nvSpPr>
          <p:cNvPr id="44" name="Text 42"/>
          <p:cNvSpPr/>
          <p:nvPr/>
        </p:nvSpPr>
        <p:spPr>
          <a:xfrm>
            <a:off x="6405530" y="3850505"/>
            <a:ext cx="5288430" cy="239964"/>
          </a:xfrm>
          <a:prstGeom prst="rect">
            <a:avLst/>
          </a:prstGeom>
          <a:noFill/>
          <a:ln/>
        </p:spPr>
        <p:txBody>
          <a:bodyPr wrap="square" lIns="0" tIns="0" rIns="0" bIns="0" rtlCol="0" anchor="ctr"/>
          <a:lstStyle/>
          <a:p>
            <a:pPr>
              <a:lnSpc>
                <a:spcPct val="140000"/>
              </a:lnSpc>
            </a:pPr>
            <a:r>
              <a:rPr lang="en-US" sz="1163" dirty="0">
                <a:solidFill>
                  <a:srgbClr val="86868B"/>
                </a:solidFill>
                <a:latin typeface="Liter" pitchFamily="34" charset="0"/>
                <a:ea typeface="Liter" pitchFamily="34" charset="-122"/>
                <a:cs typeface="Liter" pitchFamily="34" charset="-120"/>
              </a:rPr>
              <a:t>Simulation niveau élevé (&gt;50%) - LED rouge + buzzer intermittent 120ms</a:t>
            </a:r>
            <a:endParaRPr lang="en-US" sz="1600" dirty="0"/>
          </a:p>
        </p:txBody>
      </p:sp>
      <p:sp>
        <p:nvSpPr>
          <p:cNvPr id="45" name="Shape 43"/>
          <p:cNvSpPr/>
          <p:nvPr/>
        </p:nvSpPr>
        <p:spPr>
          <a:xfrm>
            <a:off x="6405530" y="4201221"/>
            <a:ext cx="1070607" cy="258422"/>
          </a:xfrm>
          <a:custGeom>
            <a:avLst/>
            <a:gdLst/>
            <a:ahLst/>
            <a:cxnLst/>
            <a:rect l="l" t="t" r="r" b="b"/>
            <a:pathLst>
              <a:path w="1070607" h="258422">
                <a:moveTo>
                  <a:pt x="129211" y="0"/>
                </a:moveTo>
                <a:lnTo>
                  <a:pt x="941396" y="0"/>
                </a:lnTo>
                <a:cubicBezTo>
                  <a:pt x="1012757" y="0"/>
                  <a:pt x="1070607" y="57850"/>
                  <a:pt x="1070607" y="129211"/>
                </a:cubicBezTo>
                <a:lnTo>
                  <a:pt x="1070607" y="129211"/>
                </a:lnTo>
                <a:cubicBezTo>
                  <a:pt x="1070607" y="200573"/>
                  <a:pt x="1012757" y="258422"/>
                  <a:pt x="941396" y="258422"/>
                </a:cubicBezTo>
                <a:lnTo>
                  <a:pt x="129211" y="258422"/>
                </a:lnTo>
                <a:cubicBezTo>
                  <a:pt x="57850" y="258422"/>
                  <a:pt x="0" y="200573"/>
                  <a:pt x="0" y="129211"/>
                </a:cubicBezTo>
                <a:lnTo>
                  <a:pt x="0" y="129211"/>
                </a:lnTo>
                <a:cubicBezTo>
                  <a:pt x="0" y="57850"/>
                  <a:pt x="57850" y="0"/>
                  <a:pt x="129211" y="0"/>
                </a:cubicBezTo>
                <a:close/>
              </a:path>
            </a:pathLst>
          </a:custGeom>
          <a:solidFill>
            <a:srgbClr val="B71C1C">
              <a:alpha val="10196"/>
            </a:srgbClr>
          </a:solidFill>
          <a:ln/>
        </p:spPr>
      </p:sp>
      <p:sp>
        <p:nvSpPr>
          <p:cNvPr id="46" name="Text 44"/>
          <p:cNvSpPr/>
          <p:nvPr/>
        </p:nvSpPr>
        <p:spPr>
          <a:xfrm>
            <a:off x="6405530" y="4201221"/>
            <a:ext cx="1135213" cy="258422"/>
          </a:xfrm>
          <a:prstGeom prst="rect">
            <a:avLst/>
          </a:prstGeom>
          <a:noFill/>
          <a:ln/>
        </p:spPr>
        <p:txBody>
          <a:bodyPr wrap="square" lIns="110752" tIns="36917" rIns="110752" bIns="36917" rtlCol="0" anchor="ctr"/>
          <a:lstStyle/>
          <a:p>
            <a:pPr>
              <a:lnSpc>
                <a:spcPct val="120000"/>
              </a:lnSpc>
            </a:pPr>
            <a:r>
              <a:rPr lang="en-US" sz="1017" dirty="0">
                <a:solidFill>
                  <a:srgbClr val="B71C1C"/>
                </a:solidFill>
                <a:latin typeface="Liter" pitchFamily="34" charset="0"/>
                <a:ea typeface="Liter" pitchFamily="34" charset="-122"/>
                <a:cs typeface="Liter" pitchFamily="34" charset="-120"/>
              </a:rPr>
              <a:t>LED Rouge ON</a:t>
            </a:r>
            <a:endParaRPr lang="en-US" sz="1600" dirty="0"/>
          </a:p>
        </p:txBody>
      </p:sp>
      <p:sp>
        <p:nvSpPr>
          <p:cNvPr id="47" name="Shape 45"/>
          <p:cNvSpPr/>
          <p:nvPr/>
        </p:nvSpPr>
        <p:spPr>
          <a:xfrm>
            <a:off x="7545588" y="4201221"/>
            <a:ext cx="904478" cy="258422"/>
          </a:xfrm>
          <a:custGeom>
            <a:avLst/>
            <a:gdLst/>
            <a:ahLst/>
            <a:cxnLst/>
            <a:rect l="l" t="t" r="r" b="b"/>
            <a:pathLst>
              <a:path w="904478" h="258422">
                <a:moveTo>
                  <a:pt x="129211" y="0"/>
                </a:moveTo>
                <a:lnTo>
                  <a:pt x="775267" y="0"/>
                </a:lnTo>
                <a:cubicBezTo>
                  <a:pt x="846629" y="0"/>
                  <a:pt x="904478" y="57850"/>
                  <a:pt x="904478" y="129211"/>
                </a:cubicBezTo>
                <a:lnTo>
                  <a:pt x="904478" y="129211"/>
                </a:lnTo>
                <a:cubicBezTo>
                  <a:pt x="904478" y="200573"/>
                  <a:pt x="846629" y="258422"/>
                  <a:pt x="775267" y="258422"/>
                </a:cubicBezTo>
                <a:lnTo>
                  <a:pt x="129211" y="258422"/>
                </a:lnTo>
                <a:cubicBezTo>
                  <a:pt x="57850" y="258422"/>
                  <a:pt x="0" y="200573"/>
                  <a:pt x="0" y="129211"/>
                </a:cubicBezTo>
                <a:lnTo>
                  <a:pt x="0" y="129211"/>
                </a:lnTo>
                <a:cubicBezTo>
                  <a:pt x="0" y="57850"/>
                  <a:pt x="57850" y="0"/>
                  <a:pt x="129211" y="0"/>
                </a:cubicBezTo>
                <a:close/>
              </a:path>
            </a:pathLst>
          </a:custGeom>
          <a:solidFill>
            <a:srgbClr val="B71C1C">
              <a:alpha val="10196"/>
            </a:srgbClr>
          </a:solidFill>
          <a:ln/>
        </p:spPr>
      </p:sp>
      <p:sp>
        <p:nvSpPr>
          <p:cNvPr id="48" name="Text 46"/>
          <p:cNvSpPr/>
          <p:nvPr/>
        </p:nvSpPr>
        <p:spPr>
          <a:xfrm>
            <a:off x="7545588" y="4201221"/>
            <a:ext cx="969084" cy="258422"/>
          </a:xfrm>
          <a:prstGeom prst="rect">
            <a:avLst/>
          </a:prstGeom>
          <a:noFill/>
          <a:ln/>
        </p:spPr>
        <p:txBody>
          <a:bodyPr wrap="square" lIns="110752" tIns="36917" rIns="110752" bIns="36917" rtlCol="0" anchor="ctr"/>
          <a:lstStyle/>
          <a:p>
            <a:pPr>
              <a:lnSpc>
                <a:spcPct val="120000"/>
              </a:lnSpc>
            </a:pPr>
            <a:r>
              <a:rPr lang="en-US" sz="1017" dirty="0">
                <a:solidFill>
                  <a:srgbClr val="B71C1C"/>
                </a:solidFill>
                <a:latin typeface="Liter" pitchFamily="34" charset="0"/>
                <a:ea typeface="Liter" pitchFamily="34" charset="-122"/>
                <a:cs typeface="Liter" pitchFamily="34" charset="-120"/>
              </a:rPr>
              <a:t>Buzzer Actif</a:t>
            </a:r>
            <a:endParaRPr lang="en-US" sz="1600" dirty="0"/>
          </a:p>
        </p:txBody>
      </p:sp>
      <p:sp>
        <p:nvSpPr>
          <p:cNvPr id="49" name="Shape 47"/>
          <p:cNvSpPr/>
          <p:nvPr/>
        </p:nvSpPr>
        <p:spPr>
          <a:xfrm>
            <a:off x="6209867" y="4810356"/>
            <a:ext cx="5609612" cy="1576377"/>
          </a:xfrm>
          <a:custGeom>
            <a:avLst/>
            <a:gdLst/>
            <a:ahLst/>
            <a:cxnLst/>
            <a:rect l="l" t="t" r="r" b="b"/>
            <a:pathLst>
              <a:path w="5609612" h="1576377">
                <a:moveTo>
                  <a:pt x="147675" y="0"/>
                </a:moveTo>
                <a:lnTo>
                  <a:pt x="5461937" y="0"/>
                </a:lnTo>
                <a:cubicBezTo>
                  <a:pt x="5543496" y="0"/>
                  <a:pt x="5609612" y="66116"/>
                  <a:pt x="5609612" y="147675"/>
                </a:cubicBezTo>
                <a:lnTo>
                  <a:pt x="5609612" y="1428702"/>
                </a:lnTo>
                <a:cubicBezTo>
                  <a:pt x="5609612" y="1510260"/>
                  <a:pt x="5543496" y="1576377"/>
                  <a:pt x="5461937" y="1576377"/>
                </a:cubicBezTo>
                <a:lnTo>
                  <a:pt x="147675" y="1576377"/>
                </a:lnTo>
                <a:cubicBezTo>
                  <a:pt x="66116" y="1576377"/>
                  <a:pt x="0" y="1510260"/>
                  <a:pt x="0" y="1428702"/>
                </a:cubicBezTo>
                <a:lnTo>
                  <a:pt x="0" y="147675"/>
                </a:lnTo>
                <a:cubicBezTo>
                  <a:pt x="0" y="66171"/>
                  <a:pt x="66171" y="0"/>
                  <a:pt x="147675" y="0"/>
                </a:cubicBezTo>
                <a:close/>
              </a:path>
            </a:pathLst>
          </a:custGeom>
          <a:solidFill>
            <a:srgbClr val="FFFFFF"/>
          </a:solidFill>
          <a:ln w="10160">
            <a:solidFill>
              <a:srgbClr val="E5E5E5"/>
            </a:solidFill>
            <a:prstDash val="solid"/>
          </a:ln>
        </p:spPr>
      </p:sp>
      <p:sp>
        <p:nvSpPr>
          <p:cNvPr id="50" name="Shape 48"/>
          <p:cNvSpPr/>
          <p:nvPr/>
        </p:nvSpPr>
        <p:spPr>
          <a:xfrm>
            <a:off x="6398146" y="4998624"/>
            <a:ext cx="443010" cy="443010"/>
          </a:xfrm>
          <a:custGeom>
            <a:avLst/>
            <a:gdLst/>
            <a:ahLst/>
            <a:cxnLst/>
            <a:rect l="l" t="t" r="r" b="b"/>
            <a:pathLst>
              <a:path w="443010" h="443010">
                <a:moveTo>
                  <a:pt x="221505" y="0"/>
                </a:moveTo>
                <a:lnTo>
                  <a:pt x="221505" y="0"/>
                </a:lnTo>
                <a:cubicBezTo>
                  <a:pt x="343757" y="0"/>
                  <a:pt x="443010" y="99253"/>
                  <a:pt x="443010" y="221505"/>
                </a:cubicBezTo>
                <a:lnTo>
                  <a:pt x="443010" y="221505"/>
                </a:lnTo>
                <a:cubicBezTo>
                  <a:pt x="443010" y="343757"/>
                  <a:pt x="343757" y="443010"/>
                  <a:pt x="221505" y="443010"/>
                </a:cubicBezTo>
                <a:lnTo>
                  <a:pt x="221505" y="443010"/>
                </a:lnTo>
                <a:cubicBezTo>
                  <a:pt x="99253" y="443010"/>
                  <a:pt x="0" y="343757"/>
                  <a:pt x="0" y="221505"/>
                </a:cubicBezTo>
                <a:lnTo>
                  <a:pt x="0" y="221505"/>
                </a:lnTo>
                <a:cubicBezTo>
                  <a:pt x="0" y="99253"/>
                  <a:pt x="99253" y="0"/>
                  <a:pt x="221505" y="0"/>
                </a:cubicBezTo>
                <a:close/>
              </a:path>
            </a:pathLst>
          </a:custGeom>
          <a:solidFill>
            <a:srgbClr val="0071E3">
              <a:alpha val="20000"/>
            </a:srgbClr>
          </a:solidFill>
          <a:ln/>
        </p:spPr>
      </p:sp>
      <p:sp>
        <p:nvSpPr>
          <p:cNvPr id="51" name="Text 49"/>
          <p:cNvSpPr/>
          <p:nvPr/>
        </p:nvSpPr>
        <p:spPr>
          <a:xfrm>
            <a:off x="6564391" y="5090918"/>
            <a:ext cx="203046" cy="258422"/>
          </a:xfrm>
          <a:prstGeom prst="rect">
            <a:avLst/>
          </a:prstGeom>
          <a:noFill/>
          <a:ln/>
        </p:spPr>
        <p:txBody>
          <a:bodyPr wrap="square" lIns="0" tIns="0" rIns="0" bIns="0" rtlCol="0" anchor="ctr"/>
          <a:lstStyle/>
          <a:p>
            <a:pPr>
              <a:lnSpc>
                <a:spcPct val="120000"/>
              </a:lnSpc>
            </a:pPr>
            <a:r>
              <a:rPr lang="en-US" sz="1453" b="1" dirty="0">
                <a:solidFill>
                  <a:srgbClr val="0071E3"/>
                </a:solidFill>
                <a:latin typeface="Liter" pitchFamily="34" charset="0"/>
                <a:ea typeface="Liter" pitchFamily="34" charset="-122"/>
                <a:cs typeface="Liter" pitchFamily="34" charset="-120"/>
              </a:rPr>
              <a:t>6</a:t>
            </a:r>
            <a:endParaRPr lang="en-US" sz="1600" dirty="0"/>
          </a:p>
        </p:txBody>
      </p:sp>
      <p:sp>
        <p:nvSpPr>
          <p:cNvPr id="52" name="Text 50"/>
          <p:cNvSpPr/>
          <p:nvPr/>
        </p:nvSpPr>
        <p:spPr>
          <a:xfrm>
            <a:off x="6988826" y="5090918"/>
            <a:ext cx="1393635" cy="258422"/>
          </a:xfrm>
          <a:prstGeom prst="rect">
            <a:avLst/>
          </a:prstGeom>
          <a:noFill/>
          <a:ln/>
        </p:spPr>
        <p:txBody>
          <a:bodyPr wrap="square" lIns="0" tIns="0" rIns="0" bIns="0" rtlCol="0" anchor="ctr"/>
          <a:lstStyle/>
          <a:p>
            <a:pPr>
              <a:lnSpc>
                <a:spcPct val="120000"/>
              </a:lnSpc>
            </a:pPr>
            <a:r>
              <a:rPr lang="en-US" sz="1453" b="1" dirty="0">
                <a:solidFill>
                  <a:srgbClr val="1D1D1D"/>
                </a:solidFill>
                <a:latin typeface="Liter" pitchFamily="34" charset="0"/>
                <a:ea typeface="Liter" pitchFamily="34" charset="-122"/>
                <a:cs typeface="Liter" pitchFamily="34" charset="-120"/>
              </a:rPr>
              <a:t>Validation cloud</a:t>
            </a:r>
            <a:endParaRPr lang="en-US" sz="1600" dirty="0"/>
          </a:p>
        </p:txBody>
      </p:sp>
      <p:sp>
        <p:nvSpPr>
          <p:cNvPr id="53" name="Text 51"/>
          <p:cNvSpPr/>
          <p:nvPr/>
        </p:nvSpPr>
        <p:spPr>
          <a:xfrm>
            <a:off x="6398146" y="5589304"/>
            <a:ext cx="5306889" cy="239964"/>
          </a:xfrm>
          <a:prstGeom prst="rect">
            <a:avLst/>
          </a:prstGeom>
          <a:noFill/>
          <a:ln/>
        </p:spPr>
        <p:txBody>
          <a:bodyPr wrap="square" lIns="0" tIns="0" rIns="0" bIns="0" rtlCol="0" anchor="ctr"/>
          <a:lstStyle/>
          <a:p>
            <a:pPr>
              <a:lnSpc>
                <a:spcPct val="140000"/>
              </a:lnSpc>
            </a:pPr>
            <a:r>
              <a:rPr lang="en-US" sz="1163" dirty="0">
                <a:solidFill>
                  <a:srgbClr val="86868B"/>
                </a:solidFill>
                <a:latin typeface="Liter" pitchFamily="34" charset="0"/>
                <a:ea typeface="Liter" pitchFamily="34" charset="-122"/>
                <a:cs typeface="Liter" pitchFamily="34" charset="-120"/>
              </a:rPr>
              <a:t>Vérification mise à jour temps réel sur dashboard web et console Firebase</a:t>
            </a:r>
            <a:endParaRPr lang="en-US" sz="1600" dirty="0"/>
          </a:p>
        </p:txBody>
      </p:sp>
      <p:sp>
        <p:nvSpPr>
          <p:cNvPr id="54" name="Shape 52"/>
          <p:cNvSpPr/>
          <p:nvPr/>
        </p:nvSpPr>
        <p:spPr>
          <a:xfrm>
            <a:off x="6398146" y="5940020"/>
            <a:ext cx="1042919" cy="258422"/>
          </a:xfrm>
          <a:custGeom>
            <a:avLst/>
            <a:gdLst/>
            <a:ahLst/>
            <a:cxnLst/>
            <a:rect l="l" t="t" r="r" b="b"/>
            <a:pathLst>
              <a:path w="1042919" h="258422">
                <a:moveTo>
                  <a:pt x="129211" y="0"/>
                </a:moveTo>
                <a:lnTo>
                  <a:pt x="913708" y="0"/>
                </a:lnTo>
                <a:cubicBezTo>
                  <a:pt x="985069" y="0"/>
                  <a:pt x="1042919" y="57850"/>
                  <a:pt x="1042919" y="129211"/>
                </a:cubicBezTo>
                <a:lnTo>
                  <a:pt x="1042919" y="129211"/>
                </a:lnTo>
                <a:cubicBezTo>
                  <a:pt x="1042919" y="200573"/>
                  <a:pt x="985069" y="258422"/>
                  <a:pt x="913708" y="258422"/>
                </a:cubicBezTo>
                <a:lnTo>
                  <a:pt x="129211" y="258422"/>
                </a:lnTo>
                <a:cubicBezTo>
                  <a:pt x="57850" y="258422"/>
                  <a:pt x="0" y="200573"/>
                  <a:pt x="0" y="129211"/>
                </a:cubicBezTo>
                <a:lnTo>
                  <a:pt x="0" y="129211"/>
                </a:lnTo>
                <a:cubicBezTo>
                  <a:pt x="0" y="57850"/>
                  <a:pt x="57850" y="0"/>
                  <a:pt x="129211" y="0"/>
                </a:cubicBezTo>
                <a:close/>
              </a:path>
            </a:pathLst>
          </a:custGeom>
          <a:solidFill>
            <a:srgbClr val="0071E3">
              <a:alpha val="10196"/>
            </a:srgbClr>
          </a:solidFill>
          <a:ln/>
        </p:spPr>
      </p:sp>
      <p:sp>
        <p:nvSpPr>
          <p:cNvPr id="55" name="Text 53"/>
          <p:cNvSpPr/>
          <p:nvPr/>
        </p:nvSpPr>
        <p:spPr>
          <a:xfrm>
            <a:off x="6398146" y="5940020"/>
            <a:ext cx="1107525" cy="258422"/>
          </a:xfrm>
          <a:prstGeom prst="rect">
            <a:avLst/>
          </a:prstGeom>
          <a:noFill/>
          <a:ln/>
        </p:spPr>
        <p:txBody>
          <a:bodyPr wrap="square" lIns="110752" tIns="36917" rIns="110752" bIns="36917" rtlCol="0" anchor="ctr"/>
          <a:lstStyle/>
          <a:p>
            <a:pPr>
              <a:lnSpc>
                <a:spcPct val="120000"/>
              </a:lnSpc>
            </a:pPr>
            <a:r>
              <a:rPr lang="en-US" sz="1017" dirty="0">
                <a:solidFill>
                  <a:srgbClr val="0071E3"/>
                </a:solidFill>
                <a:latin typeface="Liter" pitchFamily="34" charset="0"/>
                <a:ea typeface="Liter" pitchFamily="34" charset="-122"/>
                <a:cs typeface="Liter" pitchFamily="34" charset="-120"/>
              </a:rPr>
              <a:t>Dashboard OK</a:t>
            </a:r>
            <a:endParaRPr lang="en-US" sz="1600" dirty="0"/>
          </a:p>
        </p:txBody>
      </p:sp>
      <p:sp>
        <p:nvSpPr>
          <p:cNvPr id="56" name="Shape 54"/>
          <p:cNvSpPr/>
          <p:nvPr/>
        </p:nvSpPr>
        <p:spPr>
          <a:xfrm>
            <a:off x="7513862" y="5940020"/>
            <a:ext cx="913708" cy="258422"/>
          </a:xfrm>
          <a:custGeom>
            <a:avLst/>
            <a:gdLst/>
            <a:ahLst/>
            <a:cxnLst/>
            <a:rect l="l" t="t" r="r" b="b"/>
            <a:pathLst>
              <a:path w="913708" h="258422">
                <a:moveTo>
                  <a:pt x="129211" y="0"/>
                </a:moveTo>
                <a:lnTo>
                  <a:pt x="784497" y="0"/>
                </a:lnTo>
                <a:cubicBezTo>
                  <a:pt x="855858" y="0"/>
                  <a:pt x="913708" y="57850"/>
                  <a:pt x="913708" y="129211"/>
                </a:cubicBezTo>
                <a:lnTo>
                  <a:pt x="913708" y="129211"/>
                </a:lnTo>
                <a:cubicBezTo>
                  <a:pt x="913708" y="200573"/>
                  <a:pt x="855858" y="258422"/>
                  <a:pt x="784497" y="258422"/>
                </a:cubicBezTo>
                <a:lnTo>
                  <a:pt x="129211" y="258422"/>
                </a:lnTo>
                <a:cubicBezTo>
                  <a:pt x="57850" y="258422"/>
                  <a:pt x="0" y="200573"/>
                  <a:pt x="0" y="129211"/>
                </a:cubicBezTo>
                <a:lnTo>
                  <a:pt x="0" y="129211"/>
                </a:lnTo>
                <a:cubicBezTo>
                  <a:pt x="0" y="57850"/>
                  <a:pt x="57850" y="0"/>
                  <a:pt x="129211" y="0"/>
                </a:cubicBezTo>
                <a:close/>
              </a:path>
            </a:pathLst>
          </a:custGeom>
          <a:solidFill>
            <a:srgbClr val="0071E3">
              <a:alpha val="10196"/>
            </a:srgbClr>
          </a:solidFill>
          <a:ln/>
        </p:spPr>
      </p:sp>
      <p:sp>
        <p:nvSpPr>
          <p:cNvPr id="57" name="Text 55"/>
          <p:cNvSpPr/>
          <p:nvPr/>
        </p:nvSpPr>
        <p:spPr>
          <a:xfrm>
            <a:off x="7513862" y="5940020"/>
            <a:ext cx="978313" cy="258422"/>
          </a:xfrm>
          <a:prstGeom prst="rect">
            <a:avLst/>
          </a:prstGeom>
          <a:noFill/>
          <a:ln/>
        </p:spPr>
        <p:txBody>
          <a:bodyPr wrap="square" lIns="110752" tIns="36917" rIns="110752" bIns="36917" rtlCol="0" anchor="ctr"/>
          <a:lstStyle/>
          <a:p>
            <a:pPr>
              <a:lnSpc>
                <a:spcPct val="120000"/>
              </a:lnSpc>
            </a:pPr>
            <a:r>
              <a:rPr lang="en-US" sz="1017" dirty="0">
                <a:solidFill>
                  <a:srgbClr val="0071E3"/>
                </a:solidFill>
                <a:latin typeface="Liter" pitchFamily="34" charset="0"/>
                <a:ea typeface="Liter" pitchFamily="34" charset="-122"/>
                <a:cs typeface="Liter" pitchFamily="34" charset="-120"/>
              </a:rPr>
              <a:t>Firebase OK</a:t>
            </a:r>
            <a:endParaRPr lang="en-US" sz="1600" dirty="0"/>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FAFAFA"/>
        </a:solidFill>
        <a:effectLst/>
      </p:bgPr>
    </p:bg>
    <p:spTree>
      <p:nvGrpSpPr>
        <p:cNvPr id="1" name=""/>
        <p:cNvGrpSpPr/>
        <p:nvPr/>
      </p:nvGrpSpPr>
      <p:grpSpPr>
        <a:xfrm>
          <a:off x="0" y="0"/>
          <a:ext cx="0" cy="0"/>
          <a:chOff x="0" y="0"/>
          <a:chExt cx="0" cy="0"/>
        </a:xfrm>
      </p:grpSpPr>
      <p:pic>
        <p:nvPicPr>
          <p:cNvPr id="2" name="Image 0" descr="https://kimi-web-img.moonshot.cn/img/media.gettyimages.com/8b06d5b234c99ad84796046e0cf10ed21c006486.jpg"/>
          <p:cNvPicPr>
            <a:picLocks noChangeAspect="1"/>
          </p:cNvPicPr>
          <p:nvPr/>
        </p:nvPicPr>
        <p:blipFill>
          <a:blip r:embed="rId3"/>
          <a:srcRect t="12418" b="12418"/>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flip="none" rotWithShape="1">
            <a:gsLst>
              <a:gs pos="0">
                <a:srgbClr val="1D1D1D">
                  <a:alpha val="90000"/>
                </a:srgbClr>
              </a:gs>
              <a:gs pos="50000">
                <a:srgbClr val="1D1D1D">
                  <a:alpha val="70000"/>
                </a:srgbClr>
              </a:gs>
              <a:gs pos="100000">
                <a:srgbClr val="000000">
                  <a:alpha val="0"/>
                </a:srgbClr>
              </a:gs>
            </a:gsLst>
            <a:lin ang="2700000" scaled="1"/>
          </a:gradFill>
          <a:ln/>
        </p:spPr>
        <p:txBody>
          <a:bodyPr/>
          <a:lstStyle/>
          <a:p>
            <a:endParaRPr lang="fr-FR"/>
          </a:p>
        </p:txBody>
      </p:sp>
      <p:sp>
        <p:nvSpPr>
          <p:cNvPr id="4" name="Text 1"/>
          <p:cNvSpPr/>
          <p:nvPr/>
        </p:nvSpPr>
        <p:spPr>
          <a:xfrm>
            <a:off x="381000" y="620074"/>
            <a:ext cx="8877300" cy="1714500"/>
          </a:xfrm>
          <a:prstGeom prst="rect">
            <a:avLst/>
          </a:prstGeom>
          <a:noFill/>
          <a:ln/>
        </p:spPr>
        <p:txBody>
          <a:bodyPr wrap="square" lIns="0" tIns="0" rIns="0" bIns="0" rtlCol="0" anchor="ctr"/>
          <a:lstStyle/>
          <a:p>
            <a:pPr>
              <a:lnSpc>
                <a:spcPct val="100000"/>
              </a:lnSpc>
            </a:pPr>
            <a:r>
              <a:rPr lang="en-US" sz="5400" b="1" dirty="0">
                <a:solidFill>
                  <a:srgbClr val="FAFAFA"/>
                </a:solidFill>
                <a:latin typeface="Liter" pitchFamily="34" charset="0"/>
                <a:ea typeface="Liter" pitchFamily="34" charset="-122"/>
                <a:cs typeface="Liter" pitchFamily="34" charset="-120"/>
              </a:rPr>
              <a:t>Conclusion et</a:t>
            </a:r>
            <a:endParaRPr lang="en-US" sz="1600" dirty="0"/>
          </a:p>
          <a:p>
            <a:pPr>
              <a:lnSpc>
                <a:spcPct val="100000"/>
              </a:lnSpc>
            </a:pPr>
            <a:r>
              <a:rPr lang="en-US" sz="5400" b="1" dirty="0">
                <a:solidFill>
                  <a:srgbClr val="FAFAFA"/>
                </a:solidFill>
                <a:latin typeface="Liter" pitchFamily="34" charset="0"/>
                <a:ea typeface="Liter" pitchFamily="34" charset="-122"/>
                <a:cs typeface="Liter" pitchFamily="34" charset="-120"/>
              </a:rPr>
              <a:t>perspectives</a:t>
            </a:r>
            <a:endParaRPr lang="en-US" sz="1600" dirty="0"/>
          </a:p>
        </p:txBody>
      </p:sp>
      <p:sp>
        <p:nvSpPr>
          <p:cNvPr id="5" name="Text 2"/>
          <p:cNvSpPr/>
          <p:nvPr/>
        </p:nvSpPr>
        <p:spPr>
          <a:xfrm>
            <a:off x="381000" y="2639374"/>
            <a:ext cx="8677275" cy="342900"/>
          </a:xfrm>
          <a:prstGeom prst="rect">
            <a:avLst/>
          </a:prstGeom>
          <a:noFill/>
          <a:ln/>
        </p:spPr>
        <p:txBody>
          <a:bodyPr wrap="square" lIns="0" tIns="0" rIns="0" bIns="0" rtlCol="0" anchor="ctr"/>
          <a:lstStyle/>
          <a:p>
            <a:pPr>
              <a:lnSpc>
                <a:spcPct val="100000"/>
              </a:lnSpc>
            </a:pPr>
            <a:r>
              <a:rPr lang="en-US" sz="2250" b="1" dirty="0">
                <a:solidFill>
                  <a:srgbClr val="FAFAFA"/>
                </a:solidFill>
                <a:latin typeface="Liter" pitchFamily="34" charset="0"/>
                <a:ea typeface="Liter" pitchFamily="34" charset="-122"/>
                <a:cs typeface="Liter" pitchFamily="34" charset="-120"/>
              </a:rPr>
              <a:t>Système fonctionnel et robuste</a:t>
            </a:r>
            <a:endParaRPr lang="en-US" sz="1600" dirty="0"/>
          </a:p>
        </p:txBody>
      </p:sp>
      <p:sp>
        <p:nvSpPr>
          <p:cNvPr id="6" name="Text 3"/>
          <p:cNvSpPr/>
          <p:nvPr/>
        </p:nvSpPr>
        <p:spPr>
          <a:xfrm>
            <a:off x="381000" y="3134674"/>
            <a:ext cx="8629650" cy="619125"/>
          </a:xfrm>
          <a:prstGeom prst="rect">
            <a:avLst/>
          </a:prstGeom>
          <a:noFill/>
          <a:ln/>
        </p:spPr>
        <p:txBody>
          <a:bodyPr wrap="square" lIns="0" tIns="0" rIns="0" bIns="0" rtlCol="0" anchor="ctr"/>
          <a:lstStyle/>
          <a:p>
            <a:pPr>
              <a:lnSpc>
                <a:spcPct val="140000"/>
              </a:lnSpc>
            </a:pPr>
            <a:r>
              <a:rPr lang="en-US" sz="1500" dirty="0">
                <a:solidFill>
                  <a:srgbClr val="FAFAFA">
                    <a:alpha val="80000"/>
                  </a:srgbClr>
                </a:solidFill>
                <a:latin typeface="Liter" pitchFamily="34" charset="0"/>
                <a:ea typeface="Liter" pitchFamily="34" charset="-122"/>
                <a:cs typeface="Liter" pitchFamily="34" charset="-120"/>
              </a:rPr>
              <a:t>Le Lake Level Monitoring System démontre une solution IoT complète pour la surveillance du niveau d'eau, combinant mesures précises, alertes multimodales et monitoring cloud.</a:t>
            </a:r>
            <a:endParaRPr lang="en-US" sz="1600" dirty="0"/>
          </a:p>
        </p:txBody>
      </p:sp>
      <p:sp>
        <p:nvSpPr>
          <p:cNvPr id="7" name="Text 4"/>
          <p:cNvSpPr/>
          <p:nvPr/>
        </p:nvSpPr>
        <p:spPr>
          <a:xfrm>
            <a:off x="381000" y="3982399"/>
            <a:ext cx="8677275" cy="342900"/>
          </a:xfrm>
          <a:prstGeom prst="rect">
            <a:avLst/>
          </a:prstGeom>
          <a:noFill/>
          <a:ln/>
        </p:spPr>
        <p:txBody>
          <a:bodyPr wrap="square" lIns="0" tIns="0" rIns="0" bIns="0" rtlCol="0" anchor="ctr"/>
          <a:lstStyle/>
          <a:p>
            <a:pPr>
              <a:lnSpc>
                <a:spcPct val="100000"/>
              </a:lnSpc>
            </a:pPr>
            <a:r>
              <a:rPr lang="en-US" sz="2250" b="1" dirty="0">
                <a:solidFill>
                  <a:srgbClr val="FAFAFA"/>
                </a:solidFill>
                <a:latin typeface="Liter" pitchFamily="34" charset="0"/>
                <a:ea typeface="Liter" pitchFamily="34" charset="-122"/>
                <a:cs typeface="Liter" pitchFamily="34" charset="-120"/>
              </a:rPr>
              <a:t>Perspectives d'amélioration</a:t>
            </a:r>
            <a:endParaRPr lang="en-US" sz="1600" dirty="0"/>
          </a:p>
        </p:txBody>
      </p:sp>
      <p:sp>
        <p:nvSpPr>
          <p:cNvPr id="8" name="Shape 5"/>
          <p:cNvSpPr/>
          <p:nvPr/>
        </p:nvSpPr>
        <p:spPr>
          <a:xfrm>
            <a:off x="428625" y="4515799"/>
            <a:ext cx="142875" cy="190500"/>
          </a:xfrm>
          <a:custGeom>
            <a:avLst/>
            <a:gdLst/>
            <a:ahLst/>
            <a:cxnLst/>
            <a:rect l="l" t="t" r="r" b="b"/>
            <a:pathLst>
              <a:path w="142875" h="190500">
                <a:moveTo>
                  <a:pt x="5953" y="23812"/>
                </a:moveTo>
                <a:cubicBezTo>
                  <a:pt x="5953" y="10678"/>
                  <a:pt x="16632" y="0"/>
                  <a:pt x="29766" y="0"/>
                </a:cubicBezTo>
                <a:lnTo>
                  <a:pt x="113109" y="0"/>
                </a:lnTo>
                <a:cubicBezTo>
                  <a:pt x="126243" y="0"/>
                  <a:pt x="136922" y="10678"/>
                  <a:pt x="136922" y="23812"/>
                </a:cubicBezTo>
                <a:lnTo>
                  <a:pt x="136922" y="166688"/>
                </a:lnTo>
                <a:cubicBezTo>
                  <a:pt x="136922" y="179822"/>
                  <a:pt x="126243" y="190500"/>
                  <a:pt x="113109" y="190500"/>
                </a:cubicBezTo>
                <a:lnTo>
                  <a:pt x="29766" y="190500"/>
                </a:lnTo>
                <a:cubicBezTo>
                  <a:pt x="16632" y="190500"/>
                  <a:pt x="5953" y="179822"/>
                  <a:pt x="5953" y="166688"/>
                </a:cubicBezTo>
                <a:lnTo>
                  <a:pt x="5953" y="23812"/>
                </a:lnTo>
                <a:close/>
                <a:moveTo>
                  <a:pt x="29766" y="23812"/>
                </a:moveTo>
                <a:lnTo>
                  <a:pt x="29766" y="136922"/>
                </a:lnTo>
                <a:lnTo>
                  <a:pt x="113109" y="136922"/>
                </a:lnTo>
                <a:lnTo>
                  <a:pt x="113109" y="23812"/>
                </a:lnTo>
                <a:lnTo>
                  <a:pt x="29766" y="23812"/>
                </a:lnTo>
                <a:close/>
                <a:moveTo>
                  <a:pt x="71438" y="175617"/>
                </a:moveTo>
                <a:cubicBezTo>
                  <a:pt x="78023" y="175617"/>
                  <a:pt x="83344" y="170297"/>
                  <a:pt x="83344" y="163711"/>
                </a:cubicBezTo>
                <a:cubicBezTo>
                  <a:pt x="83344" y="157125"/>
                  <a:pt x="78023" y="151805"/>
                  <a:pt x="71438" y="151805"/>
                </a:cubicBezTo>
                <a:cubicBezTo>
                  <a:pt x="64852" y="151805"/>
                  <a:pt x="59531" y="157125"/>
                  <a:pt x="59531" y="163711"/>
                </a:cubicBezTo>
                <a:cubicBezTo>
                  <a:pt x="59531" y="170297"/>
                  <a:pt x="64852" y="175617"/>
                  <a:pt x="71438" y="175617"/>
                </a:cubicBezTo>
                <a:close/>
              </a:path>
            </a:pathLst>
          </a:custGeom>
          <a:solidFill>
            <a:srgbClr val="0071E3"/>
          </a:solidFill>
          <a:ln/>
        </p:spPr>
      </p:sp>
      <p:sp>
        <p:nvSpPr>
          <p:cNvPr id="9" name="Text 6"/>
          <p:cNvSpPr/>
          <p:nvPr/>
        </p:nvSpPr>
        <p:spPr>
          <a:xfrm>
            <a:off x="733425" y="4477699"/>
            <a:ext cx="3267075" cy="266700"/>
          </a:xfrm>
          <a:prstGeom prst="rect">
            <a:avLst/>
          </a:prstGeom>
          <a:noFill/>
          <a:ln/>
        </p:spPr>
        <p:txBody>
          <a:bodyPr wrap="square" lIns="0" tIns="0" rIns="0" bIns="0" rtlCol="0" anchor="ctr"/>
          <a:lstStyle/>
          <a:p>
            <a:pPr>
              <a:lnSpc>
                <a:spcPct val="130000"/>
              </a:lnSpc>
            </a:pPr>
            <a:r>
              <a:rPr lang="en-US" sz="1350" dirty="0">
                <a:solidFill>
                  <a:srgbClr val="FAFAFA">
                    <a:alpha val="80000"/>
                  </a:srgbClr>
                </a:solidFill>
                <a:latin typeface="Liter" pitchFamily="34" charset="0"/>
                <a:ea typeface="Liter" pitchFamily="34" charset="-122"/>
                <a:cs typeface="Liter" pitchFamily="34" charset="-120"/>
              </a:rPr>
              <a:t>Application mobile avec notifications push</a:t>
            </a:r>
            <a:endParaRPr lang="en-US" sz="1600" dirty="0"/>
          </a:p>
        </p:txBody>
      </p:sp>
      <p:sp>
        <p:nvSpPr>
          <p:cNvPr id="10" name="Shape 7"/>
          <p:cNvSpPr/>
          <p:nvPr/>
        </p:nvSpPr>
        <p:spPr>
          <a:xfrm>
            <a:off x="4736306" y="4515799"/>
            <a:ext cx="214313" cy="190500"/>
          </a:xfrm>
          <a:custGeom>
            <a:avLst/>
            <a:gdLst/>
            <a:ahLst/>
            <a:cxnLst/>
            <a:rect l="l" t="t" r="r" b="b"/>
            <a:pathLst>
              <a:path w="214313" h="190500">
                <a:moveTo>
                  <a:pt x="45318" y="11906"/>
                </a:moveTo>
                <a:cubicBezTo>
                  <a:pt x="34156" y="11906"/>
                  <a:pt x="24482" y="19645"/>
                  <a:pt x="22064" y="30547"/>
                </a:cubicBezTo>
                <a:lnTo>
                  <a:pt x="3572" y="113891"/>
                </a:lnTo>
                <a:cubicBezTo>
                  <a:pt x="260" y="128774"/>
                  <a:pt x="11571" y="142875"/>
                  <a:pt x="26789" y="142875"/>
                </a:cubicBezTo>
                <a:lnTo>
                  <a:pt x="95287" y="142875"/>
                </a:lnTo>
                <a:lnTo>
                  <a:pt x="95287" y="166688"/>
                </a:lnTo>
                <a:lnTo>
                  <a:pt x="71475" y="166688"/>
                </a:lnTo>
                <a:cubicBezTo>
                  <a:pt x="64889" y="166688"/>
                  <a:pt x="59568" y="172008"/>
                  <a:pt x="59568" y="178594"/>
                </a:cubicBezTo>
                <a:cubicBezTo>
                  <a:pt x="59568" y="185179"/>
                  <a:pt x="64889" y="190500"/>
                  <a:pt x="71475" y="190500"/>
                </a:cubicBezTo>
                <a:lnTo>
                  <a:pt x="142912" y="190500"/>
                </a:lnTo>
                <a:cubicBezTo>
                  <a:pt x="149498" y="190500"/>
                  <a:pt x="154818" y="185179"/>
                  <a:pt x="154818" y="178594"/>
                </a:cubicBezTo>
                <a:cubicBezTo>
                  <a:pt x="154818" y="172008"/>
                  <a:pt x="149498" y="166688"/>
                  <a:pt x="142912" y="166688"/>
                </a:cubicBezTo>
                <a:lnTo>
                  <a:pt x="119100" y="166688"/>
                </a:lnTo>
                <a:lnTo>
                  <a:pt x="119100" y="142875"/>
                </a:lnTo>
                <a:lnTo>
                  <a:pt x="187598" y="142875"/>
                </a:lnTo>
                <a:cubicBezTo>
                  <a:pt x="202816" y="142875"/>
                  <a:pt x="214164" y="128774"/>
                  <a:pt x="210852" y="113891"/>
                </a:cubicBezTo>
                <a:lnTo>
                  <a:pt x="192323" y="30547"/>
                </a:lnTo>
                <a:cubicBezTo>
                  <a:pt x="189905" y="19645"/>
                  <a:pt x="180268" y="11906"/>
                  <a:pt x="169106" y="11906"/>
                </a:cubicBezTo>
                <a:lnTo>
                  <a:pt x="45318" y="11906"/>
                </a:lnTo>
                <a:close/>
                <a:moveTo>
                  <a:pt x="91380" y="35719"/>
                </a:moveTo>
                <a:lnTo>
                  <a:pt x="123081" y="35719"/>
                </a:lnTo>
                <a:lnTo>
                  <a:pt x="125797" y="68461"/>
                </a:lnTo>
                <a:lnTo>
                  <a:pt x="88664" y="68461"/>
                </a:lnTo>
                <a:lnTo>
                  <a:pt x="91380" y="35719"/>
                </a:lnTo>
                <a:close/>
                <a:moveTo>
                  <a:pt x="70731" y="68461"/>
                </a:moveTo>
                <a:lnTo>
                  <a:pt x="38063" y="68461"/>
                </a:lnTo>
                <a:lnTo>
                  <a:pt x="45355" y="35719"/>
                </a:lnTo>
                <a:lnTo>
                  <a:pt x="73484" y="35719"/>
                </a:lnTo>
                <a:lnTo>
                  <a:pt x="70768" y="68461"/>
                </a:lnTo>
                <a:close/>
                <a:moveTo>
                  <a:pt x="34082" y="86320"/>
                </a:moveTo>
                <a:lnTo>
                  <a:pt x="69242" y="86320"/>
                </a:lnTo>
                <a:lnTo>
                  <a:pt x="66526" y="119063"/>
                </a:lnTo>
                <a:lnTo>
                  <a:pt x="26826" y="119063"/>
                </a:lnTo>
                <a:lnTo>
                  <a:pt x="34119" y="86320"/>
                </a:lnTo>
                <a:close/>
                <a:moveTo>
                  <a:pt x="87139" y="86320"/>
                </a:moveTo>
                <a:lnTo>
                  <a:pt x="127248" y="86320"/>
                </a:lnTo>
                <a:lnTo>
                  <a:pt x="129964" y="119063"/>
                </a:lnTo>
                <a:lnTo>
                  <a:pt x="84386" y="119063"/>
                </a:lnTo>
                <a:lnTo>
                  <a:pt x="87102" y="86320"/>
                </a:lnTo>
                <a:close/>
                <a:moveTo>
                  <a:pt x="145182" y="86320"/>
                </a:moveTo>
                <a:lnTo>
                  <a:pt x="180342" y="86320"/>
                </a:lnTo>
                <a:lnTo>
                  <a:pt x="187635" y="119063"/>
                </a:lnTo>
                <a:lnTo>
                  <a:pt x="147935" y="119063"/>
                </a:lnTo>
                <a:lnTo>
                  <a:pt x="145219" y="86320"/>
                </a:lnTo>
                <a:close/>
                <a:moveTo>
                  <a:pt x="176361" y="68461"/>
                </a:moveTo>
                <a:lnTo>
                  <a:pt x="143694" y="68461"/>
                </a:lnTo>
                <a:lnTo>
                  <a:pt x="140977" y="35719"/>
                </a:lnTo>
                <a:lnTo>
                  <a:pt x="169106" y="35719"/>
                </a:lnTo>
                <a:lnTo>
                  <a:pt x="176399" y="68461"/>
                </a:lnTo>
                <a:close/>
              </a:path>
            </a:pathLst>
          </a:custGeom>
          <a:solidFill>
            <a:srgbClr val="0071E3"/>
          </a:solidFill>
          <a:ln/>
        </p:spPr>
      </p:sp>
      <p:sp>
        <p:nvSpPr>
          <p:cNvPr id="11" name="Text 8"/>
          <p:cNvSpPr/>
          <p:nvPr/>
        </p:nvSpPr>
        <p:spPr>
          <a:xfrm>
            <a:off x="5076825" y="4477699"/>
            <a:ext cx="2800350" cy="266700"/>
          </a:xfrm>
          <a:prstGeom prst="rect">
            <a:avLst/>
          </a:prstGeom>
          <a:noFill/>
          <a:ln/>
        </p:spPr>
        <p:txBody>
          <a:bodyPr wrap="square" lIns="0" tIns="0" rIns="0" bIns="0" rtlCol="0" anchor="ctr"/>
          <a:lstStyle/>
          <a:p>
            <a:pPr>
              <a:lnSpc>
                <a:spcPct val="130000"/>
              </a:lnSpc>
            </a:pPr>
            <a:r>
              <a:rPr lang="en-US" sz="1350" dirty="0">
                <a:solidFill>
                  <a:srgbClr val="FAFAFA">
                    <a:alpha val="80000"/>
                  </a:srgbClr>
                </a:solidFill>
                <a:latin typeface="Liter" pitchFamily="34" charset="0"/>
                <a:ea typeface="Liter" pitchFamily="34" charset="-122"/>
                <a:cs typeface="Liter" pitchFamily="34" charset="-120"/>
              </a:rPr>
              <a:t>Alimentation solaire pour autonomie</a:t>
            </a:r>
            <a:endParaRPr lang="en-US" sz="1600" dirty="0"/>
          </a:p>
        </p:txBody>
      </p:sp>
      <p:sp>
        <p:nvSpPr>
          <p:cNvPr id="12" name="Shape 9"/>
          <p:cNvSpPr/>
          <p:nvPr/>
        </p:nvSpPr>
        <p:spPr>
          <a:xfrm>
            <a:off x="392906" y="4934899"/>
            <a:ext cx="214313" cy="190500"/>
          </a:xfrm>
          <a:custGeom>
            <a:avLst/>
            <a:gdLst/>
            <a:ahLst/>
            <a:cxnLst/>
            <a:rect l="l" t="t" r="r" b="b"/>
            <a:pathLst>
              <a:path w="214313" h="190500">
                <a:moveTo>
                  <a:pt x="92273" y="32742"/>
                </a:moveTo>
                <a:lnTo>
                  <a:pt x="122039" y="32742"/>
                </a:lnTo>
                <a:lnTo>
                  <a:pt x="122039" y="50602"/>
                </a:lnTo>
                <a:lnTo>
                  <a:pt x="92273" y="50602"/>
                </a:lnTo>
                <a:lnTo>
                  <a:pt x="92273" y="32742"/>
                </a:lnTo>
                <a:close/>
                <a:moveTo>
                  <a:pt x="89297" y="11906"/>
                </a:moveTo>
                <a:cubicBezTo>
                  <a:pt x="79437" y="11906"/>
                  <a:pt x="71438" y="19906"/>
                  <a:pt x="71438" y="29766"/>
                </a:cubicBezTo>
                <a:lnTo>
                  <a:pt x="71438" y="53578"/>
                </a:lnTo>
                <a:cubicBezTo>
                  <a:pt x="71438" y="63438"/>
                  <a:pt x="79437" y="71438"/>
                  <a:pt x="89297" y="71438"/>
                </a:cubicBezTo>
                <a:lnTo>
                  <a:pt x="95250" y="71438"/>
                </a:lnTo>
                <a:lnTo>
                  <a:pt x="95250" y="83344"/>
                </a:lnTo>
                <a:lnTo>
                  <a:pt x="11906" y="83344"/>
                </a:lnTo>
                <a:cubicBezTo>
                  <a:pt x="5321" y="83344"/>
                  <a:pt x="0" y="88664"/>
                  <a:pt x="0" y="95250"/>
                </a:cubicBezTo>
                <a:cubicBezTo>
                  <a:pt x="0" y="101836"/>
                  <a:pt x="5321" y="107156"/>
                  <a:pt x="11906" y="107156"/>
                </a:cubicBezTo>
                <a:lnTo>
                  <a:pt x="47625" y="107156"/>
                </a:lnTo>
                <a:lnTo>
                  <a:pt x="47625" y="119063"/>
                </a:lnTo>
                <a:lnTo>
                  <a:pt x="41672" y="119063"/>
                </a:lnTo>
                <a:cubicBezTo>
                  <a:pt x="31812" y="119063"/>
                  <a:pt x="23812" y="127062"/>
                  <a:pt x="23812" y="136922"/>
                </a:cubicBezTo>
                <a:lnTo>
                  <a:pt x="23812" y="160734"/>
                </a:lnTo>
                <a:cubicBezTo>
                  <a:pt x="23812" y="170594"/>
                  <a:pt x="31812" y="178594"/>
                  <a:pt x="41672" y="178594"/>
                </a:cubicBezTo>
                <a:lnTo>
                  <a:pt x="77391" y="178594"/>
                </a:lnTo>
                <a:cubicBezTo>
                  <a:pt x="87250" y="178594"/>
                  <a:pt x="95250" y="170594"/>
                  <a:pt x="95250" y="160734"/>
                </a:cubicBezTo>
                <a:lnTo>
                  <a:pt x="95250" y="136922"/>
                </a:lnTo>
                <a:cubicBezTo>
                  <a:pt x="95250" y="127062"/>
                  <a:pt x="87250" y="119063"/>
                  <a:pt x="77391" y="119063"/>
                </a:cubicBezTo>
                <a:lnTo>
                  <a:pt x="71438" y="119063"/>
                </a:lnTo>
                <a:lnTo>
                  <a:pt x="71438" y="107156"/>
                </a:lnTo>
                <a:lnTo>
                  <a:pt x="142875" y="107156"/>
                </a:lnTo>
                <a:lnTo>
                  <a:pt x="142875" y="119063"/>
                </a:lnTo>
                <a:lnTo>
                  <a:pt x="136922" y="119063"/>
                </a:lnTo>
                <a:cubicBezTo>
                  <a:pt x="127062" y="119063"/>
                  <a:pt x="119063" y="127062"/>
                  <a:pt x="119063" y="136922"/>
                </a:cubicBezTo>
                <a:lnTo>
                  <a:pt x="119063" y="160734"/>
                </a:lnTo>
                <a:cubicBezTo>
                  <a:pt x="119063" y="170594"/>
                  <a:pt x="127062" y="178594"/>
                  <a:pt x="136922" y="178594"/>
                </a:cubicBezTo>
                <a:lnTo>
                  <a:pt x="172641" y="178594"/>
                </a:lnTo>
                <a:cubicBezTo>
                  <a:pt x="182500" y="178594"/>
                  <a:pt x="190500" y="170594"/>
                  <a:pt x="190500" y="160734"/>
                </a:cubicBezTo>
                <a:lnTo>
                  <a:pt x="190500" y="136922"/>
                </a:lnTo>
                <a:cubicBezTo>
                  <a:pt x="190500" y="127062"/>
                  <a:pt x="182500" y="119063"/>
                  <a:pt x="172641" y="119063"/>
                </a:cubicBezTo>
                <a:lnTo>
                  <a:pt x="166688" y="119063"/>
                </a:lnTo>
                <a:lnTo>
                  <a:pt x="166688" y="107156"/>
                </a:lnTo>
                <a:lnTo>
                  <a:pt x="202406" y="107156"/>
                </a:lnTo>
                <a:cubicBezTo>
                  <a:pt x="208992" y="107156"/>
                  <a:pt x="214313" y="101836"/>
                  <a:pt x="214313" y="95250"/>
                </a:cubicBezTo>
                <a:cubicBezTo>
                  <a:pt x="214313" y="88664"/>
                  <a:pt x="208992" y="83344"/>
                  <a:pt x="202406" y="83344"/>
                </a:cubicBezTo>
                <a:lnTo>
                  <a:pt x="119063" y="83344"/>
                </a:lnTo>
                <a:lnTo>
                  <a:pt x="119063" y="71438"/>
                </a:lnTo>
                <a:lnTo>
                  <a:pt x="125016" y="71438"/>
                </a:lnTo>
                <a:cubicBezTo>
                  <a:pt x="134875" y="71438"/>
                  <a:pt x="142875" y="63438"/>
                  <a:pt x="142875" y="53578"/>
                </a:cubicBezTo>
                <a:lnTo>
                  <a:pt x="142875" y="29766"/>
                </a:lnTo>
                <a:cubicBezTo>
                  <a:pt x="142875" y="19906"/>
                  <a:pt x="134875" y="11906"/>
                  <a:pt x="125016" y="11906"/>
                </a:cubicBezTo>
                <a:lnTo>
                  <a:pt x="89297" y="11906"/>
                </a:lnTo>
                <a:close/>
                <a:moveTo>
                  <a:pt x="166688" y="139898"/>
                </a:moveTo>
                <a:lnTo>
                  <a:pt x="169664" y="139898"/>
                </a:lnTo>
                <a:lnTo>
                  <a:pt x="169664" y="157758"/>
                </a:lnTo>
                <a:lnTo>
                  <a:pt x="139898" y="157758"/>
                </a:lnTo>
                <a:lnTo>
                  <a:pt x="139898" y="139898"/>
                </a:lnTo>
                <a:lnTo>
                  <a:pt x="166688" y="139898"/>
                </a:lnTo>
                <a:close/>
                <a:moveTo>
                  <a:pt x="71438" y="139898"/>
                </a:moveTo>
                <a:lnTo>
                  <a:pt x="74414" y="139898"/>
                </a:lnTo>
                <a:lnTo>
                  <a:pt x="74414" y="157758"/>
                </a:lnTo>
                <a:lnTo>
                  <a:pt x="44648" y="157758"/>
                </a:lnTo>
                <a:lnTo>
                  <a:pt x="44648" y="139898"/>
                </a:lnTo>
                <a:lnTo>
                  <a:pt x="71438" y="139898"/>
                </a:lnTo>
                <a:close/>
              </a:path>
            </a:pathLst>
          </a:custGeom>
          <a:solidFill>
            <a:srgbClr val="0071E3"/>
          </a:solidFill>
          <a:ln/>
        </p:spPr>
      </p:sp>
      <p:sp>
        <p:nvSpPr>
          <p:cNvPr id="13" name="Text 10"/>
          <p:cNvSpPr/>
          <p:nvPr/>
        </p:nvSpPr>
        <p:spPr>
          <a:xfrm>
            <a:off x="733425" y="4896799"/>
            <a:ext cx="2295525" cy="266700"/>
          </a:xfrm>
          <a:prstGeom prst="rect">
            <a:avLst/>
          </a:prstGeom>
          <a:noFill/>
          <a:ln/>
        </p:spPr>
        <p:txBody>
          <a:bodyPr wrap="square" lIns="0" tIns="0" rIns="0" bIns="0" rtlCol="0" anchor="ctr"/>
          <a:lstStyle/>
          <a:p>
            <a:pPr>
              <a:lnSpc>
                <a:spcPct val="130000"/>
              </a:lnSpc>
            </a:pPr>
            <a:r>
              <a:rPr lang="en-US" sz="1350" dirty="0">
                <a:solidFill>
                  <a:srgbClr val="FAFAFA">
                    <a:alpha val="80000"/>
                  </a:srgbClr>
                </a:solidFill>
                <a:latin typeface="Liter" pitchFamily="34" charset="0"/>
                <a:ea typeface="Liter" pitchFamily="34" charset="-122"/>
                <a:cs typeface="Liter" pitchFamily="34" charset="-120"/>
              </a:rPr>
              <a:t>Réseau de capteurs multiples</a:t>
            </a:r>
            <a:endParaRPr lang="en-US" sz="1600" dirty="0"/>
          </a:p>
        </p:txBody>
      </p:sp>
      <p:sp>
        <p:nvSpPr>
          <p:cNvPr id="14" name="Shape 11"/>
          <p:cNvSpPr/>
          <p:nvPr/>
        </p:nvSpPr>
        <p:spPr>
          <a:xfrm>
            <a:off x="4748213" y="4934899"/>
            <a:ext cx="190500" cy="190500"/>
          </a:xfrm>
          <a:custGeom>
            <a:avLst/>
            <a:gdLst/>
            <a:ahLst/>
            <a:cxnLst/>
            <a:rect l="l" t="t" r="r" b="b"/>
            <a:pathLst>
              <a:path w="190500" h="190500">
                <a:moveTo>
                  <a:pt x="44648" y="20836"/>
                </a:moveTo>
                <a:cubicBezTo>
                  <a:pt x="44648" y="9339"/>
                  <a:pt x="53987" y="0"/>
                  <a:pt x="65484" y="0"/>
                </a:cubicBezTo>
                <a:lnTo>
                  <a:pt x="74414" y="0"/>
                </a:lnTo>
                <a:cubicBezTo>
                  <a:pt x="81000" y="0"/>
                  <a:pt x="86320" y="5321"/>
                  <a:pt x="86320" y="11906"/>
                </a:cubicBezTo>
                <a:lnTo>
                  <a:pt x="86320" y="178594"/>
                </a:lnTo>
                <a:cubicBezTo>
                  <a:pt x="86320" y="185179"/>
                  <a:pt x="81000" y="190500"/>
                  <a:pt x="74414" y="190500"/>
                </a:cubicBezTo>
                <a:lnTo>
                  <a:pt x="62508" y="190500"/>
                </a:lnTo>
                <a:cubicBezTo>
                  <a:pt x="51420" y="190500"/>
                  <a:pt x="42081" y="182910"/>
                  <a:pt x="39439" y="172641"/>
                </a:cubicBezTo>
                <a:cubicBezTo>
                  <a:pt x="39179" y="172641"/>
                  <a:pt x="38956" y="172641"/>
                  <a:pt x="38695" y="172641"/>
                </a:cubicBezTo>
                <a:cubicBezTo>
                  <a:pt x="22250" y="172641"/>
                  <a:pt x="8930" y="159321"/>
                  <a:pt x="8930" y="142875"/>
                </a:cubicBezTo>
                <a:cubicBezTo>
                  <a:pt x="8930" y="136178"/>
                  <a:pt x="11162" y="130001"/>
                  <a:pt x="14883" y="125016"/>
                </a:cubicBezTo>
                <a:cubicBezTo>
                  <a:pt x="7665" y="119583"/>
                  <a:pt x="2977" y="110951"/>
                  <a:pt x="2977" y="101203"/>
                </a:cubicBezTo>
                <a:cubicBezTo>
                  <a:pt x="2977" y="89706"/>
                  <a:pt x="9525" y="79697"/>
                  <a:pt x="19050" y="74749"/>
                </a:cubicBezTo>
                <a:cubicBezTo>
                  <a:pt x="16408" y="70284"/>
                  <a:pt x="14883" y="65075"/>
                  <a:pt x="14883" y="59531"/>
                </a:cubicBezTo>
                <a:cubicBezTo>
                  <a:pt x="14883" y="43086"/>
                  <a:pt x="28203" y="29766"/>
                  <a:pt x="44648" y="29766"/>
                </a:cubicBezTo>
                <a:lnTo>
                  <a:pt x="44648" y="20836"/>
                </a:lnTo>
                <a:close/>
                <a:moveTo>
                  <a:pt x="145852" y="20836"/>
                </a:moveTo>
                <a:lnTo>
                  <a:pt x="145852" y="29766"/>
                </a:lnTo>
                <a:cubicBezTo>
                  <a:pt x="162297" y="29766"/>
                  <a:pt x="175617" y="43086"/>
                  <a:pt x="175617" y="59531"/>
                </a:cubicBezTo>
                <a:cubicBezTo>
                  <a:pt x="175617" y="65112"/>
                  <a:pt x="174092" y="70321"/>
                  <a:pt x="171450" y="74749"/>
                </a:cubicBezTo>
                <a:cubicBezTo>
                  <a:pt x="181012" y="79697"/>
                  <a:pt x="187523" y="89669"/>
                  <a:pt x="187523" y="101203"/>
                </a:cubicBezTo>
                <a:cubicBezTo>
                  <a:pt x="187523" y="110951"/>
                  <a:pt x="182835" y="119583"/>
                  <a:pt x="175617" y="125016"/>
                </a:cubicBezTo>
                <a:cubicBezTo>
                  <a:pt x="179338" y="130001"/>
                  <a:pt x="181570" y="136178"/>
                  <a:pt x="181570" y="142875"/>
                </a:cubicBezTo>
                <a:cubicBezTo>
                  <a:pt x="181570" y="159321"/>
                  <a:pt x="168250" y="172641"/>
                  <a:pt x="151805" y="172641"/>
                </a:cubicBezTo>
                <a:cubicBezTo>
                  <a:pt x="151544" y="172641"/>
                  <a:pt x="151321" y="172641"/>
                  <a:pt x="151061" y="172641"/>
                </a:cubicBezTo>
                <a:cubicBezTo>
                  <a:pt x="148419" y="182910"/>
                  <a:pt x="139080" y="190500"/>
                  <a:pt x="127992" y="190500"/>
                </a:cubicBezTo>
                <a:lnTo>
                  <a:pt x="116086" y="190500"/>
                </a:lnTo>
                <a:cubicBezTo>
                  <a:pt x="109500" y="190500"/>
                  <a:pt x="104180" y="185179"/>
                  <a:pt x="104180" y="178594"/>
                </a:cubicBezTo>
                <a:lnTo>
                  <a:pt x="104180" y="11906"/>
                </a:lnTo>
                <a:cubicBezTo>
                  <a:pt x="104180" y="5321"/>
                  <a:pt x="109500" y="0"/>
                  <a:pt x="116086" y="0"/>
                </a:cubicBezTo>
                <a:lnTo>
                  <a:pt x="125016" y="0"/>
                </a:lnTo>
                <a:cubicBezTo>
                  <a:pt x="136513" y="0"/>
                  <a:pt x="145852" y="9339"/>
                  <a:pt x="145852" y="20836"/>
                </a:cubicBezTo>
                <a:close/>
              </a:path>
            </a:pathLst>
          </a:custGeom>
          <a:solidFill>
            <a:srgbClr val="0071E3"/>
          </a:solidFill>
          <a:ln/>
        </p:spPr>
      </p:sp>
      <p:sp>
        <p:nvSpPr>
          <p:cNvPr id="15" name="Text 12"/>
          <p:cNvSpPr/>
          <p:nvPr/>
        </p:nvSpPr>
        <p:spPr>
          <a:xfrm>
            <a:off x="5076825" y="4896799"/>
            <a:ext cx="2562225" cy="266700"/>
          </a:xfrm>
          <a:prstGeom prst="rect">
            <a:avLst/>
          </a:prstGeom>
          <a:noFill/>
          <a:ln/>
        </p:spPr>
        <p:txBody>
          <a:bodyPr wrap="square" lIns="0" tIns="0" rIns="0" bIns="0" rtlCol="0" anchor="ctr"/>
          <a:lstStyle/>
          <a:p>
            <a:pPr>
              <a:lnSpc>
                <a:spcPct val="130000"/>
              </a:lnSpc>
            </a:pPr>
            <a:r>
              <a:rPr lang="en-US" sz="1350" dirty="0">
                <a:solidFill>
                  <a:srgbClr val="FAFAFA">
                    <a:alpha val="80000"/>
                  </a:srgbClr>
                </a:solidFill>
                <a:latin typeface="Liter" pitchFamily="34" charset="0"/>
                <a:ea typeface="Liter" pitchFamily="34" charset="-122"/>
                <a:cs typeface="Liter" pitchFamily="34" charset="-120"/>
              </a:rPr>
              <a:t>Machine learning pour prédiction</a:t>
            </a:r>
            <a:endParaRPr lang="en-US" sz="1600" dirty="0"/>
          </a:p>
        </p:txBody>
      </p:sp>
      <p:sp>
        <p:nvSpPr>
          <p:cNvPr id="16" name="Shape 13"/>
          <p:cNvSpPr/>
          <p:nvPr/>
        </p:nvSpPr>
        <p:spPr>
          <a:xfrm>
            <a:off x="381000" y="5624509"/>
            <a:ext cx="8534400" cy="7620"/>
          </a:xfrm>
          <a:custGeom>
            <a:avLst/>
            <a:gdLst/>
            <a:ahLst/>
            <a:cxnLst/>
            <a:rect l="l" t="t" r="r" b="b"/>
            <a:pathLst>
              <a:path w="8534400" h="7620">
                <a:moveTo>
                  <a:pt x="0" y="0"/>
                </a:moveTo>
                <a:lnTo>
                  <a:pt x="8534400" y="0"/>
                </a:lnTo>
                <a:lnTo>
                  <a:pt x="8534400" y="7620"/>
                </a:lnTo>
                <a:lnTo>
                  <a:pt x="0" y="7620"/>
                </a:lnTo>
                <a:lnTo>
                  <a:pt x="0" y="0"/>
                </a:lnTo>
                <a:close/>
              </a:path>
            </a:pathLst>
          </a:custGeom>
          <a:solidFill>
            <a:srgbClr val="FAFAFA">
              <a:alpha val="20000"/>
            </a:srgbClr>
          </a:solidFill>
          <a:ln/>
        </p:spPr>
      </p:sp>
      <p:sp>
        <p:nvSpPr>
          <p:cNvPr id="17" name="Text 14"/>
          <p:cNvSpPr/>
          <p:nvPr/>
        </p:nvSpPr>
        <p:spPr>
          <a:xfrm>
            <a:off x="381000" y="5933126"/>
            <a:ext cx="8648700" cy="304800"/>
          </a:xfrm>
          <a:prstGeom prst="rect">
            <a:avLst/>
          </a:prstGeom>
          <a:noFill/>
          <a:ln/>
        </p:spPr>
        <p:txBody>
          <a:bodyPr wrap="square" lIns="0" tIns="0" rIns="0" bIns="0" rtlCol="0" anchor="ctr"/>
          <a:lstStyle/>
          <a:p>
            <a:pPr>
              <a:lnSpc>
                <a:spcPct val="110000"/>
              </a:lnSpc>
            </a:pPr>
            <a:r>
              <a:rPr lang="en-US" sz="1800" dirty="0">
                <a:solidFill>
                  <a:srgbClr val="FAFAFA">
                    <a:alpha val="60000"/>
                  </a:srgbClr>
                </a:solidFill>
                <a:latin typeface="Liter" pitchFamily="34" charset="0"/>
                <a:ea typeface="Liter" pitchFamily="34" charset="-122"/>
                <a:cs typeface="Liter" pitchFamily="34" charset="-120"/>
              </a:rPr>
              <a:t>Merci de votre attention</a:t>
            </a:r>
            <a:endParaRPr lang="en-US" sz="1600" dirty="0"/>
          </a:p>
        </p:txBody>
      </p:sp>
    </p:spTree>
  </p:cSld>
  <p:clrMapOvr>
    <a:masterClrMapping/>
  </p:clrMapOvr>
  <p:transition>
    <p:fade/>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344</TotalTime>
  <Words>1653</Words>
  <Application>Microsoft Office PowerPoint</Application>
  <PresentationFormat>Grand écran</PresentationFormat>
  <Paragraphs>366</Paragraphs>
  <Slides>24</Slides>
  <Notes>24</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24</vt:i4>
      </vt:variant>
    </vt:vector>
  </HeadingPairs>
  <TitlesOfParts>
    <vt:vector size="28" baseType="lpstr">
      <vt:lpstr>MiSans</vt:lpstr>
      <vt:lpstr>Arial</vt:lpstr>
      <vt:lpstr>Liter</vt:lpstr>
      <vt:lpstr>Custom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Lake Level Monitoring System</dc:title>
  <dc:subject>Lake Level Monitoring System</dc:subject>
  <dc:creator>Kimi</dc:creator>
  <cp:lastModifiedBy>DELL</cp:lastModifiedBy>
  <cp:revision>2</cp:revision>
  <dcterms:created xsi:type="dcterms:W3CDTF">2026-02-26T11:24:37Z</dcterms:created>
  <dcterms:modified xsi:type="dcterms:W3CDTF">2026-02-26T17:09:32Z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{"Label":"Lake Level Monitoring System","ContentProducer":"001191110108MACG2KBH8F10000","ProduceID":"19c999ee-bfd2-8e87-8000-0000dbc2ddb9","ReservedCode1":"","ContentPropagator":"001191110108MACG2KBH8F20000","PropagateID":"19c999ee-bfd2-8e87-8000-0000dbc2ddb9","ReservedCode2":""}</vt:lpwstr>
  </property>
</Properties>
</file>